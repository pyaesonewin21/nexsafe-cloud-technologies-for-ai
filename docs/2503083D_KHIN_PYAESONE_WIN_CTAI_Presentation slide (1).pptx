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2" r:id="rId7"/>
    <p:sldId id="263" r:id="rId8"/>
    <p:sldId id="264" r:id="rId9"/>
    <p:sldId id="265" r:id="rId10"/>
    <p:sldId id="266" r:id="rId11"/>
    <p:sldId id="267" r:id="rId12"/>
    <p:sldId id="269" r:id="rId13"/>
    <p:sldId id="270" r:id="rId14"/>
    <p:sldId id="271" r:id="rId15"/>
    <p:sldId id="272"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644" y="2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3819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Khin Pyaesone Win, and this is NexSafe, a smart issue reporting platform for campus safety, built and deployed entirely on AWS.
The site is live at the CloudFront URL on screen. In the next ten minutes I'll cover the website itself, every AWS service and what it does, how I developed the Rekognition Custom Labels model, the full deployment process, the security model, and the problems I had to solve along the way.
[0:00-0:20]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running order. I'll begin with what the website actually does, then move into the cloud engineering behind it: the services, the AI model, the deployment sequence, and security. I'll finish with the challenges and future improvements, and then run the live demonstration.
[0:20-0:40]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a reporting-friction problem. A student notices a hazard, doesn't know the correct channel, and the issue never reaches maintenance — or reaches it days later through a lecturer.
NexSafe removes that friction. One sign-in, one form, photo evidence, a map pin, and an AI check before the report is even submitted. Staff get a queue instead of scattered messages, and the student can see the status change without chasing anyone.
The scope is nine pages, ten AWS services, five trained AI classes and seven API routes.
[0:40-1:20]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student path, and it is what I will demonstrate live.
The student signs in with a Cognito account that belongs to the students group. On the report page they fill in the issue type, building, level and description, then click the Amazon Location map to drop a pin — those coordinates are stored to six decimal places.
When they attach a photo, the browser sends it to my analyze-image endpoint and Rekognition Custom Labels replies with a label and a confidence score. In this screenshot it matched Staircase Issue at 99.91 percent. If the model disagrees with what the student selected, the interface warns them before submission.
After submitting, My Reports shows the live status as staff work on it.
[1:20-2:10]</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staff side is the same deployment, but Cognito group claims change what the user gets.
A staff account lands on an operational dashboard, works through the Review Queue, and opens a report to set status and priority and write a staff update that the student will see. Manage Reports gives a filtered view across everything.
The important engineering point is on the band at the bottom: the role separation is enforced in the Lambda, not in the interface. If someone called the update or delete route directly without the staff group in their token, the backend rejects it.
[2:10-2:45]</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every service and exactly what it does in this application.
On the left are the five the project requires. S3 is doing three different jobs — website hosting, dataset storage and evidence storage. Lambda is split into two functions so the AI path and the database path can be deployed and debugged independently.
On the right are the five I added, and each one earns its place. Cognito gives me real identity and role separation instead of a fake login. CloudFront gives HTTPS and lets me keep both buckets completely private. SNS closes the communication loop so a student learns their report moved. Amazon Location turns a vague description into precise coordinates. IAM ties the permissions down.
[3:30-4:15]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Generic Rekognition label detection was not good enough here. It would return 'chair' or 'furniture' without telling me whether that chair is a reportable issue. So I trained a Custom Labels project called NexSafe-Hazard-Classifier with five classes chosen to match the issue options in the form.
I organised the data in S3 by class under dataset/train and dataset/test — 131 training and 59 testing images — so the intended labels were unambiguous before training.
The model reached an overall F1 of 0.975, precision 0.972 and recall 0.980. I used the per-label table on the right as a decision checkpoint, not just proof of success: staircase and water are perfect, desk is the weakest at 0.947, and that tells me exactly where to add images next.
[4:15-5:00]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runtime path, and it matters for the deep-understanding mark.
The browser never calls Rekognition. It sends the image as Base64 to my analyze-image route with the Authorization header. The Lambda validates the content type, rejects anything over five megabytes and rejects invalid Base64, then writes the object into uploads/reports with a year, month and UUID key.
Only then does it call DetectCustomLabels against that S3 object, using the project version ARN and confidence floor from environment variables. It sorts the returned labels by confidence and sends back only the best one, along with the image key so the same photo is never re-uploaded.
Three tuning decisions worth naming: MIN_CONFIDENCE is configurable with a default of 60, the image key is reused instead of resending the payload, and the Other category uploads the photo but skips inference — I would rather have manual review than force a wrong prediction.
[5:00-5:45]</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deployment is eleven steps, ordered so that nothing depends on something that does not exist yet.
Step one is confirming the application itself — eight pages plus the CSS and JS folders, with common.js pointing at the API base URL.
Step two creates the website bucket in ap-southeast-2 and enables static website hosting, which is the serverless hosting requirement for this project.
Step three is the one I want to highlight. I did not use a public-read bucket policy. Block all public access stays on, and the policy grants GetObject to the CloudFront service principal only when the SourceArn matches my distribution.
Step four creates a separate data bucket for the model datasets and uploaded evidence, with the same treatment.
[5:45-6:25]</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five is training and, importantly, starting the model. A Custom Labels project version has to be in the RUNNING state before DetectCustomLabels will succeed — a trained but stopped model returns an error, which cost me time early on. I run one inference unit, which suits a prototype workload.
Step six configures the analyze-image Lambda. Every environment-specific value is an environment variable: the bucket, the model ARN, the confidence floor and the public image base URL. That means I can retrain and repoint the model without touching a line of front-end code.
Step seven creates the MySQL database and the reports Lambda. The function imports mysql2/promise, so that dependency has to be in the deployment package, and the database credentials are environment variables — they are not in the source, not in the browser and not in this report.
[6:25-7:00]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eight creates the HTTP API with the seven routes, CORS for the browser origin, and the Cognito JWT authorizer, so the token is validated at the gateway before Lambda even starts.
Step nine sets up the supporting services: the two Cognito groups with test users in each, the SNS topics, and the Amazon Location map style with a key restricted to map use.
Step ten puts CloudFront in front. Both S3 buckets stay private, CloudFront is the only reader, and the CloudFront domain is the final URL I submitted.
Step eleven is the full rehearsal I run before any demo: create a report as a student, confirm the AI label, check the feed, switch to staff, update it, confirm the notification, and invalidate the cache if I changed any file. That last part matters — an old cached JavaScript file will make a working deployment look broken.
[7:00-7:35]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graded on data protection, access rights and authentication, so I treated it as five separate layers rather than one control.
Both buckets are fully private. The only principal allowed to read them is my CloudFront distribution, matched by SourceArn, and on the data bucket that permission is narrowed further to the uploads/reports prefix — nothing can read my training data through CloudFront.
Identity is Cognito. The token is validated at the gateway, and then validated again for privilege inside the Lambda. The reason I check twice is that hiding a button is not a security control.
Finally, no secrets travel to the browser. The database password, the model ARN and the SNS topic ARNs are Lambda environment variables, and parameterised queries are used for ID-based operations.
[8:10-8:45]</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problems genuinely changed the design.
First, private images. Once I blocked public access, the report photos stopped loading. Rather than making the bucket public, I routed image display through CloudFront and scoped the policy to the uploads prefix.
Second, AI reliability. Generic detection gave unusable answers, so I trained Custom Labels, checked per-label metrics, made the confidence floor configurable, and sent the Other category to manual review instead of forcing a prediction.
Third, authorisation. I was getting 401s and 403s while wiring up the authorizer, and fixing that properly meant checking the group claim in the backend as well.
Fourth, deployment reliability. The mysql2 dependency, environment variables and routeKey matching fixed the Lambda side, and CloudFront invalidation fixed the case where I had updated a file but the old one was still being served.
[8:45-9:20]</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enhancements, in the order I would actually do them. The dataset comes first because the per-label metrics already tell me which classes are weakest. Analytics is next, because the RDS data to build it is already being collected. Then assignment and escalation, then production hardening.
The unlisted YouTube recording is the backup if a service is unavailable. Otherwise I will now run the live demonstration in the order shown here.
REMINDER: paste the unlisted YouTube link into this slide before submitting.
[9:20-9:45]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walkthrough. I'll take questions, and I'm ready to run the live demonstration on the CloudFront URL now.
[9:45-10:00]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jpg"/><Relationship Id="rId5" Type="http://schemas.openxmlformats.org/officeDocument/2006/relationships/image" Target="../media/image6.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jpg"/></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7.jpg"/></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9.jpg"/></Relationships>
</file>

<file path=ppt/slides/_rels/slide1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1.jp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youtu.be/iN1GmdFdWw8"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4" name="Text 1"/>
          <p:cNvSpPr/>
          <p:nvPr/>
        </p:nvSpPr>
        <p:spPr>
          <a:xfrm>
            <a:off x="566928" y="1417320"/>
            <a:ext cx="5852160" cy="1051560"/>
          </a:xfrm>
          <a:prstGeom prst="rect">
            <a:avLst/>
          </a:prstGeom>
          <a:noFill/>
          <a:ln/>
        </p:spPr>
        <p:txBody>
          <a:bodyPr wrap="square" lIns="0" tIns="0" rIns="0" bIns="0" rtlCol="0" anchor="ctr"/>
          <a:lstStyle/>
          <a:p>
            <a:pPr marL="0" indent="0">
              <a:buNone/>
            </a:pPr>
            <a:r>
              <a:rPr lang="en-US" sz="6200" b="1" kern="0" spc="-50" dirty="0">
                <a:solidFill>
                  <a:srgbClr val="FFFFFF"/>
                </a:solidFill>
                <a:latin typeface="Calibri" pitchFamily="34" charset="0"/>
                <a:ea typeface="Calibri" pitchFamily="34" charset="-122"/>
                <a:cs typeface="Calibri" pitchFamily="34" charset="-120"/>
              </a:rPr>
              <a:t>NexSafe</a:t>
            </a:r>
            <a:endParaRPr lang="en-US" sz="6200" dirty="0"/>
          </a:p>
        </p:txBody>
      </p:sp>
      <p:sp>
        <p:nvSpPr>
          <p:cNvPr id="5" name="Text 2"/>
          <p:cNvSpPr/>
          <p:nvPr/>
        </p:nvSpPr>
        <p:spPr>
          <a:xfrm>
            <a:off x="566928" y="2432304"/>
            <a:ext cx="5852160" cy="457200"/>
          </a:xfrm>
          <a:prstGeom prst="rect">
            <a:avLst/>
          </a:prstGeom>
          <a:noFill/>
          <a:ln/>
        </p:spPr>
        <p:txBody>
          <a:bodyPr wrap="square" lIns="0" tIns="0" rIns="0" bIns="0" rtlCol="0" anchor="ctr"/>
          <a:lstStyle/>
          <a:p>
            <a:pPr marL="0" indent="0">
              <a:buNone/>
            </a:pPr>
            <a:r>
              <a:rPr lang="en-US" sz="2400" b="1" dirty="0">
                <a:solidFill>
                  <a:srgbClr val="16A37B"/>
                </a:solidFill>
                <a:latin typeface="Calibri" pitchFamily="34" charset="0"/>
                <a:ea typeface="Calibri" pitchFamily="34" charset="-122"/>
                <a:cs typeface="Calibri" pitchFamily="34" charset="-120"/>
              </a:rPr>
              <a:t>Smart Issue Reporting Platform</a:t>
            </a:r>
            <a:endParaRPr lang="en-US" sz="2400" dirty="0"/>
          </a:p>
        </p:txBody>
      </p:sp>
      <p:sp>
        <p:nvSpPr>
          <p:cNvPr id="6" name="Text 3"/>
          <p:cNvSpPr/>
          <p:nvPr/>
        </p:nvSpPr>
        <p:spPr>
          <a:xfrm>
            <a:off x="566928" y="3017520"/>
            <a:ext cx="5577840" cy="914400"/>
          </a:xfrm>
          <a:prstGeom prst="rect">
            <a:avLst/>
          </a:prstGeom>
          <a:noFill/>
          <a:ln/>
        </p:spPr>
        <p:txBody>
          <a:bodyPr wrap="square" lIns="0" tIns="0" rIns="0" bIns="0" rtlCol="0" anchor="t"/>
          <a:lstStyle/>
          <a:p>
            <a:pPr marL="0" indent="0">
              <a:lnSpc>
                <a:spcPts val="2400"/>
              </a:lnSpc>
              <a:buNone/>
            </a:pPr>
            <a:r>
              <a:rPr lang="en-US" sz="1550" dirty="0">
                <a:solidFill>
                  <a:srgbClr val="C8DCD4"/>
                </a:solidFill>
                <a:latin typeface="Calibri" pitchFamily="34" charset="0"/>
                <a:ea typeface="Calibri" pitchFamily="34" charset="-122"/>
                <a:cs typeface="Calibri" pitchFamily="34" charset="-120"/>
              </a:rPr>
              <a:t>A serverless AWS web application that lets students report campus hazards with AI-verified photo evidence, and lets staff review and resolve them.</a:t>
            </a:r>
            <a:endParaRPr lang="en-US" sz="1550" dirty="0"/>
          </a:p>
        </p:txBody>
      </p:sp>
      <p:sp>
        <p:nvSpPr>
          <p:cNvPr id="7" name="Shape 4"/>
          <p:cNvSpPr/>
          <p:nvPr/>
        </p:nvSpPr>
        <p:spPr>
          <a:xfrm>
            <a:off x="566928" y="4041648"/>
            <a:ext cx="5577840" cy="566928"/>
          </a:xfrm>
          <a:prstGeom prst="roundRect">
            <a:avLst>
              <a:gd name="adj" fmla="val 12903"/>
            </a:avLst>
          </a:prstGeom>
          <a:solidFill>
            <a:srgbClr val="0F4436"/>
          </a:solidFill>
          <a:ln w="12700">
            <a:solidFill>
              <a:srgbClr val="0F4436"/>
            </a:solidFill>
            <a:prstDash val="solid"/>
          </a:ln>
        </p:spPr>
        <p:txBody>
          <a:bodyPr/>
          <a:lstStyle/>
          <a:p>
            <a:endParaRPr lang="en-US"/>
          </a:p>
        </p:txBody>
      </p:sp>
      <p:sp>
        <p:nvSpPr>
          <p:cNvPr id="8" name="Text 5"/>
          <p:cNvSpPr/>
          <p:nvPr/>
        </p:nvSpPr>
        <p:spPr>
          <a:xfrm>
            <a:off x="804672" y="4041648"/>
            <a:ext cx="5120640" cy="566928"/>
          </a:xfrm>
          <a:prstGeom prst="rect">
            <a:avLst/>
          </a:prstGeom>
          <a:noFill/>
          <a:ln/>
        </p:spPr>
        <p:txBody>
          <a:bodyPr wrap="square" lIns="0" tIns="0" rIns="0" bIns="0" rtlCol="0" anchor="ctr"/>
          <a:lstStyle/>
          <a:p>
            <a:pPr marL="0" indent="0">
              <a:buNone/>
            </a:pPr>
            <a:r>
              <a:rPr lang="en-US" sz="1250" b="1" dirty="0">
                <a:solidFill>
                  <a:srgbClr val="16A37B"/>
                </a:solidFill>
                <a:latin typeface="Calibri" pitchFamily="34" charset="0"/>
                <a:ea typeface="Calibri" pitchFamily="34" charset="-122"/>
                <a:cs typeface="Calibri" pitchFamily="34" charset="-120"/>
              </a:rPr>
              <a:t>Live URL   </a:t>
            </a:r>
            <a:r>
              <a:rPr lang="en-US" sz="1450" b="1" dirty="0">
                <a:solidFill>
                  <a:srgbClr val="FFFFFF"/>
                </a:solidFill>
                <a:latin typeface="Calibri" pitchFamily="34" charset="0"/>
                <a:ea typeface="Calibri" pitchFamily="34" charset="-122"/>
                <a:cs typeface="Calibri" pitchFamily="34" charset="-120"/>
              </a:rPr>
              <a:t>https://d2a0yi8f3vpirh.cloudfront.net/</a:t>
            </a:r>
            <a:endParaRPr lang="en-US" sz="1250" dirty="0"/>
          </a:p>
        </p:txBody>
      </p:sp>
      <p:sp>
        <p:nvSpPr>
          <p:cNvPr id="10" name="Text 7"/>
          <p:cNvSpPr/>
          <p:nvPr/>
        </p:nvSpPr>
        <p:spPr>
          <a:xfrm>
            <a:off x="566928" y="5230368"/>
            <a:ext cx="5852160" cy="310896"/>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Khin Pyaesone Win  ·  2503083D  ·  PC02  ·  Tutor: Jin Lee  ·</a:t>
            </a:r>
            <a:endParaRPr lang="en-US" sz="1400" dirty="0"/>
          </a:p>
        </p:txBody>
      </p:sp>
      <p:sp>
        <p:nvSpPr>
          <p:cNvPr id="11" name="Text 8"/>
          <p:cNvSpPr/>
          <p:nvPr/>
        </p:nvSpPr>
        <p:spPr>
          <a:xfrm>
            <a:off x="566928" y="5742432"/>
            <a:ext cx="6035040" cy="548640"/>
          </a:xfrm>
          <a:prstGeom prst="rect">
            <a:avLst/>
          </a:prstGeom>
          <a:noFill/>
          <a:ln/>
        </p:spPr>
        <p:txBody>
          <a:bodyPr wrap="square" lIns="0" tIns="0" rIns="0" bIns="0" rtlCol="0" anchor="t"/>
          <a:lstStyle/>
          <a:p>
            <a:pPr marL="0" indent="0">
              <a:lnSpc>
                <a:spcPts val="1700"/>
              </a:lnSpc>
              <a:buNone/>
            </a:pPr>
            <a:r>
              <a:rPr lang="en-US" sz="1200" dirty="0">
                <a:solidFill>
                  <a:srgbClr val="7FA69A"/>
                </a:solidFill>
                <a:latin typeface="Calibri" pitchFamily="34" charset="0"/>
                <a:ea typeface="Calibri" pitchFamily="34" charset="-122"/>
                <a:cs typeface="Calibri" pitchFamily="34" charset="-120"/>
              </a:rPr>
              <a:t>S3  ·  CloudFront  ·  Cognito  ·  API Gateway  ·  Lambda  ·  RDS MySQL  ·  Rekognition Custom Labels  ·  SNS  ·  Location  ·  IAM</a:t>
            </a:r>
            <a:endParaRPr lang="en-US" sz="1200" dirty="0"/>
          </a:p>
        </p:txBody>
      </p:sp>
      <p:pic>
        <p:nvPicPr>
          <p:cNvPr id="12" name="Image 1" descr="img/image3.jpg"/>
          <p:cNvPicPr>
            <a:picLocks noChangeAspect="1"/>
          </p:cNvPicPr>
          <p:nvPr/>
        </p:nvPicPr>
        <p:blipFill>
          <a:blip r:embed="rId4"/>
          <a:stretch>
            <a:fillRect/>
          </a:stretch>
        </p:blipFill>
        <p:spPr>
          <a:xfrm>
            <a:off x="6266690" y="1636776"/>
            <a:ext cx="5741556" cy="3584448"/>
          </a:xfrm>
          <a:prstGeom prst="rect">
            <a:avLst/>
          </a:prstGeom>
          <a:effectLst>
            <a:outerShdw blurRad="304800" dist="50800" dir="5400000" algn="bl" rotWithShape="0">
              <a:srgbClr val="0D2A22">
                <a:alpha val="4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9"/>
        </a:solidFill>
        <a:effectLst/>
      </p:bgPr>
    </p:bg>
    <p:spTree>
      <p:nvGrpSpPr>
        <p:cNvPr id="1" name=""/>
        <p:cNvGrpSpPr/>
        <p:nvPr/>
      </p:nvGrpSpPr>
      <p:grpSpPr>
        <a:xfrm>
          <a:off x="0" y="0"/>
          <a:ext cx="0" cy="0"/>
          <a:chOff x="0" y="0"/>
          <a:chExt cx="0" cy="0"/>
        </a:xfrm>
      </p:grpSpPr>
      <p:sp>
        <p:nvSpPr>
          <p:cNvPr id="2" name="Text 0"/>
          <p:cNvSpPr/>
          <p:nvPr/>
        </p:nvSpPr>
        <p:spPr>
          <a:xfrm>
            <a:off x="566928" y="347472"/>
            <a:ext cx="11057839" cy="566928"/>
          </a:xfrm>
          <a:prstGeom prst="rect">
            <a:avLst/>
          </a:prstGeom>
          <a:noFill/>
          <a:ln/>
        </p:spPr>
        <p:txBody>
          <a:bodyPr wrap="square" lIns="0" tIns="0" rIns="0" bIns="0" rtlCol="0" anchor="ctr"/>
          <a:lstStyle/>
          <a:p>
            <a:pPr marL="0" indent="0">
              <a:buNone/>
            </a:pPr>
            <a:r>
              <a:rPr lang="en-US" sz="3200" b="1" dirty="0">
                <a:solidFill>
                  <a:srgbClr val="0D2A22"/>
                </a:solidFill>
                <a:latin typeface="Calibri" pitchFamily="34" charset="0"/>
                <a:ea typeface="Calibri" pitchFamily="34" charset="-122"/>
                <a:cs typeface="Calibri" pitchFamily="34" charset="-120"/>
              </a:rPr>
              <a:t>Presentation Contents</a:t>
            </a:r>
            <a:endParaRPr lang="en-US" sz="3200" dirty="0"/>
          </a:p>
        </p:txBody>
      </p:sp>
      <p:sp>
        <p:nvSpPr>
          <p:cNvPr id="3" name="Text 1"/>
          <p:cNvSpPr/>
          <p:nvPr/>
        </p:nvSpPr>
        <p:spPr>
          <a:xfrm>
            <a:off x="566928" y="932688"/>
            <a:ext cx="11057839" cy="365760"/>
          </a:xfrm>
          <a:prstGeom prst="rect">
            <a:avLst/>
          </a:prstGeom>
          <a:noFill/>
          <a:ln/>
        </p:spPr>
        <p:txBody>
          <a:bodyPr wrap="square" lIns="0" tIns="0" rIns="0" bIns="0" rtlCol="0" anchor="ctr"/>
          <a:lstStyle/>
          <a:p>
            <a:pPr marL="0" indent="0">
              <a:buNone/>
            </a:pPr>
            <a:r>
              <a:rPr lang="en-US" sz="1550" dirty="0">
                <a:solidFill>
                  <a:srgbClr val="5C6E68"/>
                </a:solidFill>
                <a:latin typeface="Calibri" pitchFamily="34" charset="0"/>
                <a:ea typeface="Calibri" pitchFamily="34" charset="-122"/>
                <a:cs typeface="Calibri" pitchFamily="34" charset="-120"/>
              </a:rPr>
              <a:t>Six sections, ending with a live demonstration of the deployed website</a:t>
            </a:r>
            <a:endParaRPr lang="en-US" sz="1550" dirty="0"/>
          </a:p>
        </p:txBody>
      </p:sp>
      <p:sp>
        <p:nvSpPr>
          <p:cNvPr id="4" name="Shape 2"/>
          <p:cNvSpPr/>
          <p:nvPr/>
        </p:nvSpPr>
        <p:spPr>
          <a:xfrm>
            <a:off x="566928" y="1572768"/>
            <a:ext cx="3478682" cy="1965960"/>
          </a:xfrm>
          <a:prstGeom prst="roundRect">
            <a:avLst>
              <a:gd name="adj" fmla="val 4651"/>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5" name="Shape 3"/>
          <p:cNvSpPr/>
          <p:nvPr/>
        </p:nvSpPr>
        <p:spPr>
          <a:xfrm>
            <a:off x="877824" y="1883664"/>
            <a:ext cx="475488" cy="475488"/>
          </a:xfrm>
          <a:prstGeom prst="ellipse">
            <a:avLst/>
          </a:prstGeom>
          <a:solidFill>
            <a:srgbClr val="0F6B4F"/>
          </a:solidFill>
          <a:ln w="12700">
            <a:solidFill>
              <a:srgbClr val="0F6B4F"/>
            </a:solidFill>
            <a:prstDash val="solid"/>
          </a:ln>
        </p:spPr>
        <p:txBody>
          <a:bodyPr/>
          <a:lstStyle/>
          <a:p>
            <a:endParaRPr lang="en-US"/>
          </a:p>
        </p:txBody>
      </p:sp>
      <p:sp>
        <p:nvSpPr>
          <p:cNvPr id="6" name="Text 4"/>
          <p:cNvSpPr/>
          <p:nvPr/>
        </p:nvSpPr>
        <p:spPr>
          <a:xfrm>
            <a:off x="877824" y="1883664"/>
            <a:ext cx="475488" cy="475488"/>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7" name="Text 5"/>
          <p:cNvSpPr/>
          <p:nvPr/>
        </p:nvSpPr>
        <p:spPr>
          <a:xfrm>
            <a:off x="877824" y="2487168"/>
            <a:ext cx="2856890" cy="384048"/>
          </a:xfrm>
          <a:prstGeom prst="rect">
            <a:avLst/>
          </a:prstGeom>
          <a:noFill/>
          <a:ln/>
        </p:spPr>
        <p:txBody>
          <a:bodyPr wrap="square" lIns="0" tIns="0" rIns="0" bIns="0" rtlCol="0" anchor="ctr"/>
          <a:lstStyle/>
          <a:p>
            <a:pPr marL="0" indent="0">
              <a:buNone/>
            </a:pPr>
            <a:r>
              <a:rPr lang="en-US" sz="1900" b="1" dirty="0">
                <a:solidFill>
                  <a:srgbClr val="0D2A22"/>
                </a:solidFill>
                <a:latin typeface="Calibri" pitchFamily="34" charset="0"/>
                <a:ea typeface="Calibri" pitchFamily="34" charset="-122"/>
                <a:cs typeface="Calibri" pitchFamily="34" charset="-120"/>
              </a:rPr>
              <a:t>Website Overview</a:t>
            </a:r>
            <a:endParaRPr lang="en-US" sz="1900" dirty="0"/>
          </a:p>
        </p:txBody>
      </p:sp>
      <p:sp>
        <p:nvSpPr>
          <p:cNvPr id="8" name="Text 6"/>
          <p:cNvSpPr/>
          <p:nvPr/>
        </p:nvSpPr>
        <p:spPr>
          <a:xfrm>
            <a:off x="877824" y="2871216"/>
            <a:ext cx="2856890" cy="548640"/>
          </a:xfrm>
          <a:prstGeom prst="rect">
            <a:avLst/>
          </a:prstGeom>
          <a:noFill/>
          <a:ln/>
        </p:spPr>
        <p:txBody>
          <a:bodyPr wrap="square" lIns="0" tIns="0" rIns="0" bIns="0" rtlCol="0" anchor="t"/>
          <a:lstStyle/>
          <a:p>
            <a:pPr marL="0" indent="0">
              <a:lnSpc>
                <a:spcPts val="1900"/>
              </a:lnSpc>
              <a:buNone/>
            </a:pPr>
            <a:r>
              <a:rPr lang="en-US" sz="1450" dirty="0">
                <a:solidFill>
                  <a:srgbClr val="5C6E68"/>
                </a:solidFill>
                <a:latin typeface="Calibri" pitchFamily="34" charset="0"/>
                <a:ea typeface="Calibri" pitchFamily="34" charset="-122"/>
                <a:cs typeface="Calibri" pitchFamily="34" charset="-120"/>
              </a:rPr>
              <a:t>The problem, the users, and both role journeys</a:t>
            </a:r>
            <a:endParaRPr lang="en-US" sz="1450" dirty="0"/>
          </a:p>
        </p:txBody>
      </p:sp>
      <p:sp>
        <p:nvSpPr>
          <p:cNvPr id="9" name="Shape 7"/>
          <p:cNvSpPr/>
          <p:nvPr/>
        </p:nvSpPr>
        <p:spPr>
          <a:xfrm>
            <a:off x="4356506" y="1572768"/>
            <a:ext cx="3478682" cy="1965960"/>
          </a:xfrm>
          <a:prstGeom prst="roundRect">
            <a:avLst>
              <a:gd name="adj" fmla="val 4651"/>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0" name="Shape 8"/>
          <p:cNvSpPr/>
          <p:nvPr/>
        </p:nvSpPr>
        <p:spPr>
          <a:xfrm>
            <a:off x="4667402" y="1883664"/>
            <a:ext cx="475488" cy="475488"/>
          </a:xfrm>
          <a:prstGeom prst="ellipse">
            <a:avLst/>
          </a:prstGeom>
          <a:solidFill>
            <a:srgbClr val="0F6B4F"/>
          </a:solidFill>
          <a:ln w="12700">
            <a:solidFill>
              <a:srgbClr val="0F6B4F"/>
            </a:solidFill>
            <a:prstDash val="solid"/>
          </a:ln>
        </p:spPr>
        <p:txBody>
          <a:bodyPr/>
          <a:lstStyle/>
          <a:p>
            <a:endParaRPr lang="en-US"/>
          </a:p>
        </p:txBody>
      </p:sp>
      <p:sp>
        <p:nvSpPr>
          <p:cNvPr id="11" name="Text 9"/>
          <p:cNvSpPr/>
          <p:nvPr/>
        </p:nvSpPr>
        <p:spPr>
          <a:xfrm>
            <a:off x="4667402" y="1883664"/>
            <a:ext cx="475488" cy="475488"/>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2" name="Text 10"/>
          <p:cNvSpPr/>
          <p:nvPr/>
        </p:nvSpPr>
        <p:spPr>
          <a:xfrm>
            <a:off x="4667402" y="2487168"/>
            <a:ext cx="2856890" cy="384048"/>
          </a:xfrm>
          <a:prstGeom prst="rect">
            <a:avLst/>
          </a:prstGeom>
          <a:noFill/>
          <a:ln/>
        </p:spPr>
        <p:txBody>
          <a:bodyPr wrap="square" lIns="0" tIns="0" rIns="0" bIns="0" rtlCol="0" anchor="ctr"/>
          <a:lstStyle/>
          <a:p>
            <a:pPr marL="0" indent="0">
              <a:buNone/>
            </a:pPr>
            <a:r>
              <a:rPr lang="en-US" sz="1900" b="1" dirty="0">
                <a:solidFill>
                  <a:srgbClr val="0D2A22"/>
                </a:solidFill>
                <a:latin typeface="Calibri" pitchFamily="34" charset="0"/>
                <a:ea typeface="Calibri" pitchFamily="34" charset="-122"/>
                <a:cs typeface="Calibri" pitchFamily="34" charset="-120"/>
              </a:rPr>
              <a:t>Services Used</a:t>
            </a:r>
            <a:endParaRPr lang="en-US" sz="1900" dirty="0"/>
          </a:p>
        </p:txBody>
      </p:sp>
      <p:sp>
        <p:nvSpPr>
          <p:cNvPr id="13" name="Text 11"/>
          <p:cNvSpPr/>
          <p:nvPr/>
        </p:nvSpPr>
        <p:spPr>
          <a:xfrm>
            <a:off x="4667402" y="2871216"/>
            <a:ext cx="2856890" cy="548640"/>
          </a:xfrm>
          <a:prstGeom prst="rect">
            <a:avLst/>
          </a:prstGeom>
          <a:noFill/>
          <a:ln/>
        </p:spPr>
        <p:txBody>
          <a:bodyPr wrap="square" lIns="0" tIns="0" rIns="0" bIns="0" rtlCol="0" anchor="t"/>
          <a:lstStyle/>
          <a:p>
            <a:pPr marL="0" indent="0">
              <a:lnSpc>
                <a:spcPts val="1900"/>
              </a:lnSpc>
              <a:buNone/>
            </a:pPr>
            <a:r>
              <a:rPr lang="en-US" sz="1450" dirty="0">
                <a:solidFill>
                  <a:srgbClr val="5C6E68"/>
                </a:solidFill>
                <a:latin typeface="Calibri" pitchFamily="34" charset="0"/>
                <a:ea typeface="Calibri" pitchFamily="34" charset="-122"/>
                <a:cs typeface="Calibri" pitchFamily="34" charset="-120"/>
              </a:rPr>
              <a:t>What every AWS service does inside NexSafe</a:t>
            </a:r>
            <a:endParaRPr lang="en-US" sz="1450" dirty="0"/>
          </a:p>
        </p:txBody>
      </p:sp>
      <p:sp>
        <p:nvSpPr>
          <p:cNvPr id="14" name="Shape 12"/>
          <p:cNvSpPr/>
          <p:nvPr/>
        </p:nvSpPr>
        <p:spPr>
          <a:xfrm>
            <a:off x="8146085" y="1572768"/>
            <a:ext cx="3478682" cy="1965960"/>
          </a:xfrm>
          <a:prstGeom prst="roundRect">
            <a:avLst>
              <a:gd name="adj" fmla="val 4651"/>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5" name="Shape 13"/>
          <p:cNvSpPr/>
          <p:nvPr/>
        </p:nvSpPr>
        <p:spPr>
          <a:xfrm>
            <a:off x="8456981" y="1883664"/>
            <a:ext cx="475488" cy="475488"/>
          </a:xfrm>
          <a:prstGeom prst="ellipse">
            <a:avLst/>
          </a:prstGeom>
          <a:solidFill>
            <a:srgbClr val="0F6B4F"/>
          </a:solidFill>
          <a:ln w="12700">
            <a:solidFill>
              <a:srgbClr val="0F6B4F"/>
            </a:solidFill>
            <a:prstDash val="solid"/>
          </a:ln>
        </p:spPr>
        <p:txBody>
          <a:bodyPr/>
          <a:lstStyle/>
          <a:p>
            <a:endParaRPr lang="en-US"/>
          </a:p>
        </p:txBody>
      </p:sp>
      <p:sp>
        <p:nvSpPr>
          <p:cNvPr id="16" name="Text 14"/>
          <p:cNvSpPr/>
          <p:nvPr/>
        </p:nvSpPr>
        <p:spPr>
          <a:xfrm>
            <a:off x="8456981" y="1883664"/>
            <a:ext cx="475488" cy="475488"/>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17" name="Text 15"/>
          <p:cNvSpPr/>
          <p:nvPr/>
        </p:nvSpPr>
        <p:spPr>
          <a:xfrm>
            <a:off x="8456981" y="2487168"/>
            <a:ext cx="2856890" cy="384048"/>
          </a:xfrm>
          <a:prstGeom prst="rect">
            <a:avLst/>
          </a:prstGeom>
          <a:noFill/>
          <a:ln/>
        </p:spPr>
        <p:txBody>
          <a:bodyPr wrap="square" lIns="0" tIns="0" rIns="0" bIns="0" rtlCol="0" anchor="ctr"/>
          <a:lstStyle/>
          <a:p>
            <a:pPr marL="0" indent="0">
              <a:buNone/>
            </a:pPr>
            <a:r>
              <a:rPr lang="en-US" sz="1900" b="1" dirty="0">
                <a:solidFill>
                  <a:srgbClr val="0D2A22"/>
                </a:solidFill>
                <a:latin typeface="Calibri" pitchFamily="34" charset="0"/>
                <a:ea typeface="Calibri" pitchFamily="34" charset="-122"/>
                <a:cs typeface="Calibri" pitchFamily="34" charset="-120"/>
              </a:rPr>
              <a:t>Rekognition Development</a:t>
            </a:r>
            <a:endParaRPr lang="en-US" sz="1900" dirty="0"/>
          </a:p>
        </p:txBody>
      </p:sp>
      <p:sp>
        <p:nvSpPr>
          <p:cNvPr id="18" name="Text 16"/>
          <p:cNvSpPr/>
          <p:nvPr/>
        </p:nvSpPr>
        <p:spPr>
          <a:xfrm>
            <a:off x="8456981" y="2871216"/>
            <a:ext cx="2856890" cy="548640"/>
          </a:xfrm>
          <a:prstGeom prst="rect">
            <a:avLst/>
          </a:prstGeom>
          <a:noFill/>
          <a:ln/>
        </p:spPr>
        <p:txBody>
          <a:bodyPr wrap="square" lIns="0" tIns="0" rIns="0" bIns="0" rtlCol="0" anchor="t"/>
          <a:lstStyle/>
          <a:p>
            <a:pPr marL="0" indent="0">
              <a:lnSpc>
                <a:spcPts val="1900"/>
              </a:lnSpc>
              <a:buNone/>
            </a:pPr>
            <a:r>
              <a:rPr lang="en-US" sz="1450" dirty="0">
                <a:solidFill>
                  <a:srgbClr val="5C6E68"/>
                </a:solidFill>
                <a:latin typeface="Calibri" pitchFamily="34" charset="0"/>
                <a:ea typeface="Calibri" pitchFamily="34" charset="-122"/>
                <a:cs typeface="Calibri" pitchFamily="34" charset="-120"/>
              </a:rPr>
              <a:t>Custom Labels dataset, metrics and integration</a:t>
            </a:r>
            <a:endParaRPr lang="en-US" sz="1450" dirty="0"/>
          </a:p>
        </p:txBody>
      </p:sp>
      <p:sp>
        <p:nvSpPr>
          <p:cNvPr id="19" name="Shape 17"/>
          <p:cNvSpPr/>
          <p:nvPr/>
        </p:nvSpPr>
        <p:spPr>
          <a:xfrm>
            <a:off x="566928" y="3904488"/>
            <a:ext cx="3478682" cy="1965960"/>
          </a:xfrm>
          <a:prstGeom prst="roundRect">
            <a:avLst>
              <a:gd name="adj" fmla="val 4651"/>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20" name="Shape 18"/>
          <p:cNvSpPr/>
          <p:nvPr/>
        </p:nvSpPr>
        <p:spPr>
          <a:xfrm>
            <a:off x="877824" y="4215384"/>
            <a:ext cx="475488" cy="475488"/>
          </a:xfrm>
          <a:prstGeom prst="ellipse">
            <a:avLst/>
          </a:prstGeom>
          <a:solidFill>
            <a:srgbClr val="0F6B4F"/>
          </a:solidFill>
          <a:ln w="12700">
            <a:solidFill>
              <a:srgbClr val="0F6B4F"/>
            </a:solidFill>
            <a:prstDash val="solid"/>
          </a:ln>
        </p:spPr>
        <p:txBody>
          <a:bodyPr/>
          <a:lstStyle/>
          <a:p>
            <a:endParaRPr lang="en-US"/>
          </a:p>
        </p:txBody>
      </p:sp>
      <p:sp>
        <p:nvSpPr>
          <p:cNvPr id="21" name="Text 19"/>
          <p:cNvSpPr/>
          <p:nvPr/>
        </p:nvSpPr>
        <p:spPr>
          <a:xfrm>
            <a:off x="877824" y="4215384"/>
            <a:ext cx="475488" cy="475488"/>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2" name="Text 20"/>
          <p:cNvSpPr/>
          <p:nvPr/>
        </p:nvSpPr>
        <p:spPr>
          <a:xfrm>
            <a:off x="877824" y="4818888"/>
            <a:ext cx="2856890" cy="384048"/>
          </a:xfrm>
          <a:prstGeom prst="rect">
            <a:avLst/>
          </a:prstGeom>
          <a:noFill/>
          <a:ln/>
        </p:spPr>
        <p:txBody>
          <a:bodyPr wrap="square" lIns="0" tIns="0" rIns="0" bIns="0" rtlCol="0" anchor="ctr"/>
          <a:lstStyle/>
          <a:p>
            <a:pPr marL="0" indent="0">
              <a:buNone/>
            </a:pPr>
            <a:r>
              <a:rPr lang="en-US" sz="1900" b="1" dirty="0">
                <a:solidFill>
                  <a:srgbClr val="0D2A22"/>
                </a:solidFill>
                <a:latin typeface="Calibri" pitchFamily="34" charset="0"/>
                <a:ea typeface="Calibri" pitchFamily="34" charset="-122"/>
                <a:cs typeface="Calibri" pitchFamily="34" charset="-120"/>
              </a:rPr>
              <a:t>Deployment Process</a:t>
            </a:r>
            <a:endParaRPr lang="en-US" sz="1900" dirty="0"/>
          </a:p>
        </p:txBody>
      </p:sp>
      <p:sp>
        <p:nvSpPr>
          <p:cNvPr id="23" name="Text 21"/>
          <p:cNvSpPr/>
          <p:nvPr/>
        </p:nvSpPr>
        <p:spPr>
          <a:xfrm>
            <a:off x="877824" y="5202936"/>
            <a:ext cx="2856890" cy="548640"/>
          </a:xfrm>
          <a:prstGeom prst="rect">
            <a:avLst/>
          </a:prstGeom>
          <a:noFill/>
          <a:ln/>
        </p:spPr>
        <p:txBody>
          <a:bodyPr wrap="square" lIns="0" tIns="0" rIns="0" bIns="0" rtlCol="0" anchor="t"/>
          <a:lstStyle/>
          <a:p>
            <a:pPr marL="0" indent="0">
              <a:lnSpc>
                <a:spcPts val="1900"/>
              </a:lnSpc>
              <a:buNone/>
            </a:pPr>
            <a:r>
              <a:rPr lang="en-US" sz="1450" dirty="0">
                <a:solidFill>
                  <a:srgbClr val="5C6E68"/>
                </a:solidFill>
                <a:latin typeface="Calibri" pitchFamily="34" charset="0"/>
                <a:ea typeface="Calibri" pitchFamily="34" charset="-122"/>
                <a:cs typeface="Calibri" pitchFamily="34" charset="-120"/>
              </a:rPr>
              <a:t>Eleven steps from S3 storage to CloudFront delivery</a:t>
            </a:r>
            <a:endParaRPr lang="en-US" sz="1450" dirty="0"/>
          </a:p>
        </p:txBody>
      </p:sp>
      <p:sp>
        <p:nvSpPr>
          <p:cNvPr id="24" name="Shape 22"/>
          <p:cNvSpPr/>
          <p:nvPr/>
        </p:nvSpPr>
        <p:spPr>
          <a:xfrm>
            <a:off x="4356506" y="3904488"/>
            <a:ext cx="3478682" cy="1965960"/>
          </a:xfrm>
          <a:prstGeom prst="roundRect">
            <a:avLst>
              <a:gd name="adj" fmla="val 4651"/>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25" name="Shape 23"/>
          <p:cNvSpPr/>
          <p:nvPr/>
        </p:nvSpPr>
        <p:spPr>
          <a:xfrm>
            <a:off x="4667402" y="4215384"/>
            <a:ext cx="475488" cy="475488"/>
          </a:xfrm>
          <a:prstGeom prst="ellipse">
            <a:avLst/>
          </a:prstGeom>
          <a:solidFill>
            <a:srgbClr val="0F6B4F"/>
          </a:solidFill>
          <a:ln w="12700">
            <a:solidFill>
              <a:srgbClr val="0F6B4F"/>
            </a:solidFill>
            <a:prstDash val="solid"/>
          </a:ln>
        </p:spPr>
        <p:txBody>
          <a:bodyPr/>
          <a:lstStyle/>
          <a:p>
            <a:endParaRPr lang="en-US"/>
          </a:p>
        </p:txBody>
      </p:sp>
      <p:sp>
        <p:nvSpPr>
          <p:cNvPr id="26" name="Text 24"/>
          <p:cNvSpPr/>
          <p:nvPr/>
        </p:nvSpPr>
        <p:spPr>
          <a:xfrm>
            <a:off x="4667402" y="4215384"/>
            <a:ext cx="475488" cy="475488"/>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5</a:t>
            </a:r>
            <a:endParaRPr lang="en-US" sz="1900" dirty="0"/>
          </a:p>
        </p:txBody>
      </p:sp>
      <p:sp>
        <p:nvSpPr>
          <p:cNvPr id="27" name="Text 25"/>
          <p:cNvSpPr/>
          <p:nvPr/>
        </p:nvSpPr>
        <p:spPr>
          <a:xfrm>
            <a:off x="4667402" y="4818888"/>
            <a:ext cx="2856890" cy="384048"/>
          </a:xfrm>
          <a:prstGeom prst="rect">
            <a:avLst/>
          </a:prstGeom>
          <a:noFill/>
          <a:ln/>
        </p:spPr>
        <p:txBody>
          <a:bodyPr wrap="square" lIns="0" tIns="0" rIns="0" bIns="0" rtlCol="0" anchor="ctr"/>
          <a:lstStyle/>
          <a:p>
            <a:pPr marL="0" indent="0">
              <a:buNone/>
            </a:pPr>
            <a:r>
              <a:rPr lang="en-US" sz="1900" b="1" dirty="0">
                <a:solidFill>
                  <a:srgbClr val="0D2A22"/>
                </a:solidFill>
                <a:latin typeface="Calibri" pitchFamily="34" charset="0"/>
                <a:ea typeface="Calibri" pitchFamily="34" charset="-122"/>
                <a:cs typeface="Calibri" pitchFamily="34" charset="-120"/>
              </a:rPr>
              <a:t>Security &amp; Database</a:t>
            </a:r>
            <a:endParaRPr lang="en-US" sz="1900" dirty="0"/>
          </a:p>
        </p:txBody>
      </p:sp>
      <p:sp>
        <p:nvSpPr>
          <p:cNvPr id="28" name="Text 26"/>
          <p:cNvSpPr/>
          <p:nvPr/>
        </p:nvSpPr>
        <p:spPr>
          <a:xfrm>
            <a:off x="4667402" y="5202936"/>
            <a:ext cx="2856890" cy="548640"/>
          </a:xfrm>
          <a:prstGeom prst="rect">
            <a:avLst/>
          </a:prstGeom>
          <a:noFill/>
          <a:ln/>
        </p:spPr>
        <p:txBody>
          <a:bodyPr wrap="square" lIns="0" tIns="0" rIns="0" bIns="0" rtlCol="0" anchor="t"/>
          <a:lstStyle/>
          <a:p>
            <a:pPr marL="0" indent="0">
              <a:lnSpc>
                <a:spcPts val="1900"/>
              </a:lnSpc>
              <a:buNone/>
            </a:pPr>
            <a:r>
              <a:rPr lang="en-US" sz="1450" dirty="0">
                <a:solidFill>
                  <a:srgbClr val="5C6E68"/>
                </a:solidFill>
                <a:latin typeface="Calibri" pitchFamily="34" charset="0"/>
                <a:ea typeface="Calibri" pitchFamily="34" charset="-122"/>
                <a:cs typeface="Calibri" pitchFamily="34" charset="-120"/>
              </a:rPr>
              <a:t>Least privilege, JWT roles and full CRUD</a:t>
            </a:r>
            <a:endParaRPr lang="en-US" sz="1450" dirty="0"/>
          </a:p>
        </p:txBody>
      </p:sp>
      <p:sp>
        <p:nvSpPr>
          <p:cNvPr id="29" name="Shape 27"/>
          <p:cNvSpPr/>
          <p:nvPr/>
        </p:nvSpPr>
        <p:spPr>
          <a:xfrm>
            <a:off x="8146085" y="3904488"/>
            <a:ext cx="3478682" cy="1965960"/>
          </a:xfrm>
          <a:prstGeom prst="roundRect">
            <a:avLst>
              <a:gd name="adj" fmla="val 4651"/>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30" name="Shape 28"/>
          <p:cNvSpPr/>
          <p:nvPr/>
        </p:nvSpPr>
        <p:spPr>
          <a:xfrm>
            <a:off x="8456981" y="4215384"/>
            <a:ext cx="475488" cy="475488"/>
          </a:xfrm>
          <a:prstGeom prst="ellipse">
            <a:avLst/>
          </a:prstGeom>
          <a:solidFill>
            <a:srgbClr val="0F6B4F"/>
          </a:solidFill>
          <a:ln w="12700">
            <a:solidFill>
              <a:srgbClr val="0F6B4F"/>
            </a:solidFill>
            <a:prstDash val="solid"/>
          </a:ln>
        </p:spPr>
        <p:txBody>
          <a:bodyPr/>
          <a:lstStyle/>
          <a:p>
            <a:endParaRPr lang="en-US"/>
          </a:p>
        </p:txBody>
      </p:sp>
      <p:sp>
        <p:nvSpPr>
          <p:cNvPr id="31" name="Text 29"/>
          <p:cNvSpPr/>
          <p:nvPr/>
        </p:nvSpPr>
        <p:spPr>
          <a:xfrm>
            <a:off x="8456981" y="4215384"/>
            <a:ext cx="475488" cy="475488"/>
          </a:xfrm>
          <a:prstGeom prst="rect">
            <a:avLst/>
          </a:prstGeom>
          <a:noFill/>
          <a:ln/>
        </p:spPr>
        <p:txBody>
          <a:bodyPr wrap="square" lIns="0" tIns="0" rIns="0" bIns="0"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6</a:t>
            </a:r>
            <a:endParaRPr lang="en-US" sz="1900" dirty="0"/>
          </a:p>
        </p:txBody>
      </p:sp>
      <p:sp>
        <p:nvSpPr>
          <p:cNvPr id="32" name="Text 30"/>
          <p:cNvSpPr/>
          <p:nvPr/>
        </p:nvSpPr>
        <p:spPr>
          <a:xfrm>
            <a:off x="8456981" y="4818888"/>
            <a:ext cx="2856890" cy="384048"/>
          </a:xfrm>
          <a:prstGeom prst="rect">
            <a:avLst/>
          </a:prstGeom>
          <a:noFill/>
          <a:ln/>
        </p:spPr>
        <p:txBody>
          <a:bodyPr wrap="square" lIns="0" tIns="0" rIns="0" bIns="0" rtlCol="0" anchor="ctr"/>
          <a:lstStyle/>
          <a:p>
            <a:pPr marL="0" indent="0">
              <a:buNone/>
            </a:pPr>
            <a:r>
              <a:rPr lang="en-US" sz="1900" b="1" dirty="0">
                <a:solidFill>
                  <a:srgbClr val="0D2A22"/>
                </a:solidFill>
                <a:latin typeface="Calibri" pitchFamily="34" charset="0"/>
                <a:ea typeface="Calibri" pitchFamily="34" charset="-122"/>
                <a:cs typeface="Calibri" pitchFamily="34" charset="-120"/>
              </a:rPr>
              <a:t>Challenges &amp; Next Steps</a:t>
            </a:r>
            <a:endParaRPr lang="en-US" sz="1900" dirty="0"/>
          </a:p>
        </p:txBody>
      </p:sp>
      <p:sp>
        <p:nvSpPr>
          <p:cNvPr id="33" name="Text 31"/>
          <p:cNvSpPr/>
          <p:nvPr/>
        </p:nvSpPr>
        <p:spPr>
          <a:xfrm>
            <a:off x="8456981" y="5202936"/>
            <a:ext cx="2856890" cy="548640"/>
          </a:xfrm>
          <a:prstGeom prst="rect">
            <a:avLst/>
          </a:prstGeom>
          <a:noFill/>
          <a:ln/>
        </p:spPr>
        <p:txBody>
          <a:bodyPr wrap="square" lIns="0" tIns="0" rIns="0" bIns="0" rtlCol="0" anchor="t"/>
          <a:lstStyle/>
          <a:p>
            <a:pPr marL="0" indent="0">
              <a:lnSpc>
                <a:spcPts val="1900"/>
              </a:lnSpc>
              <a:buNone/>
            </a:pPr>
            <a:r>
              <a:rPr lang="en-US" sz="1450" dirty="0">
                <a:solidFill>
                  <a:srgbClr val="5C6E68"/>
                </a:solidFill>
                <a:latin typeface="Calibri" pitchFamily="34" charset="0"/>
                <a:ea typeface="Calibri" pitchFamily="34" charset="-122"/>
                <a:cs typeface="Calibri" pitchFamily="34" charset="-120"/>
              </a:rPr>
              <a:t>What broke, how I fixed it, what comes next</a:t>
            </a:r>
            <a:endParaRPr lang="en-US" sz="1450" dirty="0"/>
          </a:p>
        </p:txBody>
      </p:sp>
      <p:sp>
        <p:nvSpPr>
          <p:cNvPr id="35" name="Text 33"/>
          <p:cNvSpPr/>
          <p:nvPr/>
        </p:nvSpPr>
        <p:spPr>
          <a:xfrm>
            <a:off x="10801807" y="6382512"/>
            <a:ext cx="822960" cy="292608"/>
          </a:xfrm>
          <a:prstGeom prst="rect">
            <a:avLst/>
          </a:prstGeom>
          <a:noFill/>
          <a:ln/>
        </p:spPr>
        <p:txBody>
          <a:bodyPr wrap="square" lIns="0" tIns="0" rIns="0" bIns="0" rtlCol="0" anchor="ctr"/>
          <a:lstStyle/>
          <a:p>
            <a:pPr marL="0" indent="0" algn="r">
              <a:buNone/>
            </a:pPr>
            <a:r>
              <a:rPr lang="en-US" sz="1100" b="1" dirty="0">
                <a:solidFill>
                  <a:srgbClr val="0F6B4F"/>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9"/>
        </a:solidFill>
        <a:effectLst/>
      </p:bgPr>
    </p:bg>
    <p:spTree>
      <p:nvGrpSpPr>
        <p:cNvPr id="1" name=""/>
        <p:cNvGrpSpPr/>
        <p:nvPr/>
      </p:nvGrpSpPr>
      <p:grpSpPr>
        <a:xfrm>
          <a:off x="0" y="0"/>
          <a:ext cx="0" cy="0"/>
          <a:chOff x="0" y="0"/>
          <a:chExt cx="0" cy="0"/>
        </a:xfrm>
      </p:grpSpPr>
      <p:sp>
        <p:nvSpPr>
          <p:cNvPr id="2" name="Text 0"/>
          <p:cNvSpPr/>
          <p:nvPr/>
        </p:nvSpPr>
        <p:spPr>
          <a:xfrm>
            <a:off x="566928" y="347472"/>
            <a:ext cx="11057839" cy="566928"/>
          </a:xfrm>
          <a:prstGeom prst="rect">
            <a:avLst/>
          </a:prstGeom>
          <a:noFill/>
          <a:ln/>
        </p:spPr>
        <p:txBody>
          <a:bodyPr wrap="square" lIns="0" tIns="0" rIns="0" bIns="0" rtlCol="0" anchor="ctr"/>
          <a:lstStyle/>
          <a:p>
            <a:pPr marL="0" indent="0">
              <a:buNone/>
            </a:pPr>
            <a:r>
              <a:rPr lang="en-US" sz="3200" b="1" dirty="0">
                <a:solidFill>
                  <a:srgbClr val="0D2A22"/>
                </a:solidFill>
                <a:latin typeface="Calibri" pitchFamily="34" charset="0"/>
                <a:ea typeface="Calibri" pitchFamily="34" charset="-122"/>
                <a:cs typeface="Calibri" pitchFamily="34" charset="-120"/>
              </a:rPr>
              <a:t>Overview of the Website</a:t>
            </a:r>
            <a:endParaRPr lang="en-US" sz="3200" dirty="0"/>
          </a:p>
        </p:txBody>
      </p:sp>
      <p:sp>
        <p:nvSpPr>
          <p:cNvPr id="3" name="Text 1"/>
          <p:cNvSpPr/>
          <p:nvPr/>
        </p:nvSpPr>
        <p:spPr>
          <a:xfrm>
            <a:off x="566928" y="932688"/>
            <a:ext cx="11057839" cy="365760"/>
          </a:xfrm>
          <a:prstGeom prst="rect">
            <a:avLst/>
          </a:prstGeom>
          <a:noFill/>
          <a:ln/>
        </p:spPr>
        <p:txBody>
          <a:bodyPr wrap="square" lIns="0" tIns="0" rIns="0" bIns="0" rtlCol="0" anchor="ctr"/>
          <a:lstStyle/>
          <a:p>
            <a:pPr marL="0" indent="0">
              <a:buNone/>
            </a:pPr>
            <a:r>
              <a:rPr lang="en-US" sz="1550" dirty="0">
                <a:solidFill>
                  <a:srgbClr val="5C6E68"/>
                </a:solidFill>
                <a:latin typeface="Calibri" pitchFamily="34" charset="0"/>
                <a:ea typeface="Calibri" pitchFamily="34" charset="-122"/>
                <a:cs typeface="Calibri" pitchFamily="34" charset="-120"/>
              </a:rPr>
              <a:t>One structured path from a hazard being noticed to a hazard being resolved</a:t>
            </a:r>
            <a:endParaRPr lang="en-US" sz="1550" dirty="0"/>
          </a:p>
        </p:txBody>
      </p:sp>
      <p:sp>
        <p:nvSpPr>
          <p:cNvPr id="4" name="Shape 2"/>
          <p:cNvSpPr/>
          <p:nvPr/>
        </p:nvSpPr>
        <p:spPr>
          <a:xfrm>
            <a:off x="566928" y="1536192"/>
            <a:ext cx="5532120" cy="1645920"/>
          </a:xfrm>
          <a:prstGeom prst="roundRect">
            <a:avLst>
              <a:gd name="adj" fmla="val 5556"/>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5" name="Text 3"/>
          <p:cNvSpPr/>
          <p:nvPr/>
        </p:nvSpPr>
        <p:spPr>
          <a:xfrm>
            <a:off x="859536" y="1664208"/>
            <a:ext cx="4946904" cy="329184"/>
          </a:xfrm>
          <a:prstGeom prst="rect">
            <a:avLst/>
          </a:prstGeom>
          <a:noFill/>
          <a:ln/>
        </p:spPr>
        <p:txBody>
          <a:bodyPr wrap="square" lIns="0" tIns="0" rIns="0" bIns="0" rtlCol="0" anchor="ctr"/>
          <a:lstStyle/>
          <a:p>
            <a:pPr marL="0" indent="0">
              <a:buNone/>
            </a:pPr>
            <a:r>
              <a:rPr lang="en-US" sz="1800" b="1" dirty="0">
                <a:solidFill>
                  <a:srgbClr val="C97C1B"/>
                </a:solidFill>
                <a:latin typeface="Calibri" pitchFamily="34" charset="0"/>
                <a:ea typeface="Calibri" pitchFamily="34" charset="-122"/>
                <a:cs typeface="Calibri" pitchFamily="34" charset="-120"/>
              </a:rPr>
              <a:t>The problem</a:t>
            </a:r>
            <a:endParaRPr lang="en-US" sz="1800" dirty="0"/>
          </a:p>
        </p:txBody>
      </p:sp>
      <p:sp>
        <p:nvSpPr>
          <p:cNvPr id="6" name="Text 4"/>
          <p:cNvSpPr/>
          <p:nvPr/>
        </p:nvSpPr>
        <p:spPr>
          <a:xfrm>
            <a:off x="859536" y="2011680"/>
            <a:ext cx="4946904" cy="1115568"/>
          </a:xfrm>
          <a:prstGeom prst="rect">
            <a:avLst/>
          </a:prstGeom>
          <a:noFill/>
          <a:ln/>
        </p:spPr>
        <p:txBody>
          <a:bodyPr wrap="square" lIns="0" tIns="0" rIns="0" bIns="0" rtlCol="0" anchor="t"/>
          <a:lstStyle/>
          <a:p>
            <a:pPr marL="0" indent="0">
              <a:lnSpc>
                <a:spcPts val="2100"/>
              </a:lnSpc>
              <a:buNone/>
            </a:pPr>
            <a:r>
              <a:rPr lang="en-US" sz="1500" dirty="0">
                <a:solidFill>
                  <a:srgbClr val="0D2A22"/>
                </a:solidFill>
                <a:latin typeface="Calibri" pitchFamily="34" charset="0"/>
                <a:ea typeface="Calibri" pitchFamily="34" charset="-122"/>
                <a:cs typeface="Calibri" pitchFamily="34" charset="-120"/>
              </a:rPr>
              <a:t>Broken furniture, exposed wiring and water leaks get reported late, verbally, or not at all. Students often do not know who to contact, and verbal reports are delayed before reaching maintenance.</a:t>
            </a:r>
            <a:endParaRPr lang="en-US" sz="1500" dirty="0"/>
          </a:p>
        </p:txBody>
      </p:sp>
      <p:sp>
        <p:nvSpPr>
          <p:cNvPr id="7" name="Shape 5"/>
          <p:cNvSpPr/>
          <p:nvPr/>
        </p:nvSpPr>
        <p:spPr>
          <a:xfrm>
            <a:off x="566928" y="3310128"/>
            <a:ext cx="5532120" cy="1755648"/>
          </a:xfrm>
          <a:prstGeom prst="roundRect">
            <a:avLst>
              <a:gd name="adj" fmla="val 5208"/>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8" name="Text 6"/>
          <p:cNvSpPr/>
          <p:nvPr/>
        </p:nvSpPr>
        <p:spPr>
          <a:xfrm>
            <a:off x="859536" y="3438144"/>
            <a:ext cx="4946904" cy="329184"/>
          </a:xfrm>
          <a:prstGeom prst="rect">
            <a:avLst/>
          </a:prstGeom>
          <a:noFill/>
          <a:ln/>
        </p:spPr>
        <p:txBody>
          <a:bodyPr wrap="square" lIns="0" tIns="0" rIns="0" bIns="0" rtlCol="0" anchor="ctr"/>
          <a:lstStyle/>
          <a:p>
            <a:pPr marL="0" indent="0">
              <a:buNone/>
            </a:pPr>
            <a:r>
              <a:rPr lang="en-US" sz="1800" b="1" dirty="0">
                <a:solidFill>
                  <a:srgbClr val="0F6B4F"/>
                </a:solidFill>
                <a:latin typeface="Calibri" pitchFamily="34" charset="0"/>
                <a:ea typeface="Calibri" pitchFamily="34" charset="-122"/>
                <a:cs typeface="Calibri" pitchFamily="34" charset="-120"/>
              </a:rPr>
              <a:t>The NexSafe solution</a:t>
            </a:r>
            <a:endParaRPr lang="en-US" sz="1800" dirty="0"/>
          </a:p>
        </p:txBody>
      </p:sp>
      <p:sp>
        <p:nvSpPr>
          <p:cNvPr id="9" name="Text 7"/>
          <p:cNvSpPr/>
          <p:nvPr/>
        </p:nvSpPr>
        <p:spPr>
          <a:xfrm>
            <a:off x="859536" y="3785616"/>
            <a:ext cx="4946904" cy="1188720"/>
          </a:xfrm>
          <a:prstGeom prst="rect">
            <a:avLst/>
          </a:prstGeom>
          <a:noFill/>
          <a:ln/>
        </p:spPr>
        <p:txBody>
          <a:bodyPr wrap="square" lIns="0" tIns="0" rIns="0" bIns="0" rtlCol="0" anchor="t"/>
          <a:lstStyle/>
          <a:p>
            <a:pPr marL="0" indent="0">
              <a:lnSpc>
                <a:spcPts val="2100"/>
              </a:lnSpc>
              <a:buNone/>
            </a:pPr>
            <a:r>
              <a:rPr lang="en-US" sz="1500" dirty="0">
                <a:solidFill>
                  <a:srgbClr val="0D2A22"/>
                </a:solidFill>
                <a:latin typeface="Calibri" pitchFamily="34" charset="0"/>
                <a:ea typeface="Calibri" pitchFamily="34" charset="-122"/>
                <a:cs typeface="Calibri" pitchFamily="34" charset="-120"/>
              </a:rPr>
              <a:t>Students submit a photo, issue type, description and a map-pinned location. Rekognition verifies the photo before submission. Staff review, prioritise, update and resolve — and the student sees every status change.</a:t>
            </a:r>
            <a:endParaRPr lang="en-US" sz="1500" dirty="0"/>
          </a:p>
        </p:txBody>
      </p:sp>
      <p:sp>
        <p:nvSpPr>
          <p:cNvPr id="10" name="Shape 8"/>
          <p:cNvSpPr/>
          <p:nvPr/>
        </p:nvSpPr>
        <p:spPr>
          <a:xfrm>
            <a:off x="566928" y="5212080"/>
            <a:ext cx="1273302" cy="1005840"/>
          </a:xfrm>
          <a:prstGeom prst="roundRect">
            <a:avLst>
              <a:gd name="adj" fmla="val 9091"/>
            </a:avLst>
          </a:prstGeom>
          <a:solidFill>
            <a:srgbClr val="E4F2EC"/>
          </a:solidFill>
          <a:ln w="12700">
            <a:solidFill>
              <a:srgbClr val="E4F2EC"/>
            </a:solidFill>
            <a:prstDash val="solid"/>
          </a:ln>
        </p:spPr>
        <p:txBody>
          <a:bodyPr/>
          <a:lstStyle/>
          <a:p>
            <a:endParaRPr lang="en-US"/>
          </a:p>
        </p:txBody>
      </p:sp>
      <p:sp>
        <p:nvSpPr>
          <p:cNvPr id="11" name="Text 9"/>
          <p:cNvSpPr/>
          <p:nvPr/>
        </p:nvSpPr>
        <p:spPr>
          <a:xfrm>
            <a:off x="566928" y="5266944"/>
            <a:ext cx="1273302" cy="502920"/>
          </a:xfrm>
          <a:prstGeom prst="rect">
            <a:avLst/>
          </a:prstGeom>
          <a:noFill/>
          <a:ln/>
        </p:spPr>
        <p:txBody>
          <a:bodyPr wrap="square" lIns="0" tIns="0" rIns="0" bIns="0" rtlCol="0" anchor="ctr"/>
          <a:lstStyle/>
          <a:p>
            <a:pPr marL="0" indent="0" algn="ctr">
              <a:buNone/>
            </a:pPr>
            <a:r>
              <a:rPr lang="en-US" sz="3000" b="1" dirty="0">
                <a:solidFill>
                  <a:srgbClr val="0F6B4F"/>
                </a:solidFill>
                <a:latin typeface="Calibri" pitchFamily="34" charset="0"/>
                <a:ea typeface="Calibri" pitchFamily="34" charset="-122"/>
                <a:cs typeface="Calibri" pitchFamily="34" charset="-120"/>
              </a:rPr>
              <a:t>9</a:t>
            </a:r>
            <a:endParaRPr lang="en-US" sz="3000" dirty="0"/>
          </a:p>
        </p:txBody>
      </p:sp>
      <p:sp>
        <p:nvSpPr>
          <p:cNvPr id="12" name="Text 10"/>
          <p:cNvSpPr/>
          <p:nvPr/>
        </p:nvSpPr>
        <p:spPr>
          <a:xfrm>
            <a:off x="566928" y="5751576"/>
            <a:ext cx="1273302" cy="347472"/>
          </a:xfrm>
          <a:prstGeom prst="rect">
            <a:avLst/>
          </a:prstGeom>
          <a:noFill/>
          <a:ln/>
        </p:spPr>
        <p:txBody>
          <a:bodyPr wrap="square" lIns="0" tIns="0" rIns="0" bIns="0" rtlCol="0" anchor="t"/>
          <a:lstStyle/>
          <a:p>
            <a:pPr marL="0" indent="0" algn="ctr">
              <a:buNone/>
            </a:pPr>
            <a:r>
              <a:rPr lang="en-US" sz="1250" dirty="0">
                <a:solidFill>
                  <a:srgbClr val="5C6E68"/>
                </a:solidFill>
                <a:latin typeface="Calibri" pitchFamily="34" charset="0"/>
                <a:ea typeface="Calibri" pitchFamily="34" charset="-122"/>
                <a:cs typeface="Calibri" pitchFamily="34" charset="-120"/>
              </a:rPr>
              <a:t>web pages</a:t>
            </a:r>
            <a:endParaRPr lang="en-US" sz="1250" dirty="0"/>
          </a:p>
        </p:txBody>
      </p:sp>
      <p:sp>
        <p:nvSpPr>
          <p:cNvPr id="13" name="Shape 11"/>
          <p:cNvSpPr/>
          <p:nvPr/>
        </p:nvSpPr>
        <p:spPr>
          <a:xfrm>
            <a:off x="1986534" y="5212080"/>
            <a:ext cx="1273302" cy="1005840"/>
          </a:xfrm>
          <a:prstGeom prst="roundRect">
            <a:avLst>
              <a:gd name="adj" fmla="val 9091"/>
            </a:avLst>
          </a:prstGeom>
          <a:solidFill>
            <a:srgbClr val="E4F2EC"/>
          </a:solidFill>
          <a:ln w="12700">
            <a:solidFill>
              <a:srgbClr val="E4F2EC"/>
            </a:solidFill>
            <a:prstDash val="solid"/>
          </a:ln>
        </p:spPr>
        <p:txBody>
          <a:bodyPr/>
          <a:lstStyle/>
          <a:p>
            <a:endParaRPr lang="en-US"/>
          </a:p>
        </p:txBody>
      </p:sp>
      <p:sp>
        <p:nvSpPr>
          <p:cNvPr id="14" name="Text 12"/>
          <p:cNvSpPr/>
          <p:nvPr/>
        </p:nvSpPr>
        <p:spPr>
          <a:xfrm>
            <a:off x="1986534" y="5266944"/>
            <a:ext cx="1273302" cy="502920"/>
          </a:xfrm>
          <a:prstGeom prst="rect">
            <a:avLst/>
          </a:prstGeom>
          <a:noFill/>
          <a:ln/>
        </p:spPr>
        <p:txBody>
          <a:bodyPr wrap="square" lIns="0" tIns="0" rIns="0" bIns="0" rtlCol="0" anchor="ctr"/>
          <a:lstStyle/>
          <a:p>
            <a:pPr marL="0" indent="0" algn="ctr">
              <a:buNone/>
            </a:pPr>
            <a:r>
              <a:rPr lang="en-US" sz="3000" b="1" dirty="0">
                <a:solidFill>
                  <a:srgbClr val="0F6B4F"/>
                </a:solidFill>
                <a:latin typeface="Calibri" pitchFamily="34" charset="0"/>
                <a:ea typeface="Calibri" pitchFamily="34" charset="-122"/>
                <a:cs typeface="Calibri" pitchFamily="34" charset="-120"/>
              </a:rPr>
              <a:t>10</a:t>
            </a:r>
            <a:endParaRPr lang="en-US" sz="3000" dirty="0"/>
          </a:p>
        </p:txBody>
      </p:sp>
      <p:sp>
        <p:nvSpPr>
          <p:cNvPr id="15" name="Text 13"/>
          <p:cNvSpPr/>
          <p:nvPr/>
        </p:nvSpPr>
        <p:spPr>
          <a:xfrm>
            <a:off x="1986534" y="5751576"/>
            <a:ext cx="1273302" cy="347472"/>
          </a:xfrm>
          <a:prstGeom prst="rect">
            <a:avLst/>
          </a:prstGeom>
          <a:noFill/>
          <a:ln/>
        </p:spPr>
        <p:txBody>
          <a:bodyPr wrap="square" lIns="0" tIns="0" rIns="0" bIns="0" rtlCol="0" anchor="t"/>
          <a:lstStyle/>
          <a:p>
            <a:pPr marL="0" indent="0" algn="ctr">
              <a:buNone/>
            </a:pPr>
            <a:r>
              <a:rPr lang="en-US" sz="1250" dirty="0">
                <a:solidFill>
                  <a:srgbClr val="5C6E68"/>
                </a:solidFill>
                <a:latin typeface="Calibri" pitchFamily="34" charset="0"/>
                <a:ea typeface="Calibri" pitchFamily="34" charset="-122"/>
                <a:cs typeface="Calibri" pitchFamily="34" charset="-120"/>
              </a:rPr>
              <a:t>AWS services</a:t>
            </a:r>
            <a:endParaRPr lang="en-US" sz="1250" dirty="0"/>
          </a:p>
        </p:txBody>
      </p:sp>
      <p:sp>
        <p:nvSpPr>
          <p:cNvPr id="16" name="Shape 14"/>
          <p:cNvSpPr/>
          <p:nvPr/>
        </p:nvSpPr>
        <p:spPr>
          <a:xfrm>
            <a:off x="3406140" y="5212080"/>
            <a:ext cx="1273302" cy="1005840"/>
          </a:xfrm>
          <a:prstGeom prst="roundRect">
            <a:avLst>
              <a:gd name="adj" fmla="val 9091"/>
            </a:avLst>
          </a:prstGeom>
          <a:solidFill>
            <a:srgbClr val="E4F2EC"/>
          </a:solidFill>
          <a:ln w="12700">
            <a:solidFill>
              <a:srgbClr val="E4F2EC"/>
            </a:solidFill>
            <a:prstDash val="solid"/>
          </a:ln>
        </p:spPr>
        <p:txBody>
          <a:bodyPr/>
          <a:lstStyle/>
          <a:p>
            <a:endParaRPr lang="en-US"/>
          </a:p>
        </p:txBody>
      </p:sp>
      <p:sp>
        <p:nvSpPr>
          <p:cNvPr id="17" name="Text 15"/>
          <p:cNvSpPr/>
          <p:nvPr/>
        </p:nvSpPr>
        <p:spPr>
          <a:xfrm>
            <a:off x="3406140" y="5266944"/>
            <a:ext cx="1273302" cy="502920"/>
          </a:xfrm>
          <a:prstGeom prst="rect">
            <a:avLst/>
          </a:prstGeom>
          <a:noFill/>
          <a:ln/>
        </p:spPr>
        <p:txBody>
          <a:bodyPr wrap="square" lIns="0" tIns="0" rIns="0" bIns="0" rtlCol="0" anchor="ctr"/>
          <a:lstStyle/>
          <a:p>
            <a:pPr marL="0" indent="0" algn="ctr">
              <a:buNone/>
            </a:pPr>
            <a:r>
              <a:rPr lang="en-US" sz="3000" b="1" dirty="0">
                <a:solidFill>
                  <a:srgbClr val="0F6B4F"/>
                </a:solidFill>
                <a:latin typeface="Calibri" pitchFamily="34" charset="0"/>
                <a:ea typeface="Calibri" pitchFamily="34" charset="-122"/>
                <a:cs typeface="Calibri" pitchFamily="34" charset="-120"/>
              </a:rPr>
              <a:t>5</a:t>
            </a:r>
            <a:endParaRPr lang="en-US" sz="3000" dirty="0"/>
          </a:p>
        </p:txBody>
      </p:sp>
      <p:sp>
        <p:nvSpPr>
          <p:cNvPr id="18" name="Text 16"/>
          <p:cNvSpPr/>
          <p:nvPr/>
        </p:nvSpPr>
        <p:spPr>
          <a:xfrm>
            <a:off x="3406140" y="5751576"/>
            <a:ext cx="1273302" cy="347472"/>
          </a:xfrm>
          <a:prstGeom prst="rect">
            <a:avLst/>
          </a:prstGeom>
          <a:noFill/>
          <a:ln/>
        </p:spPr>
        <p:txBody>
          <a:bodyPr wrap="square" lIns="0" tIns="0" rIns="0" bIns="0" rtlCol="0" anchor="t"/>
          <a:lstStyle/>
          <a:p>
            <a:pPr marL="0" indent="0" algn="ctr">
              <a:buNone/>
            </a:pPr>
            <a:r>
              <a:rPr lang="en-US" sz="1250" dirty="0">
                <a:solidFill>
                  <a:srgbClr val="5C6E68"/>
                </a:solidFill>
                <a:latin typeface="Calibri" pitchFamily="34" charset="0"/>
                <a:ea typeface="Calibri" pitchFamily="34" charset="-122"/>
                <a:cs typeface="Calibri" pitchFamily="34" charset="-120"/>
              </a:rPr>
              <a:t>AI issue classes</a:t>
            </a:r>
            <a:endParaRPr lang="en-US" sz="1250" dirty="0"/>
          </a:p>
        </p:txBody>
      </p:sp>
      <p:sp>
        <p:nvSpPr>
          <p:cNvPr id="19" name="Shape 17"/>
          <p:cNvSpPr/>
          <p:nvPr/>
        </p:nvSpPr>
        <p:spPr>
          <a:xfrm>
            <a:off x="4825746" y="5212080"/>
            <a:ext cx="1273302" cy="1005840"/>
          </a:xfrm>
          <a:prstGeom prst="roundRect">
            <a:avLst>
              <a:gd name="adj" fmla="val 9091"/>
            </a:avLst>
          </a:prstGeom>
          <a:solidFill>
            <a:srgbClr val="E4F2EC"/>
          </a:solidFill>
          <a:ln w="12700">
            <a:solidFill>
              <a:srgbClr val="E4F2EC"/>
            </a:solidFill>
            <a:prstDash val="solid"/>
          </a:ln>
        </p:spPr>
        <p:txBody>
          <a:bodyPr/>
          <a:lstStyle/>
          <a:p>
            <a:endParaRPr lang="en-US"/>
          </a:p>
        </p:txBody>
      </p:sp>
      <p:sp>
        <p:nvSpPr>
          <p:cNvPr id="20" name="Text 18"/>
          <p:cNvSpPr/>
          <p:nvPr/>
        </p:nvSpPr>
        <p:spPr>
          <a:xfrm>
            <a:off x="4825746" y="5266944"/>
            <a:ext cx="1273302" cy="502920"/>
          </a:xfrm>
          <a:prstGeom prst="rect">
            <a:avLst/>
          </a:prstGeom>
          <a:noFill/>
          <a:ln/>
        </p:spPr>
        <p:txBody>
          <a:bodyPr wrap="square" lIns="0" tIns="0" rIns="0" bIns="0" rtlCol="0" anchor="ctr"/>
          <a:lstStyle/>
          <a:p>
            <a:pPr marL="0" indent="0" algn="ctr">
              <a:buNone/>
            </a:pPr>
            <a:r>
              <a:rPr lang="en-US" sz="3000" b="1" dirty="0">
                <a:solidFill>
                  <a:srgbClr val="0F6B4F"/>
                </a:solidFill>
                <a:latin typeface="Calibri" pitchFamily="34" charset="0"/>
                <a:ea typeface="Calibri" pitchFamily="34" charset="-122"/>
                <a:cs typeface="Calibri" pitchFamily="34" charset="-120"/>
              </a:rPr>
              <a:t>7</a:t>
            </a:r>
            <a:endParaRPr lang="en-US" sz="3000" dirty="0"/>
          </a:p>
        </p:txBody>
      </p:sp>
      <p:sp>
        <p:nvSpPr>
          <p:cNvPr id="21" name="Text 19"/>
          <p:cNvSpPr/>
          <p:nvPr/>
        </p:nvSpPr>
        <p:spPr>
          <a:xfrm>
            <a:off x="4825746" y="5751576"/>
            <a:ext cx="1273302" cy="347472"/>
          </a:xfrm>
          <a:prstGeom prst="rect">
            <a:avLst/>
          </a:prstGeom>
          <a:noFill/>
          <a:ln/>
        </p:spPr>
        <p:txBody>
          <a:bodyPr wrap="square" lIns="0" tIns="0" rIns="0" bIns="0" rtlCol="0" anchor="t"/>
          <a:lstStyle/>
          <a:p>
            <a:pPr marL="0" indent="0" algn="ctr">
              <a:buNone/>
            </a:pPr>
            <a:r>
              <a:rPr lang="en-US" sz="1250" dirty="0">
                <a:solidFill>
                  <a:srgbClr val="5C6E68"/>
                </a:solidFill>
                <a:latin typeface="Calibri" pitchFamily="34" charset="0"/>
                <a:ea typeface="Calibri" pitchFamily="34" charset="-122"/>
                <a:cs typeface="Calibri" pitchFamily="34" charset="-120"/>
              </a:rPr>
              <a:t>API routes</a:t>
            </a:r>
            <a:endParaRPr lang="en-US" sz="1250" dirty="0"/>
          </a:p>
        </p:txBody>
      </p:sp>
      <p:pic>
        <p:nvPicPr>
          <p:cNvPr id="22" name="Image 0" descr="img/image4.jpg"/>
          <p:cNvPicPr>
            <a:picLocks noChangeAspect="1"/>
          </p:cNvPicPr>
          <p:nvPr/>
        </p:nvPicPr>
        <p:blipFill>
          <a:blip r:embed="rId3"/>
          <a:stretch>
            <a:fillRect/>
          </a:stretch>
        </p:blipFill>
        <p:spPr>
          <a:xfrm>
            <a:off x="6446520" y="1536192"/>
            <a:ext cx="5193792" cy="3227832"/>
          </a:xfrm>
          <a:prstGeom prst="rect">
            <a:avLst/>
          </a:prstGeom>
          <a:effectLst>
            <a:outerShdw blurRad="177800" dist="25400" dir="5400000" algn="bl" rotWithShape="0">
              <a:srgbClr val="0D2A22">
                <a:alpha val="16000"/>
              </a:srgbClr>
            </a:outerShdw>
          </a:effectLst>
        </p:spPr>
      </p:pic>
      <p:sp>
        <p:nvSpPr>
          <p:cNvPr id="23" name="Text 20"/>
          <p:cNvSpPr/>
          <p:nvPr/>
        </p:nvSpPr>
        <p:spPr>
          <a:xfrm>
            <a:off x="6446520" y="4828032"/>
            <a:ext cx="5193792" cy="274320"/>
          </a:xfrm>
          <a:prstGeom prst="rect">
            <a:avLst/>
          </a:prstGeom>
          <a:noFill/>
          <a:ln/>
        </p:spPr>
        <p:txBody>
          <a:bodyPr wrap="square" lIns="0" tIns="0" rIns="0" bIns="0" rtlCol="0" anchor="t"/>
          <a:lstStyle/>
          <a:p>
            <a:pPr marL="0" indent="0" algn="ctr">
              <a:buNone/>
            </a:pPr>
            <a:r>
              <a:rPr lang="en-US" sz="1150" dirty="0">
                <a:solidFill>
                  <a:srgbClr val="5C6E68"/>
                </a:solidFill>
                <a:latin typeface="Calibri" pitchFamily="34" charset="0"/>
                <a:ea typeface="Calibri" pitchFamily="34" charset="-122"/>
                <a:cs typeface="Calibri" pitchFamily="34" charset="-120"/>
              </a:rPr>
              <a:t>Landing page — what NexSafe offers students and staff</a:t>
            </a:r>
            <a:endParaRPr lang="en-US" sz="1150" dirty="0"/>
          </a:p>
        </p:txBody>
      </p:sp>
      <p:sp>
        <p:nvSpPr>
          <p:cNvPr id="24" name="Shape 21"/>
          <p:cNvSpPr/>
          <p:nvPr/>
        </p:nvSpPr>
        <p:spPr>
          <a:xfrm>
            <a:off x="6446520" y="5212080"/>
            <a:ext cx="5193792" cy="1005840"/>
          </a:xfrm>
          <a:prstGeom prst="roundRect">
            <a:avLst>
              <a:gd name="adj" fmla="val 9091"/>
            </a:avLst>
          </a:prstGeom>
          <a:solidFill>
            <a:srgbClr val="E4F2EC"/>
          </a:solidFill>
          <a:ln w="12700">
            <a:solidFill>
              <a:srgbClr val="E4F2EC"/>
            </a:solidFill>
            <a:prstDash val="solid"/>
          </a:ln>
        </p:spPr>
        <p:txBody>
          <a:bodyPr/>
          <a:lstStyle/>
          <a:p>
            <a:endParaRPr lang="en-US"/>
          </a:p>
        </p:txBody>
      </p:sp>
      <p:sp>
        <p:nvSpPr>
          <p:cNvPr id="25" name="Text 22"/>
          <p:cNvSpPr/>
          <p:nvPr/>
        </p:nvSpPr>
        <p:spPr>
          <a:xfrm>
            <a:off x="6702552" y="5212080"/>
            <a:ext cx="4681728" cy="1005840"/>
          </a:xfrm>
          <a:prstGeom prst="rect">
            <a:avLst/>
          </a:prstGeom>
          <a:noFill/>
          <a:ln/>
        </p:spPr>
        <p:txBody>
          <a:bodyPr wrap="square" lIns="0" tIns="0" rIns="0" bIns="0" rtlCol="0" anchor="ctr"/>
          <a:lstStyle/>
          <a:p>
            <a:pPr marL="0" indent="0">
              <a:lnSpc>
                <a:spcPts val="1900"/>
              </a:lnSpc>
              <a:buNone/>
            </a:pPr>
            <a:r>
              <a:rPr lang="en-US" sz="1400" b="1" dirty="0">
                <a:solidFill>
                  <a:srgbClr val="0D2A22"/>
                </a:solidFill>
                <a:latin typeface="Calibri" pitchFamily="34" charset="0"/>
                <a:ea typeface="Calibri" pitchFamily="34" charset="-122"/>
                <a:cs typeface="Calibri" pitchFamily="34" charset="-120"/>
              </a:rPr>
              <a:t>Two roles, one platform.  </a:t>
            </a:r>
            <a:r>
              <a:rPr lang="en-US" sz="1400" dirty="0">
                <a:solidFill>
                  <a:srgbClr val="5C6E68"/>
                </a:solidFill>
                <a:latin typeface="Calibri" pitchFamily="34" charset="0"/>
                <a:ea typeface="Calibri" pitchFamily="34" charset="-122"/>
                <a:cs typeface="Calibri" pitchFamily="34" charset="-120"/>
              </a:rPr>
              <a:t>Students report and track. Staff review, set priority, publish updates and delete invalid reports.</a:t>
            </a:r>
            <a:endParaRPr lang="en-US" sz="1400" dirty="0"/>
          </a:p>
        </p:txBody>
      </p:sp>
      <p:sp>
        <p:nvSpPr>
          <p:cNvPr id="27" name="Text 24"/>
          <p:cNvSpPr/>
          <p:nvPr/>
        </p:nvSpPr>
        <p:spPr>
          <a:xfrm>
            <a:off x="10801807" y="6382512"/>
            <a:ext cx="822960" cy="292608"/>
          </a:xfrm>
          <a:prstGeom prst="rect">
            <a:avLst/>
          </a:prstGeom>
          <a:noFill/>
          <a:ln/>
        </p:spPr>
        <p:txBody>
          <a:bodyPr wrap="square" lIns="0" tIns="0" rIns="0" bIns="0" rtlCol="0" anchor="ctr"/>
          <a:lstStyle/>
          <a:p>
            <a:pPr marL="0" indent="0" algn="r">
              <a:buNone/>
            </a:pPr>
            <a:r>
              <a:rPr lang="en-US" sz="1100" b="1" dirty="0">
                <a:solidFill>
                  <a:srgbClr val="0F6B4F"/>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9"/>
        </a:solidFill>
        <a:effectLst/>
      </p:bgPr>
    </p:bg>
    <p:spTree>
      <p:nvGrpSpPr>
        <p:cNvPr id="1" name=""/>
        <p:cNvGrpSpPr/>
        <p:nvPr/>
      </p:nvGrpSpPr>
      <p:grpSpPr>
        <a:xfrm>
          <a:off x="0" y="0"/>
          <a:ext cx="0" cy="0"/>
          <a:chOff x="0" y="0"/>
          <a:chExt cx="0" cy="0"/>
        </a:xfrm>
      </p:grpSpPr>
      <p:sp>
        <p:nvSpPr>
          <p:cNvPr id="2" name="Text 0"/>
          <p:cNvSpPr/>
          <p:nvPr/>
        </p:nvSpPr>
        <p:spPr>
          <a:xfrm>
            <a:off x="566928" y="347472"/>
            <a:ext cx="11057839" cy="566928"/>
          </a:xfrm>
          <a:prstGeom prst="rect">
            <a:avLst/>
          </a:prstGeom>
          <a:noFill/>
          <a:ln/>
        </p:spPr>
        <p:txBody>
          <a:bodyPr wrap="square" lIns="0" tIns="0" rIns="0" bIns="0" rtlCol="0" anchor="ctr"/>
          <a:lstStyle/>
          <a:p>
            <a:pPr marL="0" indent="0">
              <a:buNone/>
            </a:pPr>
            <a:r>
              <a:rPr lang="en-US" sz="3200" b="1" dirty="0">
                <a:solidFill>
                  <a:srgbClr val="0D2A22"/>
                </a:solidFill>
                <a:latin typeface="Calibri" pitchFamily="34" charset="0"/>
                <a:ea typeface="Calibri" pitchFamily="34" charset="-122"/>
                <a:cs typeface="Calibri" pitchFamily="34" charset="-120"/>
              </a:rPr>
              <a:t>Student Journey</a:t>
            </a:r>
            <a:endParaRPr lang="en-US" sz="3200" dirty="0"/>
          </a:p>
        </p:txBody>
      </p:sp>
      <p:sp>
        <p:nvSpPr>
          <p:cNvPr id="3" name="Text 1"/>
          <p:cNvSpPr/>
          <p:nvPr/>
        </p:nvSpPr>
        <p:spPr>
          <a:xfrm>
            <a:off x="566928" y="932688"/>
            <a:ext cx="11057839" cy="365760"/>
          </a:xfrm>
          <a:prstGeom prst="rect">
            <a:avLst/>
          </a:prstGeom>
          <a:noFill/>
          <a:ln/>
        </p:spPr>
        <p:txBody>
          <a:bodyPr wrap="square" lIns="0" tIns="0" rIns="0" bIns="0" rtlCol="0" anchor="ctr"/>
          <a:lstStyle/>
          <a:p>
            <a:pPr marL="0" indent="0">
              <a:buNone/>
            </a:pPr>
            <a:r>
              <a:rPr lang="en-US" sz="1550" dirty="0">
                <a:solidFill>
                  <a:srgbClr val="5C6E68"/>
                </a:solidFill>
                <a:latin typeface="Calibri" pitchFamily="34" charset="0"/>
                <a:ea typeface="Calibri" pitchFamily="34" charset="-122"/>
                <a:cs typeface="Calibri" pitchFamily="34" charset="-120"/>
              </a:rPr>
              <a:t>Sign in, report with evidence, get an AI check, then track the outcome</a:t>
            </a:r>
            <a:endParaRPr lang="en-US" sz="1550" dirty="0"/>
          </a:p>
        </p:txBody>
      </p:sp>
      <p:pic>
        <p:nvPicPr>
          <p:cNvPr id="4" name="Image 0" descr="img/image6.jpg"/>
          <p:cNvPicPr>
            <a:picLocks noChangeAspect="1"/>
          </p:cNvPicPr>
          <p:nvPr/>
        </p:nvPicPr>
        <p:blipFill>
          <a:blip r:embed="rId3"/>
          <a:stretch>
            <a:fillRect/>
          </a:stretch>
        </p:blipFill>
        <p:spPr>
          <a:xfrm>
            <a:off x="395487" y="1627632"/>
            <a:ext cx="2730161" cy="1725462"/>
          </a:xfrm>
          <a:prstGeom prst="rect">
            <a:avLst/>
          </a:prstGeom>
          <a:effectLst>
            <a:outerShdw blurRad="177800" dist="25400" dir="5400000" algn="bl" rotWithShape="0">
              <a:srgbClr val="0D2A22">
                <a:alpha val="18000"/>
              </a:srgbClr>
            </a:outerShdw>
          </a:effectLst>
        </p:spPr>
      </p:pic>
      <p:sp>
        <p:nvSpPr>
          <p:cNvPr id="5" name="Shape 2"/>
          <p:cNvSpPr/>
          <p:nvPr/>
        </p:nvSpPr>
        <p:spPr>
          <a:xfrm>
            <a:off x="566928" y="3445911"/>
            <a:ext cx="384048" cy="384048"/>
          </a:xfrm>
          <a:prstGeom prst="ellipse">
            <a:avLst/>
          </a:prstGeom>
          <a:solidFill>
            <a:srgbClr val="0F6B4F"/>
          </a:solidFill>
          <a:ln w="12700">
            <a:solidFill>
              <a:srgbClr val="0F6B4F"/>
            </a:solidFill>
            <a:prstDash val="solid"/>
          </a:ln>
        </p:spPr>
        <p:txBody>
          <a:bodyPr/>
          <a:lstStyle/>
          <a:p>
            <a:endParaRPr lang="en-US"/>
          </a:p>
        </p:txBody>
      </p:sp>
      <p:sp>
        <p:nvSpPr>
          <p:cNvPr id="6" name="Text 3"/>
          <p:cNvSpPr/>
          <p:nvPr/>
        </p:nvSpPr>
        <p:spPr>
          <a:xfrm>
            <a:off x="566928" y="3445911"/>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060704" y="3427623"/>
            <a:ext cx="2064944" cy="420624"/>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Sign in &amp; dashboard</a:t>
            </a:r>
            <a:endParaRPr lang="en-US" sz="1650" dirty="0"/>
          </a:p>
        </p:txBody>
      </p:sp>
      <p:sp>
        <p:nvSpPr>
          <p:cNvPr id="8" name="Text 5"/>
          <p:cNvSpPr/>
          <p:nvPr/>
        </p:nvSpPr>
        <p:spPr>
          <a:xfrm>
            <a:off x="566928" y="3930543"/>
            <a:ext cx="2558720" cy="1143000"/>
          </a:xfrm>
          <a:prstGeom prst="rect">
            <a:avLst/>
          </a:prstGeom>
          <a:noFill/>
          <a:ln/>
        </p:spPr>
        <p:txBody>
          <a:bodyPr wrap="square" lIns="0" tIns="0" rIns="0" bIns="0" rtlCol="0" anchor="t"/>
          <a:lstStyle/>
          <a:p>
            <a:pPr marL="0" indent="0">
              <a:lnSpc>
                <a:spcPts val="1900"/>
              </a:lnSpc>
              <a:buNone/>
            </a:pPr>
            <a:r>
              <a:rPr lang="en-US" sz="1400" dirty="0">
                <a:solidFill>
                  <a:srgbClr val="5C6E68"/>
                </a:solidFill>
                <a:latin typeface="Calibri" pitchFamily="34" charset="0"/>
                <a:ea typeface="Calibri" pitchFamily="34" charset="-122"/>
                <a:cs typeface="Calibri" pitchFamily="34" charset="-120"/>
              </a:rPr>
              <a:t>Cognito authenticates the student and the dashboard shows their own recent reports.</a:t>
            </a:r>
            <a:endParaRPr lang="en-US" sz="1400" dirty="0"/>
          </a:p>
        </p:txBody>
      </p:sp>
      <p:pic>
        <p:nvPicPr>
          <p:cNvPr id="9" name="Image 1" descr="img/image10.jpg"/>
          <p:cNvPicPr>
            <a:picLocks noChangeAspect="1"/>
          </p:cNvPicPr>
          <p:nvPr/>
        </p:nvPicPr>
        <p:blipFill>
          <a:blip r:embed="rId4"/>
          <a:stretch>
            <a:fillRect/>
          </a:stretch>
        </p:blipFill>
        <p:spPr>
          <a:xfrm>
            <a:off x="3399968" y="1627632"/>
            <a:ext cx="2558720" cy="1617111"/>
          </a:xfrm>
          <a:prstGeom prst="rect">
            <a:avLst/>
          </a:prstGeom>
          <a:effectLst>
            <a:outerShdw blurRad="177800" dist="25400" dir="5400000" algn="bl" rotWithShape="0">
              <a:srgbClr val="0D2A22">
                <a:alpha val="18000"/>
              </a:srgbClr>
            </a:outerShdw>
          </a:effectLst>
        </p:spPr>
      </p:pic>
      <p:sp>
        <p:nvSpPr>
          <p:cNvPr id="10" name="Shape 6"/>
          <p:cNvSpPr/>
          <p:nvPr/>
        </p:nvSpPr>
        <p:spPr>
          <a:xfrm>
            <a:off x="3399968" y="3445911"/>
            <a:ext cx="384048" cy="384048"/>
          </a:xfrm>
          <a:prstGeom prst="ellipse">
            <a:avLst/>
          </a:prstGeom>
          <a:solidFill>
            <a:srgbClr val="0F6B4F"/>
          </a:solidFill>
          <a:ln w="12700">
            <a:solidFill>
              <a:srgbClr val="0F6B4F"/>
            </a:solidFill>
            <a:prstDash val="solid"/>
          </a:ln>
        </p:spPr>
        <p:txBody>
          <a:bodyPr/>
          <a:lstStyle/>
          <a:p>
            <a:endParaRPr lang="en-US"/>
          </a:p>
        </p:txBody>
      </p:sp>
      <p:sp>
        <p:nvSpPr>
          <p:cNvPr id="11" name="Text 7"/>
          <p:cNvSpPr/>
          <p:nvPr/>
        </p:nvSpPr>
        <p:spPr>
          <a:xfrm>
            <a:off x="3399968" y="3445911"/>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8"/>
          <p:cNvSpPr/>
          <p:nvPr/>
        </p:nvSpPr>
        <p:spPr>
          <a:xfrm>
            <a:off x="3893744" y="3427623"/>
            <a:ext cx="2064944" cy="420624"/>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Report &amp; pin location</a:t>
            </a:r>
            <a:endParaRPr lang="en-US" sz="1650" dirty="0"/>
          </a:p>
        </p:txBody>
      </p:sp>
      <p:sp>
        <p:nvSpPr>
          <p:cNvPr id="13" name="Text 9"/>
          <p:cNvSpPr/>
          <p:nvPr/>
        </p:nvSpPr>
        <p:spPr>
          <a:xfrm>
            <a:off x="3399968" y="3930543"/>
            <a:ext cx="2558720" cy="1143000"/>
          </a:xfrm>
          <a:prstGeom prst="rect">
            <a:avLst/>
          </a:prstGeom>
          <a:noFill/>
          <a:ln/>
        </p:spPr>
        <p:txBody>
          <a:bodyPr wrap="square" lIns="0" tIns="0" rIns="0" bIns="0" rtlCol="0" anchor="t"/>
          <a:lstStyle/>
          <a:p>
            <a:pPr marL="0" indent="0">
              <a:lnSpc>
                <a:spcPts val="1900"/>
              </a:lnSpc>
              <a:buNone/>
            </a:pPr>
            <a:r>
              <a:rPr lang="en-US" sz="1400" dirty="0">
                <a:solidFill>
                  <a:srgbClr val="5C6E68"/>
                </a:solidFill>
                <a:latin typeface="Calibri" pitchFamily="34" charset="0"/>
                <a:ea typeface="Calibri" pitchFamily="34" charset="-122"/>
                <a:cs typeface="Calibri" pitchFamily="34" charset="-120"/>
              </a:rPr>
              <a:t>Structured fields plus an Amazon Location map that stores the exact latitude and longitude.</a:t>
            </a:r>
            <a:endParaRPr lang="en-US" sz="1400" dirty="0"/>
          </a:p>
        </p:txBody>
      </p:sp>
      <p:pic>
        <p:nvPicPr>
          <p:cNvPr id="14" name="Image 2" descr="img/image11.jpg"/>
          <p:cNvPicPr>
            <a:picLocks noChangeAspect="1"/>
          </p:cNvPicPr>
          <p:nvPr/>
        </p:nvPicPr>
        <p:blipFill>
          <a:blip r:embed="rId5"/>
          <a:stretch>
            <a:fillRect/>
          </a:stretch>
        </p:blipFill>
        <p:spPr>
          <a:xfrm>
            <a:off x="6233008" y="1627632"/>
            <a:ext cx="2558720" cy="1617111"/>
          </a:xfrm>
          <a:prstGeom prst="rect">
            <a:avLst/>
          </a:prstGeom>
          <a:effectLst>
            <a:outerShdw blurRad="177800" dist="25400" dir="5400000" algn="bl" rotWithShape="0">
              <a:srgbClr val="0D2A22">
                <a:alpha val="18000"/>
              </a:srgbClr>
            </a:outerShdw>
          </a:effectLst>
        </p:spPr>
      </p:pic>
      <p:sp>
        <p:nvSpPr>
          <p:cNvPr id="15" name="Shape 10"/>
          <p:cNvSpPr/>
          <p:nvPr/>
        </p:nvSpPr>
        <p:spPr>
          <a:xfrm>
            <a:off x="6233008" y="3445911"/>
            <a:ext cx="384048" cy="384048"/>
          </a:xfrm>
          <a:prstGeom prst="ellipse">
            <a:avLst/>
          </a:prstGeom>
          <a:solidFill>
            <a:srgbClr val="0F6B4F"/>
          </a:solidFill>
          <a:ln w="12700">
            <a:solidFill>
              <a:srgbClr val="0F6B4F"/>
            </a:solidFill>
            <a:prstDash val="solid"/>
          </a:ln>
        </p:spPr>
        <p:txBody>
          <a:bodyPr/>
          <a:lstStyle/>
          <a:p>
            <a:endParaRPr lang="en-US"/>
          </a:p>
        </p:txBody>
      </p:sp>
      <p:sp>
        <p:nvSpPr>
          <p:cNvPr id="16" name="Text 11"/>
          <p:cNvSpPr/>
          <p:nvPr/>
        </p:nvSpPr>
        <p:spPr>
          <a:xfrm>
            <a:off x="6233008" y="3445911"/>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2"/>
          <p:cNvSpPr/>
          <p:nvPr/>
        </p:nvSpPr>
        <p:spPr>
          <a:xfrm>
            <a:off x="6726784" y="3427623"/>
            <a:ext cx="2064944" cy="420624"/>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AI verification</a:t>
            </a:r>
            <a:endParaRPr lang="en-US" sz="1650" dirty="0"/>
          </a:p>
        </p:txBody>
      </p:sp>
      <p:sp>
        <p:nvSpPr>
          <p:cNvPr id="18" name="Text 13"/>
          <p:cNvSpPr/>
          <p:nvPr/>
        </p:nvSpPr>
        <p:spPr>
          <a:xfrm>
            <a:off x="6233008" y="3930543"/>
            <a:ext cx="2558720" cy="1143000"/>
          </a:xfrm>
          <a:prstGeom prst="rect">
            <a:avLst/>
          </a:prstGeom>
          <a:noFill/>
          <a:ln/>
        </p:spPr>
        <p:txBody>
          <a:bodyPr wrap="square" lIns="0" tIns="0" rIns="0" bIns="0" rtlCol="0" anchor="t"/>
          <a:lstStyle/>
          <a:p>
            <a:pPr marL="0" indent="0">
              <a:lnSpc>
                <a:spcPts val="1900"/>
              </a:lnSpc>
              <a:buNone/>
            </a:pPr>
            <a:r>
              <a:rPr lang="en-US" sz="1400" dirty="0">
                <a:solidFill>
                  <a:srgbClr val="5C6E68"/>
                </a:solidFill>
                <a:latin typeface="Calibri" pitchFamily="34" charset="0"/>
                <a:ea typeface="Calibri" pitchFamily="34" charset="-122"/>
                <a:cs typeface="Calibri" pitchFamily="34" charset="-120"/>
              </a:rPr>
              <a:t>Rekognition returns the label and confidence, and warns if it disagrees with the student's choice.</a:t>
            </a:r>
            <a:endParaRPr lang="en-US" sz="1400" dirty="0"/>
          </a:p>
        </p:txBody>
      </p:sp>
      <p:pic>
        <p:nvPicPr>
          <p:cNvPr id="19" name="Image 3" descr="img/image13.jpg"/>
          <p:cNvPicPr>
            <a:picLocks noChangeAspect="1"/>
          </p:cNvPicPr>
          <p:nvPr/>
        </p:nvPicPr>
        <p:blipFill>
          <a:blip r:embed="rId6"/>
          <a:stretch>
            <a:fillRect/>
          </a:stretch>
        </p:blipFill>
        <p:spPr>
          <a:xfrm>
            <a:off x="9066047" y="1627632"/>
            <a:ext cx="2558720" cy="1617111"/>
          </a:xfrm>
          <a:prstGeom prst="rect">
            <a:avLst/>
          </a:prstGeom>
          <a:effectLst>
            <a:outerShdw blurRad="177800" dist="25400" dir="5400000" algn="bl" rotWithShape="0">
              <a:srgbClr val="0D2A22">
                <a:alpha val="18000"/>
              </a:srgbClr>
            </a:outerShdw>
          </a:effectLst>
        </p:spPr>
      </p:pic>
      <p:sp>
        <p:nvSpPr>
          <p:cNvPr id="20" name="Shape 14"/>
          <p:cNvSpPr/>
          <p:nvPr/>
        </p:nvSpPr>
        <p:spPr>
          <a:xfrm>
            <a:off x="9066047" y="3445911"/>
            <a:ext cx="384048" cy="384048"/>
          </a:xfrm>
          <a:prstGeom prst="ellipse">
            <a:avLst/>
          </a:prstGeom>
          <a:solidFill>
            <a:srgbClr val="0F6B4F"/>
          </a:solidFill>
          <a:ln w="12700">
            <a:solidFill>
              <a:srgbClr val="0F6B4F"/>
            </a:solidFill>
            <a:prstDash val="solid"/>
          </a:ln>
        </p:spPr>
        <p:txBody>
          <a:bodyPr/>
          <a:lstStyle/>
          <a:p>
            <a:endParaRPr lang="en-US"/>
          </a:p>
        </p:txBody>
      </p:sp>
      <p:sp>
        <p:nvSpPr>
          <p:cNvPr id="21" name="Text 15"/>
          <p:cNvSpPr/>
          <p:nvPr/>
        </p:nvSpPr>
        <p:spPr>
          <a:xfrm>
            <a:off x="9066047" y="3445911"/>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16"/>
          <p:cNvSpPr/>
          <p:nvPr/>
        </p:nvSpPr>
        <p:spPr>
          <a:xfrm>
            <a:off x="9559823" y="3427623"/>
            <a:ext cx="2064944" cy="420624"/>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Track in My Reports</a:t>
            </a:r>
            <a:endParaRPr lang="en-US" sz="1650" dirty="0"/>
          </a:p>
        </p:txBody>
      </p:sp>
      <p:sp>
        <p:nvSpPr>
          <p:cNvPr id="23" name="Text 17"/>
          <p:cNvSpPr/>
          <p:nvPr/>
        </p:nvSpPr>
        <p:spPr>
          <a:xfrm>
            <a:off x="9066047" y="3930543"/>
            <a:ext cx="2558720" cy="1143000"/>
          </a:xfrm>
          <a:prstGeom prst="rect">
            <a:avLst/>
          </a:prstGeom>
          <a:noFill/>
          <a:ln/>
        </p:spPr>
        <p:txBody>
          <a:bodyPr wrap="square" lIns="0" tIns="0" rIns="0" bIns="0" rtlCol="0" anchor="t"/>
          <a:lstStyle/>
          <a:p>
            <a:pPr marL="0" indent="0">
              <a:lnSpc>
                <a:spcPts val="1900"/>
              </a:lnSpc>
              <a:buNone/>
            </a:pPr>
            <a:r>
              <a:rPr lang="en-US" sz="1400" dirty="0">
                <a:solidFill>
                  <a:srgbClr val="5C6E68"/>
                </a:solidFill>
                <a:latin typeface="Calibri" pitchFamily="34" charset="0"/>
                <a:ea typeface="Calibri" pitchFamily="34" charset="-122"/>
                <a:cs typeface="Calibri" pitchFamily="34" charset="-120"/>
              </a:rPr>
              <a:t>Submitted, Under Review, In Progress, Resolved or Rejected — visible to the student.</a:t>
            </a:r>
            <a:endParaRPr lang="en-US" sz="1400" dirty="0"/>
          </a:p>
        </p:txBody>
      </p:sp>
      <p:sp>
        <p:nvSpPr>
          <p:cNvPr id="24" name="Shape 18"/>
          <p:cNvSpPr/>
          <p:nvPr/>
        </p:nvSpPr>
        <p:spPr>
          <a:xfrm>
            <a:off x="566928" y="5650992"/>
            <a:ext cx="11057839" cy="566928"/>
          </a:xfrm>
          <a:prstGeom prst="roundRect">
            <a:avLst>
              <a:gd name="adj" fmla="val 12903"/>
            </a:avLst>
          </a:prstGeom>
          <a:solidFill>
            <a:srgbClr val="E4F2EC"/>
          </a:solidFill>
          <a:ln w="12700">
            <a:solidFill>
              <a:srgbClr val="E4F2EC"/>
            </a:solidFill>
            <a:prstDash val="solid"/>
          </a:ln>
        </p:spPr>
        <p:txBody>
          <a:bodyPr/>
          <a:lstStyle/>
          <a:p>
            <a:endParaRPr lang="en-US"/>
          </a:p>
        </p:txBody>
      </p:sp>
      <p:sp>
        <p:nvSpPr>
          <p:cNvPr id="25" name="Text 19"/>
          <p:cNvSpPr/>
          <p:nvPr/>
        </p:nvSpPr>
        <p:spPr>
          <a:xfrm>
            <a:off x="822960" y="5650992"/>
            <a:ext cx="10545775" cy="566928"/>
          </a:xfrm>
          <a:prstGeom prst="rect">
            <a:avLst/>
          </a:prstGeom>
          <a:noFill/>
          <a:ln/>
        </p:spPr>
        <p:txBody>
          <a:bodyPr wrap="square" lIns="0" tIns="0" rIns="0" bIns="0" rtlCol="0" anchor="ctr"/>
          <a:lstStyle/>
          <a:p>
            <a:pPr marL="0" indent="0">
              <a:buNone/>
            </a:pPr>
            <a:r>
              <a:rPr lang="en-US" sz="1400" dirty="0">
                <a:solidFill>
                  <a:srgbClr val="0D2A22"/>
                </a:solidFill>
                <a:latin typeface="Calibri" pitchFamily="34" charset="0"/>
                <a:ea typeface="Calibri" pitchFamily="34" charset="-122"/>
                <a:cs typeface="Calibri" pitchFamily="34" charset="-120"/>
              </a:rPr>
              <a:t>Every submission carries identity, evidence, coordinates and an AI verdict before it ever reaches the staff queue.</a:t>
            </a:r>
            <a:endParaRPr lang="en-US" sz="1400" dirty="0"/>
          </a:p>
        </p:txBody>
      </p:sp>
      <p:sp>
        <p:nvSpPr>
          <p:cNvPr id="27" name="Text 21"/>
          <p:cNvSpPr/>
          <p:nvPr/>
        </p:nvSpPr>
        <p:spPr>
          <a:xfrm>
            <a:off x="10801807" y="6382512"/>
            <a:ext cx="822960" cy="292608"/>
          </a:xfrm>
          <a:prstGeom prst="rect">
            <a:avLst/>
          </a:prstGeom>
          <a:noFill/>
          <a:ln/>
        </p:spPr>
        <p:txBody>
          <a:bodyPr wrap="square" lIns="0" tIns="0" rIns="0" bIns="0" rtlCol="0" anchor="ctr"/>
          <a:lstStyle/>
          <a:p>
            <a:pPr marL="0" indent="0" algn="r">
              <a:buNone/>
            </a:pPr>
            <a:r>
              <a:rPr lang="en-US" sz="1100" b="1" dirty="0">
                <a:solidFill>
                  <a:srgbClr val="0F6B4F"/>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9"/>
        </a:solidFill>
        <a:effectLst/>
      </p:bgPr>
    </p:bg>
    <p:spTree>
      <p:nvGrpSpPr>
        <p:cNvPr id="1" name=""/>
        <p:cNvGrpSpPr/>
        <p:nvPr/>
      </p:nvGrpSpPr>
      <p:grpSpPr>
        <a:xfrm>
          <a:off x="0" y="0"/>
          <a:ext cx="0" cy="0"/>
          <a:chOff x="0" y="0"/>
          <a:chExt cx="0" cy="0"/>
        </a:xfrm>
      </p:grpSpPr>
      <p:sp>
        <p:nvSpPr>
          <p:cNvPr id="2" name="Text 0"/>
          <p:cNvSpPr/>
          <p:nvPr/>
        </p:nvSpPr>
        <p:spPr>
          <a:xfrm>
            <a:off x="566928" y="347472"/>
            <a:ext cx="11057839" cy="566928"/>
          </a:xfrm>
          <a:prstGeom prst="rect">
            <a:avLst/>
          </a:prstGeom>
          <a:noFill/>
          <a:ln/>
        </p:spPr>
        <p:txBody>
          <a:bodyPr wrap="square" lIns="0" tIns="0" rIns="0" bIns="0" rtlCol="0" anchor="ctr"/>
          <a:lstStyle/>
          <a:p>
            <a:pPr marL="0" indent="0">
              <a:buNone/>
            </a:pPr>
            <a:r>
              <a:rPr lang="en-US" sz="3200" b="1" dirty="0">
                <a:solidFill>
                  <a:srgbClr val="0D2A22"/>
                </a:solidFill>
                <a:latin typeface="Calibri" pitchFamily="34" charset="0"/>
                <a:ea typeface="Calibri" pitchFamily="34" charset="-122"/>
                <a:cs typeface="Calibri" pitchFamily="34" charset="-120"/>
              </a:rPr>
              <a:t>Staff Journey</a:t>
            </a:r>
            <a:endParaRPr lang="en-US" sz="3200" dirty="0"/>
          </a:p>
        </p:txBody>
      </p:sp>
      <p:sp>
        <p:nvSpPr>
          <p:cNvPr id="3" name="Text 1"/>
          <p:cNvSpPr/>
          <p:nvPr/>
        </p:nvSpPr>
        <p:spPr>
          <a:xfrm>
            <a:off x="566928" y="932688"/>
            <a:ext cx="11057839" cy="365760"/>
          </a:xfrm>
          <a:prstGeom prst="rect">
            <a:avLst/>
          </a:prstGeom>
          <a:noFill/>
          <a:ln/>
        </p:spPr>
        <p:txBody>
          <a:bodyPr wrap="square" lIns="0" tIns="0" rIns="0" bIns="0" rtlCol="0" anchor="ctr"/>
          <a:lstStyle/>
          <a:p>
            <a:pPr marL="0" indent="0">
              <a:buNone/>
            </a:pPr>
            <a:r>
              <a:rPr lang="en-US" sz="1550" dirty="0">
                <a:solidFill>
                  <a:srgbClr val="5C6E68"/>
                </a:solidFill>
                <a:latin typeface="Calibri" pitchFamily="34" charset="0"/>
                <a:ea typeface="Calibri" pitchFamily="34" charset="-122"/>
                <a:cs typeface="Calibri" pitchFamily="34" charset="-120"/>
              </a:rPr>
              <a:t>A separate role interface driven by the Cognito group claim, not by hidden buttons</a:t>
            </a:r>
            <a:endParaRPr lang="en-US" sz="1550" dirty="0"/>
          </a:p>
        </p:txBody>
      </p:sp>
      <p:pic>
        <p:nvPicPr>
          <p:cNvPr id="4" name="Image 0" descr="img/image14.jpg"/>
          <p:cNvPicPr>
            <a:picLocks noChangeAspect="1"/>
          </p:cNvPicPr>
          <p:nvPr/>
        </p:nvPicPr>
        <p:blipFill>
          <a:blip r:embed="rId3"/>
          <a:stretch>
            <a:fillRect/>
          </a:stretch>
        </p:blipFill>
        <p:spPr>
          <a:xfrm>
            <a:off x="566928" y="1627632"/>
            <a:ext cx="2558720" cy="1617111"/>
          </a:xfrm>
          <a:prstGeom prst="rect">
            <a:avLst/>
          </a:prstGeom>
          <a:effectLst>
            <a:outerShdw blurRad="177800" dist="25400" dir="5400000" algn="bl" rotWithShape="0">
              <a:srgbClr val="0D2A22">
                <a:alpha val="18000"/>
              </a:srgbClr>
            </a:outerShdw>
          </a:effectLst>
        </p:spPr>
      </p:pic>
      <p:sp>
        <p:nvSpPr>
          <p:cNvPr id="5" name="Shape 2"/>
          <p:cNvSpPr/>
          <p:nvPr/>
        </p:nvSpPr>
        <p:spPr>
          <a:xfrm>
            <a:off x="566928" y="3445911"/>
            <a:ext cx="384048" cy="384048"/>
          </a:xfrm>
          <a:prstGeom prst="ellipse">
            <a:avLst/>
          </a:prstGeom>
          <a:solidFill>
            <a:srgbClr val="0D2A22"/>
          </a:solidFill>
          <a:ln w="12700">
            <a:solidFill>
              <a:srgbClr val="0D2A22"/>
            </a:solidFill>
            <a:prstDash val="solid"/>
          </a:ln>
        </p:spPr>
        <p:txBody>
          <a:bodyPr/>
          <a:lstStyle/>
          <a:p>
            <a:endParaRPr lang="en-US"/>
          </a:p>
        </p:txBody>
      </p:sp>
      <p:sp>
        <p:nvSpPr>
          <p:cNvPr id="6" name="Text 3"/>
          <p:cNvSpPr/>
          <p:nvPr/>
        </p:nvSpPr>
        <p:spPr>
          <a:xfrm>
            <a:off x="566928" y="3445911"/>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060704" y="3427623"/>
            <a:ext cx="2064944" cy="420624"/>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Staff dashboard</a:t>
            </a:r>
            <a:endParaRPr lang="en-US" sz="1650" dirty="0"/>
          </a:p>
        </p:txBody>
      </p:sp>
      <p:sp>
        <p:nvSpPr>
          <p:cNvPr id="8" name="Text 5"/>
          <p:cNvSpPr/>
          <p:nvPr/>
        </p:nvSpPr>
        <p:spPr>
          <a:xfrm>
            <a:off x="566928" y="3930543"/>
            <a:ext cx="2558720" cy="1143000"/>
          </a:xfrm>
          <a:prstGeom prst="rect">
            <a:avLst/>
          </a:prstGeom>
          <a:noFill/>
          <a:ln/>
        </p:spPr>
        <p:txBody>
          <a:bodyPr wrap="square" lIns="0" tIns="0" rIns="0" bIns="0" rtlCol="0" anchor="t"/>
          <a:lstStyle/>
          <a:p>
            <a:pPr marL="0" indent="0">
              <a:lnSpc>
                <a:spcPts val="1900"/>
              </a:lnSpc>
              <a:buNone/>
            </a:pPr>
            <a:r>
              <a:rPr lang="en-US" sz="1400" dirty="0">
                <a:solidFill>
                  <a:srgbClr val="5C6E68"/>
                </a:solidFill>
                <a:latin typeface="Calibri" pitchFamily="34" charset="0"/>
                <a:ea typeface="Calibri" pitchFamily="34" charset="-122"/>
                <a:cs typeface="Calibri" pitchFamily="34" charset="-120"/>
              </a:rPr>
              <a:t>cognito:groups = staff unlocks a different navigation and operational counters.</a:t>
            </a:r>
            <a:endParaRPr lang="en-US" sz="1400" dirty="0"/>
          </a:p>
        </p:txBody>
      </p:sp>
      <p:pic>
        <p:nvPicPr>
          <p:cNvPr id="9" name="Image 1" descr="img/image15.jpg"/>
          <p:cNvPicPr>
            <a:picLocks noChangeAspect="1"/>
          </p:cNvPicPr>
          <p:nvPr/>
        </p:nvPicPr>
        <p:blipFill>
          <a:blip r:embed="rId4"/>
          <a:stretch>
            <a:fillRect/>
          </a:stretch>
        </p:blipFill>
        <p:spPr>
          <a:xfrm>
            <a:off x="3399968" y="1627632"/>
            <a:ext cx="2558720" cy="1617111"/>
          </a:xfrm>
          <a:prstGeom prst="rect">
            <a:avLst/>
          </a:prstGeom>
          <a:effectLst>
            <a:outerShdw blurRad="177800" dist="25400" dir="5400000" algn="bl" rotWithShape="0">
              <a:srgbClr val="0D2A22">
                <a:alpha val="18000"/>
              </a:srgbClr>
            </a:outerShdw>
          </a:effectLst>
        </p:spPr>
      </p:pic>
      <p:sp>
        <p:nvSpPr>
          <p:cNvPr id="10" name="Shape 6"/>
          <p:cNvSpPr/>
          <p:nvPr/>
        </p:nvSpPr>
        <p:spPr>
          <a:xfrm>
            <a:off x="3399968" y="3445911"/>
            <a:ext cx="384048" cy="384048"/>
          </a:xfrm>
          <a:prstGeom prst="ellipse">
            <a:avLst/>
          </a:prstGeom>
          <a:solidFill>
            <a:srgbClr val="0D2A22"/>
          </a:solidFill>
          <a:ln w="12700">
            <a:solidFill>
              <a:srgbClr val="0D2A22"/>
            </a:solidFill>
            <a:prstDash val="solid"/>
          </a:ln>
        </p:spPr>
        <p:txBody>
          <a:bodyPr/>
          <a:lstStyle/>
          <a:p>
            <a:endParaRPr lang="en-US"/>
          </a:p>
        </p:txBody>
      </p:sp>
      <p:sp>
        <p:nvSpPr>
          <p:cNvPr id="11" name="Text 7"/>
          <p:cNvSpPr/>
          <p:nvPr/>
        </p:nvSpPr>
        <p:spPr>
          <a:xfrm>
            <a:off x="3399968" y="3445911"/>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8"/>
          <p:cNvSpPr/>
          <p:nvPr/>
        </p:nvSpPr>
        <p:spPr>
          <a:xfrm>
            <a:off x="3893744" y="3427623"/>
            <a:ext cx="2064944" cy="420624"/>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Review Queue</a:t>
            </a:r>
            <a:endParaRPr lang="en-US" sz="1650" dirty="0"/>
          </a:p>
        </p:txBody>
      </p:sp>
      <p:sp>
        <p:nvSpPr>
          <p:cNvPr id="13" name="Text 9"/>
          <p:cNvSpPr/>
          <p:nvPr/>
        </p:nvSpPr>
        <p:spPr>
          <a:xfrm>
            <a:off x="3399968" y="3930543"/>
            <a:ext cx="2558720" cy="1143000"/>
          </a:xfrm>
          <a:prstGeom prst="rect">
            <a:avLst/>
          </a:prstGeom>
          <a:noFill/>
          <a:ln/>
        </p:spPr>
        <p:txBody>
          <a:bodyPr wrap="square" lIns="0" tIns="0" rIns="0" bIns="0" rtlCol="0" anchor="t"/>
          <a:lstStyle/>
          <a:p>
            <a:pPr marL="0" indent="0">
              <a:lnSpc>
                <a:spcPts val="1900"/>
              </a:lnSpc>
              <a:buNone/>
            </a:pPr>
            <a:r>
              <a:rPr lang="en-US" sz="1400" dirty="0">
                <a:solidFill>
                  <a:srgbClr val="5C6E68"/>
                </a:solidFill>
                <a:latin typeface="Calibri" pitchFamily="34" charset="0"/>
                <a:ea typeface="Calibri" pitchFamily="34" charset="-122"/>
                <a:cs typeface="Calibri" pitchFamily="34" charset="-120"/>
              </a:rPr>
              <a:t>Newly submitted reports arrive with photo evidence and location attached.</a:t>
            </a:r>
            <a:endParaRPr lang="en-US" sz="1400" dirty="0"/>
          </a:p>
        </p:txBody>
      </p:sp>
      <p:pic>
        <p:nvPicPr>
          <p:cNvPr id="14" name="Image 2" descr="img/image16.jpg"/>
          <p:cNvPicPr>
            <a:picLocks noChangeAspect="1"/>
          </p:cNvPicPr>
          <p:nvPr/>
        </p:nvPicPr>
        <p:blipFill>
          <a:blip r:embed="rId5"/>
          <a:stretch>
            <a:fillRect/>
          </a:stretch>
        </p:blipFill>
        <p:spPr>
          <a:xfrm>
            <a:off x="6233008" y="1627632"/>
            <a:ext cx="2558720" cy="1617111"/>
          </a:xfrm>
          <a:prstGeom prst="rect">
            <a:avLst/>
          </a:prstGeom>
          <a:effectLst>
            <a:outerShdw blurRad="177800" dist="25400" dir="5400000" algn="bl" rotWithShape="0">
              <a:srgbClr val="0D2A22">
                <a:alpha val="18000"/>
              </a:srgbClr>
            </a:outerShdw>
          </a:effectLst>
        </p:spPr>
      </p:pic>
      <p:sp>
        <p:nvSpPr>
          <p:cNvPr id="15" name="Shape 10"/>
          <p:cNvSpPr/>
          <p:nvPr/>
        </p:nvSpPr>
        <p:spPr>
          <a:xfrm>
            <a:off x="6233008" y="3445911"/>
            <a:ext cx="384048" cy="384048"/>
          </a:xfrm>
          <a:prstGeom prst="ellipse">
            <a:avLst/>
          </a:prstGeom>
          <a:solidFill>
            <a:srgbClr val="0D2A22"/>
          </a:solidFill>
          <a:ln w="12700">
            <a:solidFill>
              <a:srgbClr val="0D2A22"/>
            </a:solidFill>
            <a:prstDash val="solid"/>
          </a:ln>
        </p:spPr>
        <p:txBody>
          <a:bodyPr/>
          <a:lstStyle/>
          <a:p>
            <a:endParaRPr lang="en-US"/>
          </a:p>
        </p:txBody>
      </p:sp>
      <p:sp>
        <p:nvSpPr>
          <p:cNvPr id="16" name="Text 11"/>
          <p:cNvSpPr/>
          <p:nvPr/>
        </p:nvSpPr>
        <p:spPr>
          <a:xfrm>
            <a:off x="6233008" y="3445911"/>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2"/>
          <p:cNvSpPr/>
          <p:nvPr/>
        </p:nvSpPr>
        <p:spPr>
          <a:xfrm>
            <a:off x="6726784" y="3427623"/>
            <a:ext cx="2064944" cy="420624"/>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Update &amp; resolve</a:t>
            </a:r>
            <a:endParaRPr lang="en-US" sz="1650" dirty="0"/>
          </a:p>
        </p:txBody>
      </p:sp>
      <p:sp>
        <p:nvSpPr>
          <p:cNvPr id="18" name="Text 13"/>
          <p:cNvSpPr/>
          <p:nvPr/>
        </p:nvSpPr>
        <p:spPr>
          <a:xfrm>
            <a:off x="6233008" y="3930543"/>
            <a:ext cx="2558720" cy="1143000"/>
          </a:xfrm>
          <a:prstGeom prst="rect">
            <a:avLst/>
          </a:prstGeom>
          <a:noFill/>
          <a:ln/>
        </p:spPr>
        <p:txBody>
          <a:bodyPr wrap="square" lIns="0" tIns="0" rIns="0" bIns="0" rtlCol="0" anchor="t"/>
          <a:lstStyle/>
          <a:p>
            <a:pPr marL="0" indent="0">
              <a:lnSpc>
                <a:spcPts val="1900"/>
              </a:lnSpc>
              <a:buNone/>
            </a:pPr>
            <a:r>
              <a:rPr lang="en-US" sz="1400" dirty="0">
                <a:solidFill>
                  <a:srgbClr val="5C6E68"/>
                </a:solidFill>
                <a:latin typeface="Calibri" pitchFamily="34" charset="0"/>
                <a:ea typeface="Calibri" pitchFamily="34" charset="-122"/>
                <a:cs typeface="Calibri" pitchFamily="34" charset="-120"/>
              </a:rPr>
              <a:t>Set status and priority, write a staff update, or delete an invalid report.</a:t>
            </a:r>
            <a:endParaRPr lang="en-US" sz="1400" dirty="0"/>
          </a:p>
        </p:txBody>
      </p:sp>
      <p:pic>
        <p:nvPicPr>
          <p:cNvPr id="19" name="Image 3" descr="img/image17.jpg"/>
          <p:cNvPicPr>
            <a:picLocks noChangeAspect="1"/>
          </p:cNvPicPr>
          <p:nvPr/>
        </p:nvPicPr>
        <p:blipFill>
          <a:blip r:embed="rId6"/>
          <a:stretch>
            <a:fillRect/>
          </a:stretch>
        </p:blipFill>
        <p:spPr>
          <a:xfrm>
            <a:off x="9066047" y="1627632"/>
            <a:ext cx="2558720" cy="1617111"/>
          </a:xfrm>
          <a:prstGeom prst="rect">
            <a:avLst/>
          </a:prstGeom>
          <a:effectLst>
            <a:outerShdw blurRad="177800" dist="25400" dir="5400000" algn="bl" rotWithShape="0">
              <a:srgbClr val="0D2A22">
                <a:alpha val="18000"/>
              </a:srgbClr>
            </a:outerShdw>
          </a:effectLst>
        </p:spPr>
      </p:pic>
      <p:sp>
        <p:nvSpPr>
          <p:cNvPr id="20" name="Shape 14"/>
          <p:cNvSpPr/>
          <p:nvPr/>
        </p:nvSpPr>
        <p:spPr>
          <a:xfrm>
            <a:off x="9066047" y="3445911"/>
            <a:ext cx="384048" cy="384048"/>
          </a:xfrm>
          <a:prstGeom prst="ellipse">
            <a:avLst/>
          </a:prstGeom>
          <a:solidFill>
            <a:srgbClr val="0D2A22"/>
          </a:solidFill>
          <a:ln w="12700">
            <a:solidFill>
              <a:srgbClr val="0D2A22"/>
            </a:solidFill>
            <a:prstDash val="solid"/>
          </a:ln>
        </p:spPr>
        <p:txBody>
          <a:bodyPr/>
          <a:lstStyle/>
          <a:p>
            <a:endParaRPr lang="en-US"/>
          </a:p>
        </p:txBody>
      </p:sp>
      <p:sp>
        <p:nvSpPr>
          <p:cNvPr id="21" name="Text 15"/>
          <p:cNvSpPr/>
          <p:nvPr/>
        </p:nvSpPr>
        <p:spPr>
          <a:xfrm>
            <a:off x="9066047" y="3445911"/>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16"/>
          <p:cNvSpPr/>
          <p:nvPr/>
        </p:nvSpPr>
        <p:spPr>
          <a:xfrm>
            <a:off x="9559823" y="3427623"/>
            <a:ext cx="2064944" cy="420624"/>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Manage Reports</a:t>
            </a:r>
            <a:endParaRPr lang="en-US" sz="1650" dirty="0"/>
          </a:p>
        </p:txBody>
      </p:sp>
      <p:sp>
        <p:nvSpPr>
          <p:cNvPr id="23" name="Text 17"/>
          <p:cNvSpPr/>
          <p:nvPr/>
        </p:nvSpPr>
        <p:spPr>
          <a:xfrm>
            <a:off x="9066047" y="3930543"/>
            <a:ext cx="2558720" cy="1143000"/>
          </a:xfrm>
          <a:prstGeom prst="rect">
            <a:avLst/>
          </a:prstGeom>
          <a:noFill/>
          <a:ln/>
        </p:spPr>
        <p:txBody>
          <a:bodyPr wrap="square" lIns="0" tIns="0" rIns="0" bIns="0" rtlCol="0" anchor="t"/>
          <a:lstStyle/>
          <a:p>
            <a:pPr marL="0" indent="0">
              <a:lnSpc>
                <a:spcPts val="1900"/>
              </a:lnSpc>
              <a:buNone/>
            </a:pPr>
            <a:r>
              <a:rPr lang="en-US" sz="1400" dirty="0">
                <a:solidFill>
                  <a:srgbClr val="5C6E68"/>
                </a:solidFill>
                <a:latin typeface="Calibri" pitchFamily="34" charset="0"/>
                <a:ea typeface="Calibri" pitchFamily="34" charset="-122"/>
                <a:cs typeface="Calibri" pitchFamily="34" charset="-120"/>
              </a:rPr>
              <a:t>Search and filter every report by status to track outstanding work.</a:t>
            </a:r>
            <a:endParaRPr lang="en-US" sz="1400" dirty="0"/>
          </a:p>
        </p:txBody>
      </p:sp>
      <p:sp>
        <p:nvSpPr>
          <p:cNvPr id="24" name="Shape 18"/>
          <p:cNvSpPr/>
          <p:nvPr/>
        </p:nvSpPr>
        <p:spPr>
          <a:xfrm>
            <a:off x="566928" y="5650992"/>
            <a:ext cx="11057839" cy="566928"/>
          </a:xfrm>
          <a:prstGeom prst="roundRect">
            <a:avLst>
              <a:gd name="adj" fmla="val 12903"/>
            </a:avLst>
          </a:prstGeom>
          <a:solidFill>
            <a:srgbClr val="E4F2EC"/>
          </a:solidFill>
          <a:ln w="12700">
            <a:solidFill>
              <a:srgbClr val="E4F2EC"/>
            </a:solidFill>
            <a:prstDash val="solid"/>
          </a:ln>
        </p:spPr>
        <p:txBody>
          <a:bodyPr/>
          <a:lstStyle/>
          <a:p>
            <a:endParaRPr lang="en-US"/>
          </a:p>
        </p:txBody>
      </p:sp>
      <p:sp>
        <p:nvSpPr>
          <p:cNvPr id="25" name="Text 19"/>
          <p:cNvSpPr/>
          <p:nvPr/>
        </p:nvSpPr>
        <p:spPr>
          <a:xfrm>
            <a:off x="822960" y="5650992"/>
            <a:ext cx="10545775" cy="566928"/>
          </a:xfrm>
          <a:prstGeom prst="rect">
            <a:avLst/>
          </a:prstGeom>
          <a:noFill/>
          <a:ln/>
        </p:spPr>
        <p:txBody>
          <a:bodyPr wrap="square" lIns="0" tIns="0" rIns="0" bIns="0" rtlCol="0" anchor="ctr"/>
          <a:lstStyle/>
          <a:p>
            <a:pPr marL="0" indent="0">
              <a:buNone/>
            </a:pPr>
            <a:r>
              <a:rPr lang="en-US" sz="1400" dirty="0">
                <a:solidFill>
                  <a:srgbClr val="0D2A22"/>
                </a:solidFill>
                <a:latin typeface="Calibri" pitchFamily="34" charset="0"/>
                <a:ea typeface="Calibri" pitchFamily="34" charset="-122"/>
                <a:cs typeface="Calibri" pitchFamily="34" charset="-120"/>
              </a:rPr>
              <a:t>Update and delete are staff-only in the backend Lambda as well — removing the button would not grant a student the permission.</a:t>
            </a:r>
            <a:endParaRPr lang="en-US" sz="1400" dirty="0"/>
          </a:p>
        </p:txBody>
      </p:sp>
      <p:sp>
        <p:nvSpPr>
          <p:cNvPr id="27" name="Text 21"/>
          <p:cNvSpPr/>
          <p:nvPr/>
        </p:nvSpPr>
        <p:spPr>
          <a:xfrm>
            <a:off x="10801807" y="6382512"/>
            <a:ext cx="822960" cy="292608"/>
          </a:xfrm>
          <a:prstGeom prst="rect">
            <a:avLst/>
          </a:prstGeom>
          <a:noFill/>
          <a:ln/>
        </p:spPr>
        <p:txBody>
          <a:bodyPr wrap="square" lIns="0" tIns="0" rIns="0" bIns="0" rtlCol="0" anchor="ctr"/>
          <a:lstStyle/>
          <a:p>
            <a:pPr marL="0" indent="0" algn="r">
              <a:buNone/>
            </a:pPr>
            <a:r>
              <a:rPr lang="en-US" sz="1100" b="1" dirty="0">
                <a:solidFill>
                  <a:srgbClr val="0F6B4F"/>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7FAF9"/>
        </a:solidFill>
        <a:effectLst/>
      </p:bgPr>
    </p:bg>
    <p:spTree>
      <p:nvGrpSpPr>
        <p:cNvPr id="1" name=""/>
        <p:cNvGrpSpPr/>
        <p:nvPr/>
      </p:nvGrpSpPr>
      <p:grpSpPr>
        <a:xfrm>
          <a:off x="0" y="0"/>
          <a:ext cx="0" cy="0"/>
          <a:chOff x="0" y="0"/>
          <a:chExt cx="0" cy="0"/>
        </a:xfrm>
      </p:grpSpPr>
      <p:sp>
        <p:nvSpPr>
          <p:cNvPr id="2" name="Text 0"/>
          <p:cNvSpPr/>
          <p:nvPr/>
        </p:nvSpPr>
        <p:spPr>
          <a:xfrm>
            <a:off x="566928" y="347472"/>
            <a:ext cx="11057839" cy="566928"/>
          </a:xfrm>
          <a:prstGeom prst="rect">
            <a:avLst/>
          </a:prstGeom>
          <a:noFill/>
          <a:ln/>
        </p:spPr>
        <p:txBody>
          <a:bodyPr wrap="square" lIns="0" tIns="0" rIns="0" bIns="0" rtlCol="0" anchor="ctr"/>
          <a:lstStyle/>
          <a:p>
            <a:pPr marL="0" indent="0">
              <a:buNone/>
            </a:pPr>
            <a:r>
              <a:rPr lang="en-US" sz="3200" b="1" dirty="0">
                <a:solidFill>
                  <a:srgbClr val="0D2A22"/>
                </a:solidFill>
                <a:latin typeface="Calibri" pitchFamily="34" charset="0"/>
                <a:ea typeface="Calibri" pitchFamily="34" charset="-122"/>
                <a:cs typeface="Calibri" pitchFamily="34" charset="-120"/>
              </a:rPr>
              <a:t>Breakdown of Services Used</a:t>
            </a:r>
            <a:endParaRPr lang="en-US" sz="3200" dirty="0"/>
          </a:p>
        </p:txBody>
      </p:sp>
      <p:sp>
        <p:nvSpPr>
          <p:cNvPr id="3" name="Text 1"/>
          <p:cNvSpPr/>
          <p:nvPr/>
        </p:nvSpPr>
        <p:spPr>
          <a:xfrm>
            <a:off x="566928" y="932688"/>
            <a:ext cx="11057839" cy="365760"/>
          </a:xfrm>
          <a:prstGeom prst="rect">
            <a:avLst/>
          </a:prstGeom>
          <a:noFill/>
          <a:ln/>
        </p:spPr>
        <p:txBody>
          <a:bodyPr wrap="square" lIns="0" tIns="0" rIns="0" bIns="0" rtlCol="0" anchor="ctr"/>
          <a:lstStyle/>
          <a:p>
            <a:pPr marL="0" indent="0">
              <a:buNone/>
            </a:pPr>
            <a:r>
              <a:rPr lang="en-US" sz="1550" dirty="0">
                <a:solidFill>
                  <a:srgbClr val="5C6E68"/>
                </a:solidFill>
                <a:latin typeface="Calibri" pitchFamily="34" charset="0"/>
                <a:ea typeface="Calibri" pitchFamily="34" charset="-122"/>
                <a:cs typeface="Calibri" pitchFamily="34" charset="-120"/>
              </a:rPr>
              <a:t>Ten AWS services — five required by the project, five added for security, interactivity and reach</a:t>
            </a:r>
            <a:endParaRPr lang="en-US" sz="1550" dirty="0"/>
          </a:p>
        </p:txBody>
      </p:sp>
      <p:sp>
        <p:nvSpPr>
          <p:cNvPr id="4" name="Shape 2"/>
          <p:cNvSpPr/>
          <p:nvPr/>
        </p:nvSpPr>
        <p:spPr>
          <a:xfrm>
            <a:off x="566928" y="1517904"/>
            <a:ext cx="5346040" cy="457200"/>
          </a:xfrm>
          <a:prstGeom prst="roundRect">
            <a:avLst>
              <a:gd name="adj" fmla="val 16000"/>
            </a:avLst>
          </a:prstGeom>
          <a:solidFill>
            <a:srgbClr val="0F6B4F"/>
          </a:solidFill>
          <a:ln w="12700">
            <a:solidFill>
              <a:srgbClr val="0F6B4F"/>
            </a:solidFill>
            <a:prstDash val="solid"/>
          </a:ln>
        </p:spPr>
        <p:txBody>
          <a:bodyPr/>
          <a:lstStyle/>
          <a:p>
            <a:endParaRPr lang="en-US"/>
          </a:p>
        </p:txBody>
      </p:sp>
      <p:sp>
        <p:nvSpPr>
          <p:cNvPr id="5" name="Text 3"/>
          <p:cNvSpPr/>
          <p:nvPr/>
        </p:nvSpPr>
        <p:spPr>
          <a:xfrm>
            <a:off x="804672" y="1517904"/>
            <a:ext cx="4870552"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Core project services</a:t>
            </a:r>
            <a:endParaRPr lang="en-US" sz="1500" dirty="0"/>
          </a:p>
        </p:txBody>
      </p:sp>
      <p:sp>
        <p:nvSpPr>
          <p:cNvPr id="6" name="Shape 4"/>
          <p:cNvSpPr/>
          <p:nvPr/>
        </p:nvSpPr>
        <p:spPr>
          <a:xfrm>
            <a:off x="566928" y="2066544"/>
            <a:ext cx="5346040" cy="768096"/>
          </a:xfrm>
          <a:prstGeom prst="roundRect">
            <a:avLst>
              <a:gd name="adj" fmla="val 11905"/>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7" name="Text 5"/>
          <p:cNvSpPr/>
          <p:nvPr/>
        </p:nvSpPr>
        <p:spPr>
          <a:xfrm>
            <a:off x="804672" y="2121408"/>
            <a:ext cx="4870552" cy="310896"/>
          </a:xfrm>
          <a:prstGeom prst="rect">
            <a:avLst/>
          </a:prstGeom>
          <a:noFill/>
          <a:ln/>
        </p:spPr>
        <p:txBody>
          <a:bodyPr wrap="square" lIns="0" tIns="0" rIns="0" bIns="0" rtlCol="0" anchor="ctr"/>
          <a:lstStyle/>
          <a:p>
            <a:pPr marL="0" indent="0">
              <a:buNone/>
            </a:pPr>
            <a:r>
              <a:rPr lang="en-US" sz="1550" b="1" dirty="0">
                <a:solidFill>
                  <a:srgbClr val="0D2A22"/>
                </a:solidFill>
                <a:latin typeface="Calibri" pitchFamily="34" charset="0"/>
                <a:ea typeface="Calibri" pitchFamily="34" charset="-122"/>
                <a:cs typeface="Calibri" pitchFamily="34" charset="-120"/>
              </a:rPr>
              <a:t>Amazon S3</a:t>
            </a:r>
            <a:endParaRPr lang="en-US" sz="1550" dirty="0"/>
          </a:p>
        </p:txBody>
      </p:sp>
      <p:sp>
        <p:nvSpPr>
          <p:cNvPr id="8" name="Text 6"/>
          <p:cNvSpPr/>
          <p:nvPr/>
        </p:nvSpPr>
        <p:spPr>
          <a:xfrm>
            <a:off x="804672" y="2432304"/>
            <a:ext cx="4870552" cy="365760"/>
          </a:xfrm>
          <a:prstGeom prst="rect">
            <a:avLst/>
          </a:prstGeom>
          <a:noFill/>
          <a:ln/>
        </p:spPr>
        <p:txBody>
          <a:bodyPr wrap="square" lIns="0" tIns="0" rIns="0" bIns="0" rtlCol="0" anchor="t"/>
          <a:lstStyle/>
          <a:p>
            <a:pPr marL="0" indent="0">
              <a:buNone/>
            </a:pPr>
            <a:r>
              <a:rPr lang="en-US" sz="1350" dirty="0">
                <a:solidFill>
                  <a:srgbClr val="5C6E68"/>
                </a:solidFill>
                <a:latin typeface="Calibri" pitchFamily="34" charset="0"/>
                <a:ea typeface="Calibri" pitchFamily="34" charset="-122"/>
                <a:cs typeface="Calibri" pitchFamily="34" charset="-120"/>
              </a:rPr>
              <a:t>Hosts the static website, the Rekognition datasets and every uploaded report photo.</a:t>
            </a:r>
            <a:endParaRPr lang="en-US" sz="1350" dirty="0"/>
          </a:p>
        </p:txBody>
      </p:sp>
      <p:sp>
        <p:nvSpPr>
          <p:cNvPr id="9" name="Shape 7"/>
          <p:cNvSpPr/>
          <p:nvPr/>
        </p:nvSpPr>
        <p:spPr>
          <a:xfrm>
            <a:off x="566928" y="2889504"/>
            <a:ext cx="5346040" cy="768096"/>
          </a:xfrm>
          <a:prstGeom prst="roundRect">
            <a:avLst>
              <a:gd name="adj" fmla="val 11905"/>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0" name="Text 8"/>
          <p:cNvSpPr/>
          <p:nvPr/>
        </p:nvSpPr>
        <p:spPr>
          <a:xfrm>
            <a:off x="804672" y="2944368"/>
            <a:ext cx="4870552" cy="310896"/>
          </a:xfrm>
          <a:prstGeom prst="rect">
            <a:avLst/>
          </a:prstGeom>
          <a:noFill/>
          <a:ln/>
        </p:spPr>
        <p:txBody>
          <a:bodyPr wrap="square" lIns="0" tIns="0" rIns="0" bIns="0" rtlCol="0" anchor="ctr"/>
          <a:lstStyle/>
          <a:p>
            <a:pPr marL="0" indent="0">
              <a:buNone/>
            </a:pPr>
            <a:r>
              <a:rPr lang="en-US" sz="1550" b="1" dirty="0">
                <a:solidFill>
                  <a:srgbClr val="0D2A22"/>
                </a:solidFill>
                <a:latin typeface="Calibri" pitchFamily="34" charset="0"/>
                <a:ea typeface="Calibri" pitchFamily="34" charset="-122"/>
                <a:cs typeface="Calibri" pitchFamily="34" charset="-120"/>
              </a:rPr>
              <a:t>AWS Lambda</a:t>
            </a:r>
            <a:endParaRPr lang="en-US" sz="1550" dirty="0"/>
          </a:p>
        </p:txBody>
      </p:sp>
      <p:sp>
        <p:nvSpPr>
          <p:cNvPr id="11" name="Text 9"/>
          <p:cNvSpPr/>
          <p:nvPr/>
        </p:nvSpPr>
        <p:spPr>
          <a:xfrm>
            <a:off x="804672" y="3255264"/>
            <a:ext cx="4870552" cy="365760"/>
          </a:xfrm>
          <a:prstGeom prst="rect">
            <a:avLst/>
          </a:prstGeom>
          <a:noFill/>
          <a:ln/>
        </p:spPr>
        <p:txBody>
          <a:bodyPr wrap="square" lIns="0" tIns="0" rIns="0" bIns="0" rtlCol="0" anchor="t"/>
          <a:lstStyle/>
          <a:p>
            <a:pPr marL="0" indent="0">
              <a:buNone/>
            </a:pPr>
            <a:r>
              <a:rPr lang="en-US" sz="1350" dirty="0">
                <a:solidFill>
                  <a:srgbClr val="5C6E68"/>
                </a:solidFill>
                <a:latin typeface="Calibri" pitchFamily="34" charset="0"/>
                <a:ea typeface="Calibri" pitchFamily="34" charset="-122"/>
                <a:cs typeface="Calibri" pitchFamily="34" charset="-120"/>
              </a:rPr>
              <a:t>Two functions: reports CRUD with SNS (Node.js) and image analysis (Python).</a:t>
            </a:r>
            <a:endParaRPr lang="en-US" sz="1350" dirty="0"/>
          </a:p>
        </p:txBody>
      </p:sp>
      <p:sp>
        <p:nvSpPr>
          <p:cNvPr id="12" name="Shape 10"/>
          <p:cNvSpPr/>
          <p:nvPr/>
        </p:nvSpPr>
        <p:spPr>
          <a:xfrm>
            <a:off x="566928" y="3712464"/>
            <a:ext cx="5346040" cy="768096"/>
          </a:xfrm>
          <a:prstGeom prst="roundRect">
            <a:avLst>
              <a:gd name="adj" fmla="val 11905"/>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3" name="Text 11"/>
          <p:cNvSpPr/>
          <p:nvPr/>
        </p:nvSpPr>
        <p:spPr>
          <a:xfrm>
            <a:off x="804672" y="3767328"/>
            <a:ext cx="4870552" cy="310896"/>
          </a:xfrm>
          <a:prstGeom prst="rect">
            <a:avLst/>
          </a:prstGeom>
          <a:noFill/>
          <a:ln/>
        </p:spPr>
        <p:txBody>
          <a:bodyPr wrap="square" lIns="0" tIns="0" rIns="0" bIns="0" rtlCol="0" anchor="ctr"/>
          <a:lstStyle/>
          <a:p>
            <a:pPr marL="0" indent="0">
              <a:buNone/>
            </a:pPr>
            <a:r>
              <a:rPr lang="en-US" sz="1550" b="1" dirty="0">
                <a:solidFill>
                  <a:srgbClr val="0D2A22"/>
                </a:solidFill>
                <a:latin typeface="Calibri" pitchFamily="34" charset="0"/>
                <a:ea typeface="Calibri" pitchFamily="34" charset="-122"/>
                <a:cs typeface="Calibri" pitchFamily="34" charset="-120"/>
              </a:rPr>
              <a:t>Amazon API Gateway</a:t>
            </a:r>
            <a:endParaRPr lang="en-US" sz="1550" dirty="0"/>
          </a:p>
        </p:txBody>
      </p:sp>
      <p:sp>
        <p:nvSpPr>
          <p:cNvPr id="14" name="Text 12"/>
          <p:cNvSpPr/>
          <p:nvPr/>
        </p:nvSpPr>
        <p:spPr>
          <a:xfrm>
            <a:off x="804672" y="4078224"/>
            <a:ext cx="4870552" cy="365760"/>
          </a:xfrm>
          <a:prstGeom prst="rect">
            <a:avLst/>
          </a:prstGeom>
          <a:noFill/>
          <a:ln/>
        </p:spPr>
        <p:txBody>
          <a:bodyPr wrap="square" lIns="0" tIns="0" rIns="0" bIns="0" rtlCol="0" anchor="t"/>
          <a:lstStyle/>
          <a:p>
            <a:pPr marL="0" indent="0">
              <a:buNone/>
            </a:pPr>
            <a:r>
              <a:rPr lang="en-US" sz="1350" dirty="0">
                <a:solidFill>
                  <a:srgbClr val="5C6E68"/>
                </a:solidFill>
                <a:latin typeface="Calibri" pitchFamily="34" charset="0"/>
                <a:ea typeface="Calibri" pitchFamily="34" charset="-122"/>
                <a:cs typeface="Calibri" pitchFamily="34" charset="-120"/>
              </a:rPr>
              <a:t>HTTP API that validates the Cognito JWT and routes each request to Lambda.</a:t>
            </a:r>
            <a:endParaRPr lang="en-US" sz="1350" dirty="0"/>
          </a:p>
        </p:txBody>
      </p:sp>
      <p:sp>
        <p:nvSpPr>
          <p:cNvPr id="15" name="Shape 13"/>
          <p:cNvSpPr/>
          <p:nvPr/>
        </p:nvSpPr>
        <p:spPr>
          <a:xfrm>
            <a:off x="566928" y="4535424"/>
            <a:ext cx="5346040" cy="768096"/>
          </a:xfrm>
          <a:prstGeom prst="roundRect">
            <a:avLst>
              <a:gd name="adj" fmla="val 11905"/>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6" name="Text 14"/>
          <p:cNvSpPr/>
          <p:nvPr/>
        </p:nvSpPr>
        <p:spPr>
          <a:xfrm>
            <a:off x="804672" y="4590288"/>
            <a:ext cx="4870552" cy="310896"/>
          </a:xfrm>
          <a:prstGeom prst="rect">
            <a:avLst/>
          </a:prstGeom>
          <a:noFill/>
          <a:ln/>
        </p:spPr>
        <p:txBody>
          <a:bodyPr wrap="square" lIns="0" tIns="0" rIns="0" bIns="0" rtlCol="0" anchor="ctr"/>
          <a:lstStyle/>
          <a:p>
            <a:pPr marL="0" indent="0">
              <a:buNone/>
            </a:pPr>
            <a:r>
              <a:rPr lang="en-US" sz="1550" b="1" dirty="0">
                <a:solidFill>
                  <a:srgbClr val="0D2A22"/>
                </a:solidFill>
                <a:latin typeface="Calibri" pitchFamily="34" charset="0"/>
                <a:ea typeface="Calibri" pitchFamily="34" charset="-122"/>
                <a:cs typeface="Calibri" pitchFamily="34" charset="-120"/>
              </a:rPr>
              <a:t>Amazon RDS MySQL</a:t>
            </a:r>
            <a:endParaRPr lang="en-US" sz="1550" dirty="0"/>
          </a:p>
        </p:txBody>
      </p:sp>
      <p:sp>
        <p:nvSpPr>
          <p:cNvPr id="17" name="Text 15"/>
          <p:cNvSpPr/>
          <p:nvPr/>
        </p:nvSpPr>
        <p:spPr>
          <a:xfrm>
            <a:off x="804672" y="4901184"/>
            <a:ext cx="4870552" cy="365760"/>
          </a:xfrm>
          <a:prstGeom prst="rect">
            <a:avLst/>
          </a:prstGeom>
          <a:noFill/>
          <a:ln/>
        </p:spPr>
        <p:txBody>
          <a:bodyPr wrap="square" lIns="0" tIns="0" rIns="0" bIns="0" rtlCol="0" anchor="t"/>
          <a:lstStyle/>
          <a:p>
            <a:pPr marL="0" indent="0">
              <a:buNone/>
            </a:pPr>
            <a:r>
              <a:rPr lang="en-US" sz="1350" dirty="0">
                <a:solidFill>
                  <a:srgbClr val="5C6E68"/>
                </a:solidFill>
                <a:latin typeface="Calibri" pitchFamily="34" charset="0"/>
                <a:ea typeface="Calibri" pitchFamily="34" charset="-122"/>
                <a:cs typeface="Calibri" pitchFamily="34" charset="-120"/>
              </a:rPr>
              <a:t>Persistent reports table, indexed on author, status and creation time.</a:t>
            </a:r>
            <a:endParaRPr lang="en-US" sz="1350" dirty="0"/>
          </a:p>
        </p:txBody>
      </p:sp>
      <p:sp>
        <p:nvSpPr>
          <p:cNvPr id="18" name="Shape 16"/>
          <p:cNvSpPr/>
          <p:nvPr/>
        </p:nvSpPr>
        <p:spPr>
          <a:xfrm>
            <a:off x="566928" y="5358384"/>
            <a:ext cx="5346040" cy="768096"/>
          </a:xfrm>
          <a:prstGeom prst="roundRect">
            <a:avLst>
              <a:gd name="adj" fmla="val 11905"/>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9" name="Text 17"/>
          <p:cNvSpPr/>
          <p:nvPr/>
        </p:nvSpPr>
        <p:spPr>
          <a:xfrm>
            <a:off x="804672" y="5413248"/>
            <a:ext cx="4870552" cy="310896"/>
          </a:xfrm>
          <a:prstGeom prst="rect">
            <a:avLst/>
          </a:prstGeom>
          <a:noFill/>
          <a:ln/>
        </p:spPr>
        <p:txBody>
          <a:bodyPr wrap="square" lIns="0" tIns="0" rIns="0" bIns="0" rtlCol="0" anchor="ctr"/>
          <a:lstStyle/>
          <a:p>
            <a:pPr marL="0" indent="0">
              <a:buNone/>
            </a:pPr>
            <a:r>
              <a:rPr lang="en-US" sz="1550" b="1" dirty="0">
                <a:solidFill>
                  <a:srgbClr val="0D2A22"/>
                </a:solidFill>
                <a:latin typeface="Calibri" pitchFamily="34" charset="0"/>
                <a:ea typeface="Calibri" pitchFamily="34" charset="-122"/>
                <a:cs typeface="Calibri" pitchFamily="34" charset="-120"/>
              </a:rPr>
              <a:t>Rekognition Custom Labels</a:t>
            </a:r>
            <a:endParaRPr lang="en-US" sz="1550" dirty="0"/>
          </a:p>
        </p:txBody>
      </p:sp>
      <p:sp>
        <p:nvSpPr>
          <p:cNvPr id="20" name="Text 18"/>
          <p:cNvSpPr/>
          <p:nvPr/>
        </p:nvSpPr>
        <p:spPr>
          <a:xfrm>
            <a:off x="804672" y="5724144"/>
            <a:ext cx="4870552" cy="365760"/>
          </a:xfrm>
          <a:prstGeom prst="rect">
            <a:avLst/>
          </a:prstGeom>
          <a:noFill/>
          <a:ln/>
        </p:spPr>
        <p:txBody>
          <a:bodyPr wrap="square" lIns="0" tIns="0" rIns="0" bIns="0" rtlCol="0" anchor="t"/>
          <a:lstStyle/>
          <a:p>
            <a:pPr marL="0" indent="0">
              <a:buNone/>
            </a:pPr>
            <a:r>
              <a:rPr lang="en-US" sz="1350" dirty="0">
                <a:solidFill>
                  <a:srgbClr val="5C6E68"/>
                </a:solidFill>
                <a:latin typeface="Calibri" pitchFamily="34" charset="0"/>
                <a:ea typeface="Calibri" pitchFamily="34" charset="-122"/>
                <a:cs typeface="Calibri" pitchFamily="34" charset="-120"/>
              </a:rPr>
              <a:t>Classifies the five campus issue types from the uploaded photo.</a:t>
            </a:r>
            <a:endParaRPr lang="en-US" sz="1350" dirty="0"/>
          </a:p>
        </p:txBody>
      </p:sp>
      <p:sp>
        <p:nvSpPr>
          <p:cNvPr id="21" name="Shape 19"/>
          <p:cNvSpPr/>
          <p:nvPr/>
        </p:nvSpPr>
        <p:spPr>
          <a:xfrm>
            <a:off x="6278728" y="1517904"/>
            <a:ext cx="5346040" cy="457200"/>
          </a:xfrm>
          <a:prstGeom prst="roundRect">
            <a:avLst>
              <a:gd name="adj" fmla="val 16000"/>
            </a:avLst>
          </a:prstGeom>
          <a:solidFill>
            <a:srgbClr val="C97C1B"/>
          </a:solidFill>
          <a:ln w="12700">
            <a:solidFill>
              <a:srgbClr val="C97C1B"/>
            </a:solidFill>
            <a:prstDash val="solid"/>
          </a:ln>
        </p:spPr>
        <p:txBody>
          <a:bodyPr/>
          <a:lstStyle/>
          <a:p>
            <a:endParaRPr lang="en-US"/>
          </a:p>
        </p:txBody>
      </p:sp>
      <p:sp>
        <p:nvSpPr>
          <p:cNvPr id="22" name="Text 20"/>
          <p:cNvSpPr/>
          <p:nvPr/>
        </p:nvSpPr>
        <p:spPr>
          <a:xfrm>
            <a:off x="6516472" y="1517904"/>
            <a:ext cx="4870552" cy="45720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Additional services — added value</a:t>
            </a:r>
            <a:endParaRPr lang="en-US" sz="1500" dirty="0"/>
          </a:p>
        </p:txBody>
      </p:sp>
      <p:sp>
        <p:nvSpPr>
          <p:cNvPr id="23" name="Shape 21"/>
          <p:cNvSpPr/>
          <p:nvPr/>
        </p:nvSpPr>
        <p:spPr>
          <a:xfrm>
            <a:off x="6278728" y="2066544"/>
            <a:ext cx="5346040" cy="768096"/>
          </a:xfrm>
          <a:prstGeom prst="roundRect">
            <a:avLst>
              <a:gd name="adj" fmla="val 11905"/>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24" name="Text 22"/>
          <p:cNvSpPr/>
          <p:nvPr/>
        </p:nvSpPr>
        <p:spPr>
          <a:xfrm>
            <a:off x="6516472" y="2121408"/>
            <a:ext cx="4870552" cy="310896"/>
          </a:xfrm>
          <a:prstGeom prst="rect">
            <a:avLst/>
          </a:prstGeom>
          <a:noFill/>
          <a:ln/>
        </p:spPr>
        <p:txBody>
          <a:bodyPr wrap="square" lIns="0" tIns="0" rIns="0" bIns="0" rtlCol="0" anchor="ctr"/>
          <a:lstStyle/>
          <a:p>
            <a:pPr marL="0" indent="0">
              <a:buNone/>
            </a:pPr>
            <a:r>
              <a:rPr lang="en-US" sz="1550" b="1" dirty="0">
                <a:solidFill>
                  <a:srgbClr val="0D2A22"/>
                </a:solidFill>
                <a:latin typeface="Calibri" pitchFamily="34" charset="0"/>
                <a:ea typeface="Calibri" pitchFamily="34" charset="-122"/>
                <a:cs typeface="Calibri" pitchFamily="34" charset="-120"/>
              </a:rPr>
              <a:t>Amazon Cognito</a:t>
            </a:r>
            <a:endParaRPr lang="en-US" sz="1550" dirty="0"/>
          </a:p>
        </p:txBody>
      </p:sp>
      <p:sp>
        <p:nvSpPr>
          <p:cNvPr id="25" name="Text 23"/>
          <p:cNvSpPr/>
          <p:nvPr/>
        </p:nvSpPr>
        <p:spPr>
          <a:xfrm>
            <a:off x="6516472" y="2432304"/>
            <a:ext cx="4870552" cy="365760"/>
          </a:xfrm>
          <a:prstGeom prst="rect">
            <a:avLst/>
          </a:prstGeom>
          <a:noFill/>
          <a:ln/>
        </p:spPr>
        <p:txBody>
          <a:bodyPr wrap="square" lIns="0" tIns="0" rIns="0" bIns="0" rtlCol="0" anchor="t"/>
          <a:lstStyle/>
          <a:p>
            <a:pPr marL="0" indent="0">
              <a:buNone/>
            </a:pPr>
            <a:r>
              <a:rPr lang="en-US" sz="1350" dirty="0">
                <a:solidFill>
                  <a:srgbClr val="5C6E68"/>
                </a:solidFill>
                <a:latin typeface="Calibri" pitchFamily="34" charset="0"/>
                <a:ea typeface="Calibri" pitchFamily="34" charset="-122"/>
                <a:cs typeface="Calibri" pitchFamily="34" charset="-120"/>
              </a:rPr>
              <a:t>Identity plus students / staff group claims that drive role separation.</a:t>
            </a:r>
            <a:endParaRPr lang="en-US" sz="1350" dirty="0"/>
          </a:p>
        </p:txBody>
      </p:sp>
      <p:sp>
        <p:nvSpPr>
          <p:cNvPr id="26" name="Shape 24"/>
          <p:cNvSpPr/>
          <p:nvPr/>
        </p:nvSpPr>
        <p:spPr>
          <a:xfrm>
            <a:off x="6278728" y="2889504"/>
            <a:ext cx="5346040" cy="768096"/>
          </a:xfrm>
          <a:prstGeom prst="roundRect">
            <a:avLst>
              <a:gd name="adj" fmla="val 11905"/>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27" name="Text 25"/>
          <p:cNvSpPr/>
          <p:nvPr/>
        </p:nvSpPr>
        <p:spPr>
          <a:xfrm>
            <a:off x="6516472" y="2944368"/>
            <a:ext cx="4870552" cy="310896"/>
          </a:xfrm>
          <a:prstGeom prst="rect">
            <a:avLst/>
          </a:prstGeom>
          <a:noFill/>
          <a:ln/>
        </p:spPr>
        <p:txBody>
          <a:bodyPr wrap="square" lIns="0" tIns="0" rIns="0" bIns="0" rtlCol="0" anchor="ctr"/>
          <a:lstStyle/>
          <a:p>
            <a:pPr marL="0" indent="0">
              <a:buNone/>
            </a:pPr>
            <a:r>
              <a:rPr lang="en-US" sz="1550" b="1" dirty="0">
                <a:solidFill>
                  <a:srgbClr val="0D2A22"/>
                </a:solidFill>
                <a:latin typeface="Calibri" pitchFamily="34" charset="0"/>
                <a:ea typeface="Calibri" pitchFamily="34" charset="-122"/>
                <a:cs typeface="Calibri" pitchFamily="34" charset="-120"/>
              </a:rPr>
              <a:t>Amazon CloudFront</a:t>
            </a:r>
            <a:endParaRPr lang="en-US" sz="1550" dirty="0"/>
          </a:p>
        </p:txBody>
      </p:sp>
      <p:sp>
        <p:nvSpPr>
          <p:cNvPr id="28" name="Text 26"/>
          <p:cNvSpPr/>
          <p:nvPr/>
        </p:nvSpPr>
        <p:spPr>
          <a:xfrm>
            <a:off x="6516472" y="3255264"/>
            <a:ext cx="4870552" cy="365760"/>
          </a:xfrm>
          <a:prstGeom prst="rect">
            <a:avLst/>
          </a:prstGeom>
          <a:noFill/>
          <a:ln/>
        </p:spPr>
        <p:txBody>
          <a:bodyPr wrap="square" lIns="0" tIns="0" rIns="0" bIns="0" rtlCol="0" anchor="t"/>
          <a:lstStyle/>
          <a:p>
            <a:pPr marL="0" indent="0">
              <a:buNone/>
            </a:pPr>
            <a:r>
              <a:rPr lang="en-US" sz="1350" dirty="0">
                <a:solidFill>
                  <a:srgbClr val="5C6E68"/>
                </a:solidFill>
                <a:latin typeface="Calibri" pitchFamily="34" charset="0"/>
                <a:ea typeface="Calibri" pitchFamily="34" charset="-122"/>
                <a:cs typeface="Calibri" pitchFamily="34" charset="-120"/>
              </a:rPr>
              <a:t>HTTPS delivery and the only permitted read path into the private S3 buckets.</a:t>
            </a:r>
            <a:endParaRPr lang="en-US" sz="1350" dirty="0"/>
          </a:p>
        </p:txBody>
      </p:sp>
      <p:sp>
        <p:nvSpPr>
          <p:cNvPr id="29" name="Shape 27"/>
          <p:cNvSpPr/>
          <p:nvPr/>
        </p:nvSpPr>
        <p:spPr>
          <a:xfrm>
            <a:off x="6278728" y="3712464"/>
            <a:ext cx="5346040" cy="768096"/>
          </a:xfrm>
          <a:prstGeom prst="roundRect">
            <a:avLst>
              <a:gd name="adj" fmla="val 11905"/>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30" name="Text 28"/>
          <p:cNvSpPr/>
          <p:nvPr/>
        </p:nvSpPr>
        <p:spPr>
          <a:xfrm>
            <a:off x="6516472" y="3767328"/>
            <a:ext cx="4870552" cy="310896"/>
          </a:xfrm>
          <a:prstGeom prst="rect">
            <a:avLst/>
          </a:prstGeom>
          <a:noFill/>
          <a:ln/>
        </p:spPr>
        <p:txBody>
          <a:bodyPr wrap="square" lIns="0" tIns="0" rIns="0" bIns="0" rtlCol="0" anchor="ctr"/>
          <a:lstStyle/>
          <a:p>
            <a:pPr marL="0" indent="0">
              <a:buNone/>
            </a:pPr>
            <a:r>
              <a:rPr lang="en-US" sz="1550" b="1" dirty="0">
                <a:solidFill>
                  <a:srgbClr val="0D2A22"/>
                </a:solidFill>
                <a:latin typeface="Calibri" pitchFamily="34" charset="0"/>
                <a:ea typeface="Calibri" pitchFamily="34" charset="-122"/>
                <a:cs typeface="Calibri" pitchFamily="34" charset="-120"/>
              </a:rPr>
              <a:t>Amazon SNS</a:t>
            </a:r>
            <a:endParaRPr lang="en-US" sz="1550" dirty="0"/>
          </a:p>
        </p:txBody>
      </p:sp>
      <p:sp>
        <p:nvSpPr>
          <p:cNvPr id="31" name="Text 29"/>
          <p:cNvSpPr/>
          <p:nvPr/>
        </p:nvSpPr>
        <p:spPr>
          <a:xfrm>
            <a:off x="6516472" y="4078224"/>
            <a:ext cx="4870552" cy="365760"/>
          </a:xfrm>
          <a:prstGeom prst="rect">
            <a:avLst/>
          </a:prstGeom>
          <a:noFill/>
          <a:ln/>
        </p:spPr>
        <p:txBody>
          <a:bodyPr wrap="square" lIns="0" tIns="0" rIns="0" bIns="0" rtlCol="0" anchor="t"/>
          <a:lstStyle/>
          <a:p>
            <a:pPr marL="0" indent="0">
              <a:buNone/>
            </a:pPr>
            <a:r>
              <a:rPr lang="en-US" sz="1350" dirty="0">
                <a:solidFill>
                  <a:srgbClr val="5C6E68"/>
                </a:solidFill>
                <a:latin typeface="Calibri" pitchFamily="34" charset="0"/>
                <a:ea typeface="Calibri" pitchFamily="34" charset="-122"/>
                <a:cs typeface="Calibri" pitchFamily="34" charset="-120"/>
              </a:rPr>
              <a:t>Publishes new-report alerts to staff and status updates back to students.</a:t>
            </a:r>
            <a:endParaRPr lang="en-US" sz="1350" dirty="0"/>
          </a:p>
        </p:txBody>
      </p:sp>
      <p:sp>
        <p:nvSpPr>
          <p:cNvPr id="32" name="Shape 30"/>
          <p:cNvSpPr/>
          <p:nvPr/>
        </p:nvSpPr>
        <p:spPr>
          <a:xfrm>
            <a:off x="6278728" y="4535424"/>
            <a:ext cx="5346040" cy="768096"/>
          </a:xfrm>
          <a:prstGeom prst="roundRect">
            <a:avLst>
              <a:gd name="adj" fmla="val 11905"/>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33" name="Text 31"/>
          <p:cNvSpPr/>
          <p:nvPr/>
        </p:nvSpPr>
        <p:spPr>
          <a:xfrm>
            <a:off x="6516472" y="4590288"/>
            <a:ext cx="4870552" cy="310896"/>
          </a:xfrm>
          <a:prstGeom prst="rect">
            <a:avLst/>
          </a:prstGeom>
          <a:noFill/>
          <a:ln/>
        </p:spPr>
        <p:txBody>
          <a:bodyPr wrap="square" lIns="0" tIns="0" rIns="0" bIns="0" rtlCol="0" anchor="ctr"/>
          <a:lstStyle/>
          <a:p>
            <a:pPr marL="0" indent="0">
              <a:buNone/>
            </a:pPr>
            <a:r>
              <a:rPr lang="en-US" sz="1550" b="1" dirty="0">
                <a:solidFill>
                  <a:srgbClr val="0D2A22"/>
                </a:solidFill>
                <a:latin typeface="Calibri" pitchFamily="34" charset="0"/>
                <a:ea typeface="Calibri" pitchFamily="34" charset="-122"/>
                <a:cs typeface="Calibri" pitchFamily="34" charset="-120"/>
              </a:rPr>
              <a:t>Amazon Location Service</a:t>
            </a:r>
            <a:endParaRPr lang="en-US" sz="1550" dirty="0"/>
          </a:p>
        </p:txBody>
      </p:sp>
      <p:sp>
        <p:nvSpPr>
          <p:cNvPr id="34" name="Text 32"/>
          <p:cNvSpPr/>
          <p:nvPr/>
        </p:nvSpPr>
        <p:spPr>
          <a:xfrm>
            <a:off x="6516472" y="4901184"/>
            <a:ext cx="4870552" cy="365760"/>
          </a:xfrm>
          <a:prstGeom prst="rect">
            <a:avLst/>
          </a:prstGeom>
          <a:noFill/>
          <a:ln/>
        </p:spPr>
        <p:txBody>
          <a:bodyPr wrap="square" lIns="0" tIns="0" rIns="0" bIns="0" rtlCol="0" anchor="t"/>
          <a:lstStyle/>
          <a:p>
            <a:pPr marL="0" indent="0">
              <a:buNone/>
            </a:pPr>
            <a:r>
              <a:rPr lang="en-US" sz="1350" dirty="0">
                <a:solidFill>
                  <a:srgbClr val="5C6E68"/>
                </a:solidFill>
                <a:latin typeface="Calibri" pitchFamily="34" charset="0"/>
                <a:ea typeface="Calibri" pitchFamily="34" charset="-122"/>
                <a:cs typeface="Calibri" pitchFamily="34" charset="-120"/>
              </a:rPr>
              <a:t>Interactive campus map that records the exact coordinates of an issue.</a:t>
            </a:r>
            <a:endParaRPr lang="en-US" sz="1350" dirty="0"/>
          </a:p>
        </p:txBody>
      </p:sp>
      <p:sp>
        <p:nvSpPr>
          <p:cNvPr id="35" name="Shape 33"/>
          <p:cNvSpPr/>
          <p:nvPr/>
        </p:nvSpPr>
        <p:spPr>
          <a:xfrm>
            <a:off x="6278728" y="5358384"/>
            <a:ext cx="5346040" cy="768096"/>
          </a:xfrm>
          <a:prstGeom prst="roundRect">
            <a:avLst>
              <a:gd name="adj" fmla="val 11905"/>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36" name="Text 34"/>
          <p:cNvSpPr/>
          <p:nvPr/>
        </p:nvSpPr>
        <p:spPr>
          <a:xfrm>
            <a:off x="6516472" y="5413248"/>
            <a:ext cx="4870552" cy="310896"/>
          </a:xfrm>
          <a:prstGeom prst="rect">
            <a:avLst/>
          </a:prstGeom>
          <a:noFill/>
          <a:ln/>
        </p:spPr>
        <p:txBody>
          <a:bodyPr wrap="square" lIns="0" tIns="0" rIns="0" bIns="0" rtlCol="0" anchor="ctr"/>
          <a:lstStyle/>
          <a:p>
            <a:pPr marL="0" indent="0">
              <a:buNone/>
            </a:pPr>
            <a:r>
              <a:rPr lang="en-US" sz="1550" b="1" dirty="0">
                <a:solidFill>
                  <a:srgbClr val="0D2A22"/>
                </a:solidFill>
                <a:latin typeface="Calibri" pitchFamily="34" charset="0"/>
                <a:ea typeface="Calibri" pitchFamily="34" charset="-122"/>
                <a:cs typeface="Calibri" pitchFamily="34" charset="-120"/>
              </a:rPr>
              <a:t>AWS IAM</a:t>
            </a:r>
            <a:endParaRPr lang="en-US" sz="1550" dirty="0"/>
          </a:p>
        </p:txBody>
      </p:sp>
      <p:sp>
        <p:nvSpPr>
          <p:cNvPr id="37" name="Text 35"/>
          <p:cNvSpPr/>
          <p:nvPr/>
        </p:nvSpPr>
        <p:spPr>
          <a:xfrm>
            <a:off x="6516472" y="5724144"/>
            <a:ext cx="4870552" cy="365760"/>
          </a:xfrm>
          <a:prstGeom prst="rect">
            <a:avLst/>
          </a:prstGeom>
          <a:noFill/>
          <a:ln/>
        </p:spPr>
        <p:txBody>
          <a:bodyPr wrap="square" lIns="0" tIns="0" rIns="0" bIns="0" rtlCol="0" anchor="t"/>
          <a:lstStyle/>
          <a:p>
            <a:pPr marL="0" indent="0">
              <a:buNone/>
            </a:pPr>
            <a:r>
              <a:rPr lang="en-US" sz="1350" dirty="0">
                <a:solidFill>
                  <a:srgbClr val="5C6E68"/>
                </a:solidFill>
                <a:latin typeface="Calibri" pitchFamily="34" charset="0"/>
                <a:ea typeface="Calibri" pitchFamily="34" charset="-122"/>
                <a:cs typeface="Calibri" pitchFamily="34" charset="-120"/>
              </a:rPr>
              <a:t>Least-privilege permissions for every service-to-service call.</a:t>
            </a:r>
            <a:endParaRPr lang="en-US" sz="1350" dirty="0"/>
          </a:p>
        </p:txBody>
      </p:sp>
      <p:sp>
        <p:nvSpPr>
          <p:cNvPr id="39" name="Text 37"/>
          <p:cNvSpPr/>
          <p:nvPr/>
        </p:nvSpPr>
        <p:spPr>
          <a:xfrm>
            <a:off x="10801807" y="6382512"/>
            <a:ext cx="822960" cy="292608"/>
          </a:xfrm>
          <a:prstGeom prst="rect">
            <a:avLst/>
          </a:prstGeom>
          <a:noFill/>
          <a:ln/>
        </p:spPr>
        <p:txBody>
          <a:bodyPr wrap="square" lIns="0" tIns="0" rIns="0" bIns="0" rtlCol="0" anchor="ctr"/>
          <a:lstStyle/>
          <a:p>
            <a:pPr marL="0" indent="0" algn="r">
              <a:buNone/>
            </a:pPr>
            <a:r>
              <a:rPr lang="en-US" sz="1100" b="1" dirty="0">
                <a:solidFill>
                  <a:srgbClr val="0F6B4F"/>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7FAF9"/>
        </a:solidFill>
        <a:effectLst/>
      </p:bgPr>
    </p:bg>
    <p:spTree>
      <p:nvGrpSpPr>
        <p:cNvPr id="1" name=""/>
        <p:cNvGrpSpPr/>
        <p:nvPr/>
      </p:nvGrpSpPr>
      <p:grpSpPr>
        <a:xfrm>
          <a:off x="0" y="0"/>
          <a:ext cx="0" cy="0"/>
          <a:chOff x="0" y="0"/>
          <a:chExt cx="0" cy="0"/>
        </a:xfrm>
      </p:grpSpPr>
      <p:sp>
        <p:nvSpPr>
          <p:cNvPr id="2" name="Text 0"/>
          <p:cNvSpPr/>
          <p:nvPr/>
        </p:nvSpPr>
        <p:spPr>
          <a:xfrm>
            <a:off x="566928" y="347472"/>
            <a:ext cx="11057839" cy="566928"/>
          </a:xfrm>
          <a:prstGeom prst="rect">
            <a:avLst/>
          </a:prstGeom>
          <a:noFill/>
          <a:ln/>
        </p:spPr>
        <p:txBody>
          <a:bodyPr wrap="square" lIns="0" tIns="0" rIns="0" bIns="0" rtlCol="0" anchor="ctr"/>
          <a:lstStyle/>
          <a:p>
            <a:pPr marL="0" indent="0">
              <a:buNone/>
            </a:pPr>
            <a:r>
              <a:rPr lang="en-US" sz="3200" b="1" dirty="0">
                <a:solidFill>
                  <a:srgbClr val="0D2A22"/>
                </a:solidFill>
                <a:latin typeface="Calibri" pitchFamily="34" charset="0"/>
                <a:ea typeface="Calibri" pitchFamily="34" charset="-122"/>
                <a:cs typeface="Calibri" pitchFamily="34" charset="-120"/>
              </a:rPr>
              <a:t>AWS Rekognition Development</a:t>
            </a:r>
            <a:endParaRPr lang="en-US" sz="3200" dirty="0"/>
          </a:p>
        </p:txBody>
      </p:sp>
      <p:sp>
        <p:nvSpPr>
          <p:cNvPr id="3" name="Text 1"/>
          <p:cNvSpPr/>
          <p:nvPr/>
        </p:nvSpPr>
        <p:spPr>
          <a:xfrm>
            <a:off x="566928" y="932688"/>
            <a:ext cx="11057839" cy="365760"/>
          </a:xfrm>
          <a:prstGeom prst="rect">
            <a:avLst/>
          </a:prstGeom>
          <a:noFill/>
          <a:ln/>
        </p:spPr>
        <p:txBody>
          <a:bodyPr wrap="square" lIns="0" tIns="0" rIns="0" bIns="0" rtlCol="0" anchor="ctr"/>
          <a:lstStyle/>
          <a:p>
            <a:pPr marL="0" indent="0">
              <a:buNone/>
            </a:pPr>
            <a:r>
              <a:rPr lang="en-US" sz="1550" dirty="0">
                <a:solidFill>
                  <a:srgbClr val="5C6E68"/>
                </a:solidFill>
                <a:latin typeface="Calibri" pitchFamily="34" charset="0"/>
                <a:ea typeface="Calibri" pitchFamily="34" charset="-122"/>
                <a:cs typeface="Calibri" pitchFamily="34" charset="-120"/>
              </a:rPr>
              <a:t>A Custom Labels model trained for campus issues — not generic object detection</a:t>
            </a:r>
            <a:endParaRPr lang="en-US" sz="1550" dirty="0"/>
          </a:p>
        </p:txBody>
      </p:sp>
      <p:sp>
        <p:nvSpPr>
          <p:cNvPr id="4" name="Shape 2"/>
          <p:cNvSpPr/>
          <p:nvPr/>
        </p:nvSpPr>
        <p:spPr>
          <a:xfrm>
            <a:off x="566928" y="1536192"/>
            <a:ext cx="1801368" cy="1060704"/>
          </a:xfrm>
          <a:prstGeom prst="roundRect">
            <a:avLst>
              <a:gd name="adj" fmla="val 8621"/>
            </a:avLst>
          </a:prstGeom>
          <a:solidFill>
            <a:srgbClr val="E4F2EC"/>
          </a:solidFill>
          <a:ln w="12700">
            <a:solidFill>
              <a:srgbClr val="E4F2EC"/>
            </a:solidFill>
            <a:prstDash val="solid"/>
          </a:ln>
        </p:spPr>
        <p:txBody>
          <a:bodyPr/>
          <a:lstStyle/>
          <a:p>
            <a:endParaRPr lang="en-US"/>
          </a:p>
        </p:txBody>
      </p:sp>
      <p:sp>
        <p:nvSpPr>
          <p:cNvPr id="5" name="Text 3"/>
          <p:cNvSpPr/>
          <p:nvPr/>
        </p:nvSpPr>
        <p:spPr>
          <a:xfrm>
            <a:off x="566928" y="1591056"/>
            <a:ext cx="1801368" cy="548640"/>
          </a:xfrm>
          <a:prstGeom prst="rect">
            <a:avLst/>
          </a:prstGeom>
          <a:noFill/>
          <a:ln/>
        </p:spPr>
        <p:txBody>
          <a:bodyPr wrap="square" lIns="0" tIns="0" rIns="0" bIns="0" rtlCol="0" anchor="ctr"/>
          <a:lstStyle/>
          <a:p>
            <a:pPr marL="0" indent="0" algn="ctr">
              <a:buNone/>
            </a:pPr>
            <a:r>
              <a:rPr lang="en-US" sz="3000" b="1" dirty="0">
                <a:solidFill>
                  <a:srgbClr val="0F6B4F"/>
                </a:solidFill>
                <a:latin typeface="Calibri" pitchFamily="34" charset="0"/>
                <a:ea typeface="Calibri" pitchFamily="34" charset="-122"/>
                <a:cs typeface="Calibri" pitchFamily="34" charset="-120"/>
              </a:rPr>
              <a:t>131</a:t>
            </a:r>
            <a:endParaRPr lang="en-US" sz="3000" dirty="0"/>
          </a:p>
        </p:txBody>
      </p:sp>
      <p:sp>
        <p:nvSpPr>
          <p:cNvPr id="6" name="Text 4"/>
          <p:cNvSpPr/>
          <p:nvPr/>
        </p:nvSpPr>
        <p:spPr>
          <a:xfrm>
            <a:off x="566928" y="2121408"/>
            <a:ext cx="1801368" cy="365760"/>
          </a:xfrm>
          <a:prstGeom prst="rect">
            <a:avLst/>
          </a:prstGeom>
          <a:noFill/>
          <a:ln/>
        </p:spPr>
        <p:txBody>
          <a:bodyPr wrap="square" lIns="0" tIns="0" rIns="0" bIns="0" rtlCol="0" anchor="t"/>
          <a:lstStyle/>
          <a:p>
            <a:pPr marL="0" indent="0" algn="ctr">
              <a:buNone/>
            </a:pPr>
            <a:r>
              <a:rPr lang="en-US" sz="1250" dirty="0">
                <a:solidFill>
                  <a:srgbClr val="5C6E68"/>
                </a:solidFill>
                <a:latin typeface="Calibri" pitchFamily="34" charset="0"/>
                <a:ea typeface="Calibri" pitchFamily="34" charset="-122"/>
                <a:cs typeface="Calibri" pitchFamily="34" charset="-120"/>
              </a:rPr>
              <a:t>training images</a:t>
            </a:r>
            <a:endParaRPr lang="en-US" sz="1250" dirty="0"/>
          </a:p>
        </p:txBody>
      </p:sp>
      <p:sp>
        <p:nvSpPr>
          <p:cNvPr id="7" name="Shape 5"/>
          <p:cNvSpPr/>
          <p:nvPr/>
        </p:nvSpPr>
        <p:spPr>
          <a:xfrm>
            <a:off x="2569464" y="1536192"/>
            <a:ext cx="1801368" cy="1060704"/>
          </a:xfrm>
          <a:prstGeom prst="roundRect">
            <a:avLst>
              <a:gd name="adj" fmla="val 8621"/>
            </a:avLst>
          </a:prstGeom>
          <a:solidFill>
            <a:srgbClr val="E4F2EC"/>
          </a:solidFill>
          <a:ln w="12700">
            <a:solidFill>
              <a:srgbClr val="E4F2EC"/>
            </a:solidFill>
            <a:prstDash val="solid"/>
          </a:ln>
        </p:spPr>
        <p:txBody>
          <a:bodyPr/>
          <a:lstStyle/>
          <a:p>
            <a:endParaRPr lang="en-US"/>
          </a:p>
        </p:txBody>
      </p:sp>
      <p:sp>
        <p:nvSpPr>
          <p:cNvPr id="8" name="Text 6"/>
          <p:cNvSpPr/>
          <p:nvPr/>
        </p:nvSpPr>
        <p:spPr>
          <a:xfrm>
            <a:off x="2569464" y="1591056"/>
            <a:ext cx="1801368" cy="548640"/>
          </a:xfrm>
          <a:prstGeom prst="rect">
            <a:avLst/>
          </a:prstGeom>
          <a:noFill/>
          <a:ln/>
        </p:spPr>
        <p:txBody>
          <a:bodyPr wrap="square" lIns="0" tIns="0" rIns="0" bIns="0" rtlCol="0" anchor="ctr"/>
          <a:lstStyle/>
          <a:p>
            <a:pPr marL="0" indent="0" algn="ctr">
              <a:buNone/>
            </a:pPr>
            <a:r>
              <a:rPr lang="en-US" sz="3000" b="1" dirty="0">
                <a:solidFill>
                  <a:srgbClr val="0F6B4F"/>
                </a:solidFill>
                <a:latin typeface="Calibri" pitchFamily="34" charset="0"/>
                <a:ea typeface="Calibri" pitchFamily="34" charset="-122"/>
                <a:cs typeface="Calibri" pitchFamily="34" charset="-120"/>
              </a:rPr>
              <a:t>59</a:t>
            </a:r>
            <a:endParaRPr lang="en-US" sz="3000" dirty="0"/>
          </a:p>
        </p:txBody>
      </p:sp>
      <p:sp>
        <p:nvSpPr>
          <p:cNvPr id="9" name="Text 7"/>
          <p:cNvSpPr/>
          <p:nvPr/>
        </p:nvSpPr>
        <p:spPr>
          <a:xfrm>
            <a:off x="2569464" y="2121408"/>
            <a:ext cx="1801368" cy="365760"/>
          </a:xfrm>
          <a:prstGeom prst="rect">
            <a:avLst/>
          </a:prstGeom>
          <a:noFill/>
          <a:ln/>
        </p:spPr>
        <p:txBody>
          <a:bodyPr wrap="square" lIns="0" tIns="0" rIns="0" bIns="0" rtlCol="0" anchor="t"/>
          <a:lstStyle/>
          <a:p>
            <a:pPr marL="0" indent="0" algn="ctr">
              <a:buNone/>
            </a:pPr>
            <a:r>
              <a:rPr lang="en-US" sz="1250" dirty="0">
                <a:solidFill>
                  <a:srgbClr val="5C6E68"/>
                </a:solidFill>
                <a:latin typeface="Calibri" pitchFamily="34" charset="0"/>
                <a:ea typeface="Calibri" pitchFamily="34" charset="-122"/>
                <a:cs typeface="Calibri" pitchFamily="34" charset="-120"/>
              </a:rPr>
              <a:t>test images</a:t>
            </a:r>
            <a:endParaRPr lang="en-US" sz="1250" dirty="0"/>
          </a:p>
        </p:txBody>
      </p:sp>
      <p:sp>
        <p:nvSpPr>
          <p:cNvPr id="10" name="Shape 8"/>
          <p:cNvSpPr/>
          <p:nvPr/>
        </p:nvSpPr>
        <p:spPr>
          <a:xfrm>
            <a:off x="4572000" y="1536192"/>
            <a:ext cx="1801368" cy="1060704"/>
          </a:xfrm>
          <a:prstGeom prst="roundRect">
            <a:avLst>
              <a:gd name="adj" fmla="val 8621"/>
            </a:avLst>
          </a:prstGeom>
          <a:solidFill>
            <a:srgbClr val="E4F2EC"/>
          </a:solidFill>
          <a:ln w="12700">
            <a:solidFill>
              <a:srgbClr val="E4F2EC"/>
            </a:solidFill>
            <a:prstDash val="solid"/>
          </a:ln>
        </p:spPr>
        <p:txBody>
          <a:bodyPr/>
          <a:lstStyle/>
          <a:p>
            <a:endParaRPr lang="en-US"/>
          </a:p>
        </p:txBody>
      </p:sp>
      <p:sp>
        <p:nvSpPr>
          <p:cNvPr id="11" name="Text 9"/>
          <p:cNvSpPr/>
          <p:nvPr/>
        </p:nvSpPr>
        <p:spPr>
          <a:xfrm>
            <a:off x="4572000" y="1591056"/>
            <a:ext cx="1801368" cy="548640"/>
          </a:xfrm>
          <a:prstGeom prst="rect">
            <a:avLst/>
          </a:prstGeom>
          <a:noFill/>
          <a:ln/>
        </p:spPr>
        <p:txBody>
          <a:bodyPr wrap="square" lIns="0" tIns="0" rIns="0" bIns="0" rtlCol="0" anchor="ctr"/>
          <a:lstStyle/>
          <a:p>
            <a:pPr marL="0" indent="0" algn="ctr">
              <a:buNone/>
            </a:pPr>
            <a:r>
              <a:rPr lang="en-US" sz="3000" b="1" dirty="0">
                <a:solidFill>
                  <a:srgbClr val="0F6B4F"/>
                </a:solidFill>
                <a:latin typeface="Calibri" pitchFamily="34" charset="0"/>
                <a:ea typeface="Calibri" pitchFamily="34" charset="-122"/>
                <a:cs typeface="Calibri" pitchFamily="34" charset="-120"/>
              </a:rPr>
              <a:t>0.975</a:t>
            </a:r>
            <a:endParaRPr lang="en-US" sz="3000" dirty="0"/>
          </a:p>
        </p:txBody>
      </p:sp>
      <p:sp>
        <p:nvSpPr>
          <p:cNvPr id="12" name="Text 10"/>
          <p:cNvSpPr/>
          <p:nvPr/>
        </p:nvSpPr>
        <p:spPr>
          <a:xfrm>
            <a:off x="4572000" y="2121408"/>
            <a:ext cx="1801368" cy="365760"/>
          </a:xfrm>
          <a:prstGeom prst="rect">
            <a:avLst/>
          </a:prstGeom>
          <a:noFill/>
          <a:ln/>
        </p:spPr>
        <p:txBody>
          <a:bodyPr wrap="square" lIns="0" tIns="0" rIns="0" bIns="0" rtlCol="0" anchor="t"/>
          <a:lstStyle/>
          <a:p>
            <a:pPr marL="0" indent="0" algn="ctr">
              <a:buNone/>
            </a:pPr>
            <a:r>
              <a:rPr lang="en-US" sz="1250" dirty="0">
                <a:solidFill>
                  <a:srgbClr val="5C6E68"/>
                </a:solidFill>
                <a:latin typeface="Calibri" pitchFamily="34" charset="0"/>
                <a:ea typeface="Calibri" pitchFamily="34" charset="-122"/>
                <a:cs typeface="Calibri" pitchFamily="34" charset="-120"/>
              </a:rPr>
              <a:t>overall F1 score</a:t>
            </a:r>
            <a:endParaRPr lang="en-US" sz="1250" dirty="0"/>
          </a:p>
        </p:txBody>
      </p:sp>
      <p:sp>
        <p:nvSpPr>
          <p:cNvPr id="13" name="Shape 11"/>
          <p:cNvSpPr/>
          <p:nvPr/>
        </p:nvSpPr>
        <p:spPr>
          <a:xfrm>
            <a:off x="566928" y="2743200"/>
            <a:ext cx="5806440" cy="987552"/>
          </a:xfrm>
          <a:prstGeom prst="roundRect">
            <a:avLst>
              <a:gd name="adj" fmla="val 9259"/>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4" name="Text 12"/>
          <p:cNvSpPr/>
          <p:nvPr/>
        </p:nvSpPr>
        <p:spPr>
          <a:xfrm>
            <a:off x="804672" y="2816352"/>
            <a:ext cx="5330952" cy="310896"/>
          </a:xfrm>
          <a:prstGeom prst="rect">
            <a:avLst/>
          </a:prstGeom>
          <a:noFill/>
          <a:ln/>
        </p:spPr>
        <p:txBody>
          <a:bodyPr wrap="square" lIns="0" tIns="0" rIns="0" bIns="0" rtlCol="0" anchor="ctr"/>
          <a:lstStyle/>
          <a:p>
            <a:pPr marL="0" indent="0">
              <a:buNone/>
            </a:pPr>
            <a:r>
              <a:rPr lang="en-US" sz="1600" b="1" dirty="0">
                <a:solidFill>
                  <a:srgbClr val="0D2A22"/>
                </a:solidFill>
                <a:latin typeface="Calibri" pitchFamily="34" charset="0"/>
                <a:ea typeface="Calibri" pitchFamily="34" charset="-122"/>
                <a:cs typeface="Calibri" pitchFamily="34" charset="-120"/>
              </a:rPr>
              <a:t>Purpose-built classes</a:t>
            </a:r>
            <a:endParaRPr lang="en-US" sz="1600" dirty="0"/>
          </a:p>
        </p:txBody>
      </p:sp>
      <p:sp>
        <p:nvSpPr>
          <p:cNvPr id="15" name="Text 13"/>
          <p:cNvSpPr/>
          <p:nvPr/>
        </p:nvSpPr>
        <p:spPr>
          <a:xfrm>
            <a:off x="804672" y="3127248"/>
            <a:ext cx="5330952" cy="566928"/>
          </a:xfrm>
          <a:prstGeom prst="rect">
            <a:avLst/>
          </a:prstGeom>
          <a:noFill/>
          <a:ln/>
        </p:spPr>
        <p:txBody>
          <a:bodyPr wrap="square" lIns="0" tIns="0" rIns="0" bIns="0" rtlCol="0" anchor="t"/>
          <a:lstStyle/>
          <a:p>
            <a:pPr marL="0" indent="0">
              <a:lnSpc>
                <a:spcPts val="1800"/>
              </a:lnSpc>
              <a:buNone/>
            </a:pPr>
            <a:r>
              <a:rPr lang="en-US" sz="1350" dirty="0">
                <a:solidFill>
                  <a:srgbClr val="5C6E68"/>
                </a:solidFill>
                <a:latin typeface="Calibri" pitchFamily="34" charset="0"/>
                <a:ea typeface="Calibri" pitchFamily="34" charset="-122"/>
                <a:cs typeface="Calibri" pitchFamily="34" charset="-120"/>
              </a:rPr>
              <a:t>chair, desk, electrical, staircase and water map one-to-one onto the issue types a student can select.</a:t>
            </a:r>
            <a:endParaRPr lang="en-US" sz="1350" dirty="0"/>
          </a:p>
        </p:txBody>
      </p:sp>
      <p:sp>
        <p:nvSpPr>
          <p:cNvPr id="16" name="Shape 14"/>
          <p:cNvSpPr/>
          <p:nvPr/>
        </p:nvSpPr>
        <p:spPr>
          <a:xfrm>
            <a:off x="566928" y="3840480"/>
            <a:ext cx="5806440" cy="987552"/>
          </a:xfrm>
          <a:prstGeom prst="roundRect">
            <a:avLst>
              <a:gd name="adj" fmla="val 9259"/>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7" name="Text 15"/>
          <p:cNvSpPr/>
          <p:nvPr/>
        </p:nvSpPr>
        <p:spPr>
          <a:xfrm>
            <a:off x="804672" y="3913632"/>
            <a:ext cx="5330952" cy="310896"/>
          </a:xfrm>
          <a:prstGeom prst="rect">
            <a:avLst/>
          </a:prstGeom>
          <a:noFill/>
          <a:ln/>
        </p:spPr>
        <p:txBody>
          <a:bodyPr wrap="square" lIns="0" tIns="0" rIns="0" bIns="0" rtlCol="0" anchor="ctr"/>
          <a:lstStyle/>
          <a:p>
            <a:pPr marL="0" indent="0">
              <a:buNone/>
            </a:pPr>
            <a:r>
              <a:rPr lang="en-US" sz="1600" b="1" dirty="0">
                <a:solidFill>
                  <a:srgbClr val="0D2A22"/>
                </a:solidFill>
                <a:latin typeface="Calibri" pitchFamily="34" charset="0"/>
                <a:ea typeface="Calibri" pitchFamily="34" charset="-122"/>
                <a:cs typeface="Calibri" pitchFamily="34" charset="-120"/>
              </a:rPr>
              <a:t>Dataset organised in S3</a:t>
            </a:r>
            <a:endParaRPr lang="en-US" sz="1600" dirty="0"/>
          </a:p>
        </p:txBody>
      </p:sp>
      <p:sp>
        <p:nvSpPr>
          <p:cNvPr id="18" name="Text 16"/>
          <p:cNvSpPr/>
          <p:nvPr/>
        </p:nvSpPr>
        <p:spPr>
          <a:xfrm>
            <a:off x="804672" y="4224528"/>
            <a:ext cx="5330952" cy="566928"/>
          </a:xfrm>
          <a:prstGeom prst="rect">
            <a:avLst/>
          </a:prstGeom>
          <a:noFill/>
          <a:ln/>
        </p:spPr>
        <p:txBody>
          <a:bodyPr wrap="square" lIns="0" tIns="0" rIns="0" bIns="0" rtlCol="0" anchor="t"/>
          <a:lstStyle/>
          <a:p>
            <a:pPr marL="0" indent="0">
              <a:lnSpc>
                <a:spcPts val="1800"/>
              </a:lnSpc>
              <a:buNone/>
            </a:pPr>
            <a:r>
              <a:rPr lang="en-US" sz="1350" dirty="0">
                <a:solidFill>
                  <a:srgbClr val="5C6E68"/>
                </a:solidFill>
                <a:latin typeface="Calibri" pitchFamily="34" charset="0"/>
                <a:ea typeface="Calibri" pitchFamily="34" charset="-122"/>
                <a:cs typeface="Calibri" pitchFamily="34" charset="-120"/>
              </a:rPr>
              <a:t>dataset/train/&lt;class&gt;/ and dataset/test/&lt;class&gt;/ made class membership explicit before training began.</a:t>
            </a:r>
            <a:endParaRPr lang="en-US" sz="1350" dirty="0"/>
          </a:p>
        </p:txBody>
      </p:sp>
      <p:sp>
        <p:nvSpPr>
          <p:cNvPr id="19" name="Shape 17"/>
          <p:cNvSpPr/>
          <p:nvPr/>
        </p:nvSpPr>
        <p:spPr>
          <a:xfrm>
            <a:off x="566928" y="4937760"/>
            <a:ext cx="5806440" cy="987552"/>
          </a:xfrm>
          <a:prstGeom prst="roundRect">
            <a:avLst>
              <a:gd name="adj" fmla="val 9259"/>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20" name="Text 18"/>
          <p:cNvSpPr/>
          <p:nvPr/>
        </p:nvSpPr>
        <p:spPr>
          <a:xfrm>
            <a:off x="804672" y="5010912"/>
            <a:ext cx="5330952" cy="310896"/>
          </a:xfrm>
          <a:prstGeom prst="rect">
            <a:avLst/>
          </a:prstGeom>
          <a:noFill/>
          <a:ln/>
        </p:spPr>
        <p:txBody>
          <a:bodyPr wrap="square" lIns="0" tIns="0" rIns="0" bIns="0" rtlCol="0" anchor="ctr"/>
          <a:lstStyle/>
          <a:p>
            <a:pPr marL="0" indent="0">
              <a:buNone/>
            </a:pPr>
            <a:r>
              <a:rPr lang="en-US" sz="1600" b="1" dirty="0">
                <a:solidFill>
                  <a:srgbClr val="0D2A22"/>
                </a:solidFill>
                <a:latin typeface="Calibri" pitchFamily="34" charset="0"/>
                <a:ea typeface="Calibri" pitchFamily="34" charset="-122"/>
                <a:cs typeface="Calibri" pitchFamily="34" charset="-120"/>
              </a:rPr>
              <a:t>Metrics read before deploy</a:t>
            </a:r>
            <a:endParaRPr lang="en-US" sz="1600" dirty="0"/>
          </a:p>
        </p:txBody>
      </p:sp>
      <p:sp>
        <p:nvSpPr>
          <p:cNvPr id="21" name="Text 19"/>
          <p:cNvSpPr/>
          <p:nvPr/>
        </p:nvSpPr>
        <p:spPr>
          <a:xfrm>
            <a:off x="804672" y="5321808"/>
            <a:ext cx="5330952" cy="566928"/>
          </a:xfrm>
          <a:prstGeom prst="rect">
            <a:avLst/>
          </a:prstGeom>
          <a:noFill/>
          <a:ln/>
        </p:spPr>
        <p:txBody>
          <a:bodyPr wrap="square" lIns="0" tIns="0" rIns="0" bIns="0" rtlCol="0" anchor="t"/>
          <a:lstStyle/>
          <a:p>
            <a:pPr marL="0" indent="0">
              <a:lnSpc>
                <a:spcPts val="1800"/>
              </a:lnSpc>
              <a:buNone/>
            </a:pPr>
            <a:r>
              <a:rPr lang="en-US" sz="1350" dirty="0">
                <a:solidFill>
                  <a:srgbClr val="5C6E68"/>
                </a:solidFill>
                <a:latin typeface="Calibri" pitchFamily="34" charset="0"/>
                <a:ea typeface="Calibri" pitchFamily="34" charset="-122"/>
                <a:cs typeface="Calibri" pitchFamily="34" charset="-120"/>
              </a:rPr>
              <a:t>Precision 0.972, recall 0.980. Staircase and water scored 1.000; desk was weakest at 0.947 and is the next dataset priority.</a:t>
            </a:r>
            <a:endParaRPr lang="en-US" sz="1350" dirty="0"/>
          </a:p>
        </p:txBody>
      </p:sp>
      <p:pic>
        <p:nvPicPr>
          <p:cNvPr id="22" name="Image 0" descr="img/image21.jpg"/>
          <p:cNvPicPr>
            <a:picLocks noChangeAspect="1"/>
          </p:cNvPicPr>
          <p:nvPr/>
        </p:nvPicPr>
        <p:blipFill>
          <a:blip r:embed="rId3"/>
          <a:stretch>
            <a:fillRect/>
          </a:stretch>
        </p:blipFill>
        <p:spPr>
          <a:xfrm>
            <a:off x="6537960" y="1536192"/>
            <a:ext cx="5102352" cy="3227832"/>
          </a:xfrm>
          <a:prstGeom prst="rect">
            <a:avLst/>
          </a:prstGeom>
          <a:effectLst>
            <a:outerShdw blurRad="177800" dist="25400" dir="5400000" algn="bl" rotWithShape="0">
              <a:srgbClr val="0D2A22">
                <a:alpha val="16000"/>
              </a:srgbClr>
            </a:outerShdw>
          </a:effectLst>
        </p:spPr>
      </p:pic>
      <p:sp>
        <p:nvSpPr>
          <p:cNvPr id="23" name="Text 20"/>
          <p:cNvSpPr/>
          <p:nvPr/>
        </p:nvSpPr>
        <p:spPr>
          <a:xfrm>
            <a:off x="6537960" y="4828032"/>
            <a:ext cx="5102352" cy="274320"/>
          </a:xfrm>
          <a:prstGeom prst="rect">
            <a:avLst/>
          </a:prstGeom>
          <a:noFill/>
          <a:ln/>
        </p:spPr>
        <p:txBody>
          <a:bodyPr wrap="square" lIns="0" tIns="0" rIns="0" bIns="0" rtlCol="0" anchor="t"/>
          <a:lstStyle/>
          <a:p>
            <a:pPr marL="0" indent="0" algn="ctr">
              <a:buNone/>
            </a:pPr>
            <a:r>
              <a:rPr lang="en-US" sz="1150" dirty="0">
                <a:solidFill>
                  <a:srgbClr val="5C6E68"/>
                </a:solidFill>
                <a:latin typeface="Calibri" pitchFamily="34" charset="0"/>
                <a:ea typeface="Calibri" pitchFamily="34" charset="-122"/>
                <a:cs typeface="Calibri" pitchFamily="34" charset="-120"/>
              </a:rPr>
              <a:t>Per-label F1, precision, recall and assumed threshold</a:t>
            </a:r>
            <a:endParaRPr lang="en-US" sz="1150" dirty="0"/>
          </a:p>
        </p:txBody>
      </p:sp>
      <p:sp>
        <p:nvSpPr>
          <p:cNvPr id="24" name="Shape 21"/>
          <p:cNvSpPr/>
          <p:nvPr/>
        </p:nvSpPr>
        <p:spPr>
          <a:xfrm>
            <a:off x="6537960" y="5102352"/>
            <a:ext cx="5102352" cy="804672"/>
          </a:xfrm>
          <a:prstGeom prst="roundRect">
            <a:avLst>
              <a:gd name="adj" fmla="val 11364"/>
            </a:avLst>
          </a:prstGeom>
          <a:solidFill>
            <a:srgbClr val="E4F2EC"/>
          </a:solidFill>
          <a:ln w="12700">
            <a:solidFill>
              <a:srgbClr val="E4F2EC"/>
            </a:solidFill>
            <a:prstDash val="solid"/>
          </a:ln>
        </p:spPr>
        <p:txBody>
          <a:bodyPr/>
          <a:lstStyle/>
          <a:p>
            <a:endParaRPr lang="en-US"/>
          </a:p>
        </p:txBody>
      </p:sp>
      <p:sp>
        <p:nvSpPr>
          <p:cNvPr id="25" name="Text 22"/>
          <p:cNvSpPr/>
          <p:nvPr/>
        </p:nvSpPr>
        <p:spPr>
          <a:xfrm>
            <a:off x="6775704" y="5102352"/>
            <a:ext cx="4626864" cy="804672"/>
          </a:xfrm>
          <a:prstGeom prst="rect">
            <a:avLst/>
          </a:prstGeom>
          <a:noFill/>
          <a:ln/>
        </p:spPr>
        <p:txBody>
          <a:bodyPr wrap="square" lIns="0" tIns="0" rIns="0" bIns="0" rtlCol="0" anchor="ctr"/>
          <a:lstStyle/>
          <a:p>
            <a:pPr marL="0" indent="0">
              <a:lnSpc>
                <a:spcPts val="1900"/>
              </a:lnSpc>
              <a:buNone/>
            </a:pPr>
            <a:r>
              <a:rPr lang="en-US" sz="1300" dirty="0">
                <a:solidFill>
                  <a:srgbClr val="5C6E68"/>
                </a:solidFill>
                <a:latin typeface="Calibri" pitchFamily="34" charset="0"/>
                <a:ea typeface="Calibri" pitchFamily="34" charset="-122"/>
                <a:cs typeface="Calibri" pitchFamily="34" charset="-120"/>
              </a:rPr>
              <a:t>Project  </a:t>
            </a:r>
            <a:r>
              <a:rPr lang="en-US" sz="1400" b="1" dirty="0">
                <a:solidFill>
                  <a:srgbClr val="0D2A22"/>
                </a:solidFill>
                <a:latin typeface="Calibri" pitchFamily="34" charset="0"/>
                <a:ea typeface="Calibri" pitchFamily="34" charset="-122"/>
                <a:cs typeface="Calibri" pitchFamily="34" charset="-120"/>
              </a:rPr>
              <a:t>NexSafe-Hazard-Classifier</a:t>
            </a:r>
            <a:r>
              <a:rPr lang="en-US" sz="1300" dirty="0">
                <a:solidFill>
                  <a:srgbClr val="5C6E68"/>
                </a:solidFill>
                <a:latin typeface="Calibri" pitchFamily="34" charset="0"/>
                <a:ea typeface="Calibri" pitchFamily="34" charset="-122"/>
                <a:cs typeface="Calibri" pitchFamily="34" charset="-120"/>
              </a:rPr>
              <a:t>   ·   Region  </a:t>
            </a:r>
            <a:r>
              <a:rPr lang="en-US" sz="1400" b="1" dirty="0">
                <a:solidFill>
                  <a:srgbClr val="0D2A22"/>
                </a:solidFill>
                <a:latin typeface="Calibri" pitchFamily="34" charset="0"/>
                <a:ea typeface="Calibri" pitchFamily="34" charset="-122"/>
                <a:cs typeface="Calibri" pitchFamily="34" charset="-120"/>
              </a:rPr>
              <a:t>ap-southeast-2</a:t>
            </a:r>
            <a:r>
              <a:rPr lang="en-US" sz="1300" dirty="0">
                <a:solidFill>
                  <a:srgbClr val="5C6E68"/>
                </a:solidFill>
                <a:latin typeface="Calibri" pitchFamily="34" charset="0"/>
                <a:ea typeface="Calibri" pitchFamily="34" charset="-122"/>
                <a:cs typeface="Calibri" pitchFamily="34" charset="-120"/>
              </a:rPr>
              <a:t>   ·   Runtime  </a:t>
            </a:r>
            <a:r>
              <a:rPr lang="en-US" sz="1400" b="1" dirty="0">
                <a:solidFill>
                  <a:srgbClr val="0D2A22"/>
                </a:solidFill>
                <a:latin typeface="Calibri" pitchFamily="34" charset="0"/>
                <a:ea typeface="Calibri" pitchFamily="34" charset="-122"/>
                <a:cs typeface="Calibri" pitchFamily="34" charset="-120"/>
              </a:rPr>
              <a:t>1 inference unit</a:t>
            </a:r>
            <a:endParaRPr lang="en-US" sz="1300" dirty="0"/>
          </a:p>
        </p:txBody>
      </p:sp>
      <p:sp>
        <p:nvSpPr>
          <p:cNvPr id="27" name="Text 24"/>
          <p:cNvSpPr/>
          <p:nvPr/>
        </p:nvSpPr>
        <p:spPr>
          <a:xfrm>
            <a:off x="10801807" y="6382512"/>
            <a:ext cx="822960" cy="292608"/>
          </a:xfrm>
          <a:prstGeom prst="rect">
            <a:avLst/>
          </a:prstGeom>
          <a:noFill/>
          <a:ln/>
        </p:spPr>
        <p:txBody>
          <a:bodyPr wrap="square" lIns="0" tIns="0" rIns="0" bIns="0" rtlCol="0" anchor="ctr"/>
          <a:lstStyle/>
          <a:p>
            <a:pPr marL="0" indent="0" algn="r">
              <a:buNone/>
            </a:pPr>
            <a:r>
              <a:rPr lang="en-US" sz="1100" b="1" dirty="0">
                <a:solidFill>
                  <a:srgbClr val="0F6B4F"/>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7FAF9"/>
        </a:solidFill>
        <a:effectLst/>
      </p:bgPr>
    </p:bg>
    <p:spTree>
      <p:nvGrpSpPr>
        <p:cNvPr id="1" name=""/>
        <p:cNvGrpSpPr/>
        <p:nvPr/>
      </p:nvGrpSpPr>
      <p:grpSpPr>
        <a:xfrm>
          <a:off x="0" y="0"/>
          <a:ext cx="0" cy="0"/>
          <a:chOff x="0" y="0"/>
          <a:chExt cx="0" cy="0"/>
        </a:xfrm>
      </p:grpSpPr>
      <p:sp>
        <p:nvSpPr>
          <p:cNvPr id="2" name="Text 0"/>
          <p:cNvSpPr/>
          <p:nvPr/>
        </p:nvSpPr>
        <p:spPr>
          <a:xfrm>
            <a:off x="566928" y="347472"/>
            <a:ext cx="11057839" cy="566928"/>
          </a:xfrm>
          <a:prstGeom prst="rect">
            <a:avLst/>
          </a:prstGeom>
          <a:noFill/>
          <a:ln/>
        </p:spPr>
        <p:txBody>
          <a:bodyPr wrap="square" lIns="0" tIns="0" rIns="0" bIns="0" rtlCol="0" anchor="ctr"/>
          <a:lstStyle/>
          <a:p>
            <a:pPr marL="0" indent="0">
              <a:buNone/>
            </a:pPr>
            <a:r>
              <a:rPr lang="en-US" sz="3200" b="1" dirty="0">
                <a:solidFill>
                  <a:srgbClr val="0D2A22"/>
                </a:solidFill>
                <a:latin typeface="Calibri" pitchFamily="34" charset="0"/>
                <a:ea typeface="Calibri" pitchFamily="34" charset="-122"/>
                <a:cs typeface="Calibri" pitchFamily="34" charset="-120"/>
              </a:rPr>
              <a:t>Rekognition Image Verification Flow</a:t>
            </a:r>
            <a:endParaRPr lang="en-US" sz="3200" dirty="0"/>
          </a:p>
        </p:txBody>
      </p:sp>
      <p:sp>
        <p:nvSpPr>
          <p:cNvPr id="3" name="Text 1"/>
          <p:cNvSpPr/>
          <p:nvPr/>
        </p:nvSpPr>
        <p:spPr>
          <a:xfrm>
            <a:off x="566928" y="932688"/>
            <a:ext cx="11057839" cy="365760"/>
          </a:xfrm>
          <a:prstGeom prst="rect">
            <a:avLst/>
          </a:prstGeom>
          <a:noFill/>
          <a:ln/>
        </p:spPr>
        <p:txBody>
          <a:bodyPr wrap="square" lIns="0" tIns="0" rIns="0" bIns="0" rtlCol="0" anchor="ctr"/>
          <a:lstStyle/>
          <a:p>
            <a:pPr marL="0" indent="0">
              <a:buNone/>
            </a:pPr>
            <a:r>
              <a:rPr lang="en-US" sz="1550" dirty="0">
                <a:solidFill>
                  <a:srgbClr val="5C6E68"/>
                </a:solidFill>
                <a:latin typeface="Calibri" pitchFamily="34" charset="0"/>
                <a:ea typeface="Calibri" pitchFamily="34" charset="-122"/>
                <a:cs typeface="Calibri" pitchFamily="34" charset="-120"/>
              </a:rPr>
              <a:t>How an uploaded photo becomes a confidence score in the browser</a:t>
            </a:r>
            <a:endParaRPr lang="en-US" sz="1550" dirty="0"/>
          </a:p>
        </p:txBody>
      </p:sp>
      <p:pic>
        <p:nvPicPr>
          <p:cNvPr id="4" name="Image 0" descr="img/image23.jpg"/>
          <p:cNvPicPr>
            <a:picLocks noChangeAspect="1"/>
          </p:cNvPicPr>
          <p:nvPr/>
        </p:nvPicPr>
        <p:blipFill>
          <a:blip r:embed="rId3"/>
          <a:stretch>
            <a:fillRect/>
          </a:stretch>
        </p:blipFill>
        <p:spPr>
          <a:xfrm>
            <a:off x="566928" y="1572768"/>
            <a:ext cx="8092440" cy="3465576"/>
          </a:xfrm>
          <a:prstGeom prst="rect">
            <a:avLst/>
          </a:prstGeom>
          <a:effectLst>
            <a:outerShdw blurRad="177800" dist="25400" dir="5400000" algn="bl" rotWithShape="0">
              <a:srgbClr val="0D2A22">
                <a:alpha val="16000"/>
              </a:srgbClr>
            </a:outerShdw>
          </a:effectLst>
        </p:spPr>
      </p:pic>
      <p:pic>
        <p:nvPicPr>
          <p:cNvPr id="5" name="Image 1" descr="img/image11.jpg"/>
          <p:cNvPicPr>
            <a:picLocks noChangeAspect="1"/>
          </p:cNvPicPr>
          <p:nvPr/>
        </p:nvPicPr>
        <p:blipFill>
          <a:blip r:embed="rId4"/>
          <a:stretch>
            <a:fillRect/>
          </a:stretch>
        </p:blipFill>
        <p:spPr>
          <a:xfrm>
            <a:off x="8887968" y="1572768"/>
            <a:ext cx="2736799" cy="1755648"/>
          </a:xfrm>
          <a:prstGeom prst="rect">
            <a:avLst/>
          </a:prstGeom>
          <a:effectLst>
            <a:outerShdw blurRad="177800" dist="25400" dir="5400000" algn="bl" rotWithShape="0">
              <a:srgbClr val="0D2A22">
                <a:alpha val="18000"/>
              </a:srgbClr>
            </a:outerShdw>
          </a:effectLst>
        </p:spPr>
      </p:pic>
      <p:sp>
        <p:nvSpPr>
          <p:cNvPr id="6" name="Shape 2"/>
          <p:cNvSpPr/>
          <p:nvPr/>
        </p:nvSpPr>
        <p:spPr>
          <a:xfrm>
            <a:off x="8887968" y="3456432"/>
            <a:ext cx="2736799" cy="1581912"/>
          </a:xfrm>
          <a:prstGeom prst="roundRect">
            <a:avLst>
              <a:gd name="adj" fmla="val 5780"/>
            </a:avLst>
          </a:prstGeom>
          <a:solidFill>
            <a:srgbClr val="E4F2EC"/>
          </a:solidFill>
          <a:ln w="12700">
            <a:solidFill>
              <a:srgbClr val="E4F2EC"/>
            </a:solidFill>
            <a:prstDash val="solid"/>
          </a:ln>
        </p:spPr>
        <p:txBody>
          <a:bodyPr/>
          <a:lstStyle/>
          <a:p>
            <a:endParaRPr lang="en-US"/>
          </a:p>
        </p:txBody>
      </p:sp>
      <p:sp>
        <p:nvSpPr>
          <p:cNvPr id="7" name="Text 3"/>
          <p:cNvSpPr/>
          <p:nvPr/>
        </p:nvSpPr>
        <p:spPr>
          <a:xfrm>
            <a:off x="8887968" y="3566160"/>
            <a:ext cx="2736799" cy="548640"/>
          </a:xfrm>
          <a:prstGeom prst="rect">
            <a:avLst/>
          </a:prstGeom>
          <a:noFill/>
          <a:ln/>
        </p:spPr>
        <p:txBody>
          <a:bodyPr wrap="square" lIns="0" tIns="0" rIns="0" bIns="0" rtlCol="0" anchor="ctr"/>
          <a:lstStyle/>
          <a:p>
            <a:pPr marL="0" indent="0" algn="ctr">
              <a:buNone/>
            </a:pPr>
            <a:r>
              <a:rPr lang="en-US" sz="3000" b="1" dirty="0">
                <a:solidFill>
                  <a:srgbClr val="0F6B4F"/>
                </a:solidFill>
                <a:latin typeface="Calibri" pitchFamily="34" charset="0"/>
                <a:ea typeface="Calibri" pitchFamily="34" charset="-122"/>
                <a:cs typeface="Calibri" pitchFamily="34" charset="-120"/>
              </a:rPr>
              <a:t>99.91%</a:t>
            </a:r>
            <a:endParaRPr lang="en-US" sz="3000" dirty="0"/>
          </a:p>
        </p:txBody>
      </p:sp>
      <p:sp>
        <p:nvSpPr>
          <p:cNvPr id="8" name="Text 4"/>
          <p:cNvSpPr/>
          <p:nvPr/>
        </p:nvSpPr>
        <p:spPr>
          <a:xfrm>
            <a:off x="9089136" y="4114800"/>
            <a:ext cx="2334463" cy="822960"/>
          </a:xfrm>
          <a:prstGeom prst="rect">
            <a:avLst/>
          </a:prstGeom>
          <a:noFill/>
          <a:ln/>
        </p:spPr>
        <p:txBody>
          <a:bodyPr wrap="square" lIns="0" tIns="0" rIns="0" bIns="0" rtlCol="0" anchor="t"/>
          <a:lstStyle/>
          <a:p>
            <a:pPr marL="0" indent="0" algn="ctr">
              <a:lnSpc>
                <a:spcPts val="1800"/>
              </a:lnSpc>
              <a:buNone/>
            </a:pPr>
            <a:r>
              <a:rPr lang="en-US" sz="1300" dirty="0">
                <a:solidFill>
                  <a:srgbClr val="5C6E68"/>
                </a:solidFill>
                <a:latin typeface="Calibri" pitchFamily="34" charset="0"/>
                <a:ea typeface="Calibri" pitchFamily="34" charset="-122"/>
                <a:cs typeface="Calibri" pitchFamily="34" charset="-120"/>
              </a:rPr>
              <a:t>live Staircase Issue match returned by the deployed model — no hardcoded result</a:t>
            </a:r>
            <a:endParaRPr lang="en-US" sz="1300" dirty="0"/>
          </a:p>
        </p:txBody>
      </p:sp>
      <p:sp>
        <p:nvSpPr>
          <p:cNvPr id="9" name="Shape 5"/>
          <p:cNvSpPr/>
          <p:nvPr/>
        </p:nvSpPr>
        <p:spPr>
          <a:xfrm>
            <a:off x="566928" y="5138928"/>
            <a:ext cx="2586152" cy="1133856"/>
          </a:xfrm>
          <a:prstGeom prst="roundRect">
            <a:avLst>
              <a:gd name="adj" fmla="val 8065"/>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0" name="Shape 6"/>
          <p:cNvSpPr/>
          <p:nvPr/>
        </p:nvSpPr>
        <p:spPr>
          <a:xfrm>
            <a:off x="804672" y="5367528"/>
            <a:ext cx="146304" cy="146304"/>
          </a:xfrm>
          <a:prstGeom prst="ellipse">
            <a:avLst/>
          </a:prstGeom>
          <a:solidFill>
            <a:srgbClr val="16A37B"/>
          </a:solidFill>
          <a:ln w="12700">
            <a:solidFill>
              <a:srgbClr val="16A37B"/>
            </a:solidFill>
            <a:prstDash val="solid"/>
          </a:ln>
        </p:spPr>
        <p:txBody>
          <a:bodyPr/>
          <a:lstStyle/>
          <a:p>
            <a:endParaRPr lang="en-US"/>
          </a:p>
        </p:txBody>
      </p:sp>
      <p:sp>
        <p:nvSpPr>
          <p:cNvPr id="11" name="Text 7"/>
          <p:cNvSpPr/>
          <p:nvPr/>
        </p:nvSpPr>
        <p:spPr>
          <a:xfrm>
            <a:off x="1060704" y="5248656"/>
            <a:ext cx="1891208" cy="365760"/>
          </a:xfrm>
          <a:prstGeom prst="rect">
            <a:avLst/>
          </a:prstGeom>
          <a:noFill/>
          <a:ln/>
        </p:spPr>
        <p:txBody>
          <a:bodyPr wrap="square" lIns="0" tIns="0" rIns="0" bIns="0" rtlCol="0" anchor="ctr"/>
          <a:lstStyle/>
          <a:p>
            <a:pPr marL="0" indent="0">
              <a:buNone/>
            </a:pPr>
            <a:r>
              <a:rPr lang="en-US" sz="1550" b="1" dirty="0">
                <a:solidFill>
                  <a:srgbClr val="0D2A22"/>
                </a:solidFill>
                <a:latin typeface="Calibri" pitchFamily="34" charset="0"/>
                <a:ea typeface="Calibri" pitchFamily="34" charset="-122"/>
                <a:cs typeface="Calibri" pitchFamily="34" charset="-120"/>
              </a:rPr>
              <a:t>Input</a:t>
            </a:r>
            <a:endParaRPr lang="en-US" sz="1550" dirty="0"/>
          </a:p>
        </p:txBody>
      </p:sp>
      <p:sp>
        <p:nvSpPr>
          <p:cNvPr id="12" name="Text 8"/>
          <p:cNvSpPr/>
          <p:nvPr/>
        </p:nvSpPr>
        <p:spPr>
          <a:xfrm>
            <a:off x="804672" y="5632704"/>
            <a:ext cx="2110664" cy="566928"/>
          </a:xfrm>
          <a:prstGeom prst="rect">
            <a:avLst/>
          </a:prstGeom>
          <a:noFill/>
          <a:ln/>
        </p:spPr>
        <p:txBody>
          <a:bodyPr wrap="square" lIns="0" tIns="0" rIns="0" bIns="0" rtlCol="0" anchor="t"/>
          <a:lstStyle/>
          <a:p>
            <a:pPr marL="0" indent="0">
              <a:lnSpc>
                <a:spcPts val="1600"/>
              </a:lnSpc>
              <a:buNone/>
            </a:pPr>
            <a:r>
              <a:rPr lang="en-US" sz="1250" dirty="0">
                <a:solidFill>
                  <a:srgbClr val="5C6E68"/>
                </a:solidFill>
                <a:latin typeface="Calibri" pitchFamily="34" charset="0"/>
                <a:ea typeface="Calibri" pitchFamily="34" charset="-122"/>
                <a:cs typeface="Calibri" pitchFamily="34" charset="-120"/>
              </a:rPr>
              <a:t>Browser sends Base64 to POST /analyze-image with the token.</a:t>
            </a:r>
            <a:endParaRPr lang="en-US" sz="1250" dirty="0"/>
          </a:p>
        </p:txBody>
      </p:sp>
      <p:sp>
        <p:nvSpPr>
          <p:cNvPr id="13" name="Shape 9"/>
          <p:cNvSpPr/>
          <p:nvPr/>
        </p:nvSpPr>
        <p:spPr>
          <a:xfrm>
            <a:off x="3390824" y="5138928"/>
            <a:ext cx="2586152" cy="1133856"/>
          </a:xfrm>
          <a:prstGeom prst="roundRect">
            <a:avLst>
              <a:gd name="adj" fmla="val 8065"/>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4" name="Shape 10"/>
          <p:cNvSpPr/>
          <p:nvPr/>
        </p:nvSpPr>
        <p:spPr>
          <a:xfrm>
            <a:off x="3628568" y="5367528"/>
            <a:ext cx="146304" cy="146304"/>
          </a:xfrm>
          <a:prstGeom prst="ellipse">
            <a:avLst/>
          </a:prstGeom>
          <a:solidFill>
            <a:srgbClr val="16A37B"/>
          </a:solidFill>
          <a:ln w="12700">
            <a:solidFill>
              <a:srgbClr val="16A37B"/>
            </a:solidFill>
            <a:prstDash val="solid"/>
          </a:ln>
        </p:spPr>
        <p:txBody>
          <a:bodyPr/>
          <a:lstStyle/>
          <a:p>
            <a:endParaRPr lang="en-US"/>
          </a:p>
        </p:txBody>
      </p:sp>
      <p:sp>
        <p:nvSpPr>
          <p:cNvPr id="15" name="Text 11"/>
          <p:cNvSpPr/>
          <p:nvPr/>
        </p:nvSpPr>
        <p:spPr>
          <a:xfrm>
            <a:off x="3884600" y="5248656"/>
            <a:ext cx="1891208" cy="365760"/>
          </a:xfrm>
          <a:prstGeom prst="rect">
            <a:avLst/>
          </a:prstGeom>
          <a:noFill/>
          <a:ln/>
        </p:spPr>
        <p:txBody>
          <a:bodyPr wrap="square" lIns="0" tIns="0" rIns="0" bIns="0" rtlCol="0" anchor="ctr"/>
          <a:lstStyle/>
          <a:p>
            <a:pPr marL="0" indent="0">
              <a:buNone/>
            </a:pPr>
            <a:r>
              <a:rPr lang="en-US" sz="1550" b="1" dirty="0">
                <a:solidFill>
                  <a:srgbClr val="0D2A22"/>
                </a:solidFill>
                <a:latin typeface="Calibri" pitchFamily="34" charset="0"/>
                <a:ea typeface="Calibri" pitchFamily="34" charset="-122"/>
                <a:cs typeface="Calibri" pitchFamily="34" charset="-120"/>
              </a:rPr>
              <a:t>Validate &amp; store</a:t>
            </a:r>
            <a:endParaRPr lang="en-US" sz="1550" dirty="0"/>
          </a:p>
        </p:txBody>
      </p:sp>
      <p:sp>
        <p:nvSpPr>
          <p:cNvPr id="16" name="Text 12"/>
          <p:cNvSpPr/>
          <p:nvPr/>
        </p:nvSpPr>
        <p:spPr>
          <a:xfrm>
            <a:off x="3628568" y="5632704"/>
            <a:ext cx="2110664" cy="566928"/>
          </a:xfrm>
          <a:prstGeom prst="rect">
            <a:avLst/>
          </a:prstGeom>
          <a:noFill/>
          <a:ln/>
        </p:spPr>
        <p:txBody>
          <a:bodyPr wrap="square" lIns="0" tIns="0" rIns="0" bIns="0" rtlCol="0" anchor="t"/>
          <a:lstStyle/>
          <a:p>
            <a:pPr marL="0" indent="0">
              <a:lnSpc>
                <a:spcPts val="1600"/>
              </a:lnSpc>
              <a:buNone/>
            </a:pPr>
            <a:r>
              <a:rPr lang="en-US" sz="1250" dirty="0">
                <a:solidFill>
                  <a:srgbClr val="5C6E68"/>
                </a:solidFill>
                <a:latin typeface="Calibri" pitchFamily="34" charset="0"/>
                <a:ea typeface="Calibri" pitchFamily="34" charset="-122"/>
                <a:cs typeface="Calibri" pitchFamily="34" charset="-120"/>
              </a:rPr>
              <a:t>Type and 5 MB checks, then written to uploads/reports/.</a:t>
            </a:r>
            <a:endParaRPr lang="en-US" sz="1250" dirty="0"/>
          </a:p>
        </p:txBody>
      </p:sp>
      <p:sp>
        <p:nvSpPr>
          <p:cNvPr id="17" name="Shape 13"/>
          <p:cNvSpPr/>
          <p:nvPr/>
        </p:nvSpPr>
        <p:spPr>
          <a:xfrm>
            <a:off x="6214720" y="5138928"/>
            <a:ext cx="2586152" cy="1133856"/>
          </a:xfrm>
          <a:prstGeom prst="roundRect">
            <a:avLst>
              <a:gd name="adj" fmla="val 8065"/>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8" name="Shape 14"/>
          <p:cNvSpPr/>
          <p:nvPr/>
        </p:nvSpPr>
        <p:spPr>
          <a:xfrm>
            <a:off x="6452464" y="5367528"/>
            <a:ext cx="146304" cy="146304"/>
          </a:xfrm>
          <a:prstGeom prst="ellipse">
            <a:avLst/>
          </a:prstGeom>
          <a:solidFill>
            <a:srgbClr val="16A37B"/>
          </a:solidFill>
          <a:ln w="12700">
            <a:solidFill>
              <a:srgbClr val="16A37B"/>
            </a:solidFill>
            <a:prstDash val="solid"/>
          </a:ln>
        </p:spPr>
        <p:txBody>
          <a:bodyPr/>
          <a:lstStyle/>
          <a:p>
            <a:endParaRPr lang="en-US"/>
          </a:p>
        </p:txBody>
      </p:sp>
      <p:sp>
        <p:nvSpPr>
          <p:cNvPr id="19" name="Text 15"/>
          <p:cNvSpPr/>
          <p:nvPr/>
        </p:nvSpPr>
        <p:spPr>
          <a:xfrm>
            <a:off x="6708496" y="5248656"/>
            <a:ext cx="1891208" cy="365760"/>
          </a:xfrm>
          <a:prstGeom prst="rect">
            <a:avLst/>
          </a:prstGeom>
          <a:noFill/>
          <a:ln/>
        </p:spPr>
        <p:txBody>
          <a:bodyPr wrap="square" lIns="0" tIns="0" rIns="0" bIns="0" rtlCol="0" anchor="ctr"/>
          <a:lstStyle/>
          <a:p>
            <a:pPr marL="0" indent="0">
              <a:buNone/>
            </a:pPr>
            <a:r>
              <a:rPr lang="en-US" sz="1550" b="1" dirty="0">
                <a:solidFill>
                  <a:srgbClr val="0D2A22"/>
                </a:solidFill>
                <a:latin typeface="Calibri" pitchFamily="34" charset="0"/>
                <a:ea typeface="Calibri" pitchFamily="34" charset="-122"/>
                <a:cs typeface="Calibri" pitchFamily="34" charset="-120"/>
              </a:rPr>
              <a:t>Detect</a:t>
            </a:r>
            <a:endParaRPr lang="en-US" sz="1550" dirty="0"/>
          </a:p>
        </p:txBody>
      </p:sp>
      <p:sp>
        <p:nvSpPr>
          <p:cNvPr id="20" name="Text 16"/>
          <p:cNvSpPr/>
          <p:nvPr/>
        </p:nvSpPr>
        <p:spPr>
          <a:xfrm>
            <a:off x="6452464" y="5632704"/>
            <a:ext cx="2110664" cy="566928"/>
          </a:xfrm>
          <a:prstGeom prst="rect">
            <a:avLst/>
          </a:prstGeom>
          <a:noFill/>
          <a:ln/>
        </p:spPr>
        <p:txBody>
          <a:bodyPr wrap="square" lIns="0" tIns="0" rIns="0" bIns="0" rtlCol="0" anchor="t"/>
          <a:lstStyle/>
          <a:p>
            <a:pPr marL="0" indent="0">
              <a:lnSpc>
                <a:spcPts val="1600"/>
              </a:lnSpc>
              <a:buNone/>
            </a:pPr>
            <a:r>
              <a:rPr lang="en-US" sz="1250" dirty="0">
                <a:solidFill>
                  <a:srgbClr val="5C6E68"/>
                </a:solidFill>
                <a:latin typeface="Calibri" pitchFamily="34" charset="0"/>
                <a:ea typeface="Calibri" pitchFamily="34" charset="-122"/>
                <a:cs typeface="Calibri" pitchFamily="34" charset="-120"/>
              </a:rPr>
              <a:t>DetectCustomLabels runs on the S3 object with the model ARN.</a:t>
            </a:r>
            <a:endParaRPr lang="en-US" sz="1250" dirty="0"/>
          </a:p>
        </p:txBody>
      </p:sp>
      <p:sp>
        <p:nvSpPr>
          <p:cNvPr id="21" name="Shape 17"/>
          <p:cNvSpPr/>
          <p:nvPr/>
        </p:nvSpPr>
        <p:spPr>
          <a:xfrm>
            <a:off x="9038615" y="5138928"/>
            <a:ext cx="2586152" cy="1133856"/>
          </a:xfrm>
          <a:prstGeom prst="roundRect">
            <a:avLst>
              <a:gd name="adj" fmla="val 8065"/>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22" name="Shape 18"/>
          <p:cNvSpPr/>
          <p:nvPr/>
        </p:nvSpPr>
        <p:spPr>
          <a:xfrm>
            <a:off x="9276359" y="5367528"/>
            <a:ext cx="146304" cy="146304"/>
          </a:xfrm>
          <a:prstGeom prst="ellipse">
            <a:avLst/>
          </a:prstGeom>
          <a:solidFill>
            <a:srgbClr val="16A37B"/>
          </a:solidFill>
          <a:ln w="12700">
            <a:solidFill>
              <a:srgbClr val="16A37B"/>
            </a:solidFill>
            <a:prstDash val="solid"/>
          </a:ln>
        </p:spPr>
        <p:txBody>
          <a:bodyPr/>
          <a:lstStyle/>
          <a:p>
            <a:endParaRPr lang="en-US"/>
          </a:p>
        </p:txBody>
      </p:sp>
      <p:sp>
        <p:nvSpPr>
          <p:cNvPr id="23" name="Text 19"/>
          <p:cNvSpPr/>
          <p:nvPr/>
        </p:nvSpPr>
        <p:spPr>
          <a:xfrm>
            <a:off x="9532391" y="5248656"/>
            <a:ext cx="1891208" cy="365760"/>
          </a:xfrm>
          <a:prstGeom prst="rect">
            <a:avLst/>
          </a:prstGeom>
          <a:noFill/>
          <a:ln/>
        </p:spPr>
        <p:txBody>
          <a:bodyPr wrap="square" lIns="0" tIns="0" rIns="0" bIns="0" rtlCol="0" anchor="ctr"/>
          <a:lstStyle/>
          <a:p>
            <a:pPr marL="0" indent="0">
              <a:buNone/>
            </a:pPr>
            <a:r>
              <a:rPr lang="en-US" sz="1550" b="1" dirty="0">
                <a:solidFill>
                  <a:srgbClr val="0D2A22"/>
                </a:solidFill>
                <a:latin typeface="Calibri" pitchFamily="34" charset="0"/>
                <a:ea typeface="Calibri" pitchFamily="34" charset="-122"/>
                <a:cs typeface="Calibri" pitchFamily="34" charset="-120"/>
              </a:rPr>
              <a:t>Return</a:t>
            </a:r>
            <a:endParaRPr lang="en-US" sz="1550" dirty="0"/>
          </a:p>
        </p:txBody>
      </p:sp>
      <p:sp>
        <p:nvSpPr>
          <p:cNvPr id="24" name="Text 20"/>
          <p:cNvSpPr/>
          <p:nvPr/>
        </p:nvSpPr>
        <p:spPr>
          <a:xfrm>
            <a:off x="9276359" y="5632704"/>
            <a:ext cx="2110664" cy="566928"/>
          </a:xfrm>
          <a:prstGeom prst="rect">
            <a:avLst/>
          </a:prstGeom>
          <a:noFill/>
          <a:ln/>
        </p:spPr>
        <p:txBody>
          <a:bodyPr wrap="square" lIns="0" tIns="0" rIns="0" bIns="0" rtlCol="0" anchor="t"/>
          <a:lstStyle/>
          <a:p>
            <a:pPr marL="0" indent="0">
              <a:lnSpc>
                <a:spcPts val="1600"/>
              </a:lnSpc>
              <a:buNone/>
            </a:pPr>
            <a:r>
              <a:rPr lang="en-US" sz="1250" dirty="0">
                <a:solidFill>
                  <a:srgbClr val="5C6E68"/>
                </a:solidFill>
                <a:latin typeface="Calibri" pitchFamily="34" charset="0"/>
                <a:ea typeface="Calibri" pitchFamily="34" charset="-122"/>
                <a:cs typeface="Calibri" pitchFamily="34" charset="-120"/>
              </a:rPr>
              <a:t>Best label, confidence and imageKey return to the front end.</a:t>
            </a:r>
            <a:endParaRPr lang="en-US" sz="1250" dirty="0"/>
          </a:p>
        </p:txBody>
      </p:sp>
      <p:sp>
        <p:nvSpPr>
          <p:cNvPr id="26" name="Text 22"/>
          <p:cNvSpPr/>
          <p:nvPr/>
        </p:nvSpPr>
        <p:spPr>
          <a:xfrm>
            <a:off x="10801807" y="6382512"/>
            <a:ext cx="822960" cy="292608"/>
          </a:xfrm>
          <a:prstGeom prst="rect">
            <a:avLst/>
          </a:prstGeom>
          <a:noFill/>
          <a:ln/>
        </p:spPr>
        <p:txBody>
          <a:bodyPr wrap="square" lIns="0" tIns="0" rIns="0" bIns="0" rtlCol="0" anchor="ctr"/>
          <a:lstStyle/>
          <a:p>
            <a:pPr marL="0" indent="0" algn="r">
              <a:buNone/>
            </a:pPr>
            <a:r>
              <a:rPr lang="en-US" sz="1100" b="1" dirty="0">
                <a:solidFill>
                  <a:srgbClr val="0F6B4F"/>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7FAF9"/>
        </a:solidFill>
        <a:effectLst/>
      </p:bgPr>
    </p:bg>
    <p:spTree>
      <p:nvGrpSpPr>
        <p:cNvPr id="1" name=""/>
        <p:cNvGrpSpPr/>
        <p:nvPr/>
      </p:nvGrpSpPr>
      <p:grpSpPr>
        <a:xfrm>
          <a:off x="0" y="0"/>
          <a:ext cx="0" cy="0"/>
          <a:chOff x="0" y="0"/>
          <a:chExt cx="0" cy="0"/>
        </a:xfrm>
      </p:grpSpPr>
      <p:sp>
        <p:nvSpPr>
          <p:cNvPr id="2" name="Text 0"/>
          <p:cNvSpPr/>
          <p:nvPr/>
        </p:nvSpPr>
        <p:spPr>
          <a:xfrm>
            <a:off x="566928" y="347472"/>
            <a:ext cx="11057839" cy="566928"/>
          </a:xfrm>
          <a:prstGeom prst="rect">
            <a:avLst/>
          </a:prstGeom>
          <a:noFill/>
          <a:ln/>
        </p:spPr>
        <p:txBody>
          <a:bodyPr wrap="square" lIns="0" tIns="0" rIns="0" bIns="0" rtlCol="0" anchor="ctr"/>
          <a:lstStyle/>
          <a:p>
            <a:pPr marL="0" indent="0">
              <a:buNone/>
            </a:pPr>
            <a:r>
              <a:rPr lang="en-US" sz="3200" b="1" dirty="0">
                <a:solidFill>
                  <a:srgbClr val="0D2A22"/>
                </a:solidFill>
                <a:latin typeface="Calibri" pitchFamily="34" charset="0"/>
                <a:ea typeface="Calibri" pitchFamily="34" charset="-122"/>
                <a:cs typeface="Calibri" pitchFamily="34" charset="-120"/>
              </a:rPr>
              <a:t>Deployment Steps 1 — Storage &amp; Hosting</a:t>
            </a:r>
            <a:endParaRPr lang="en-US" sz="3200" dirty="0"/>
          </a:p>
        </p:txBody>
      </p:sp>
      <p:sp>
        <p:nvSpPr>
          <p:cNvPr id="3" name="Text 1"/>
          <p:cNvSpPr/>
          <p:nvPr/>
        </p:nvSpPr>
        <p:spPr>
          <a:xfrm>
            <a:off x="566928" y="932688"/>
            <a:ext cx="11057839" cy="365760"/>
          </a:xfrm>
          <a:prstGeom prst="rect">
            <a:avLst/>
          </a:prstGeom>
          <a:noFill/>
          <a:ln/>
        </p:spPr>
        <p:txBody>
          <a:bodyPr wrap="square" lIns="0" tIns="0" rIns="0" bIns="0" rtlCol="0" anchor="ctr"/>
          <a:lstStyle/>
          <a:p>
            <a:pPr marL="0" indent="0">
              <a:buNone/>
            </a:pPr>
            <a:r>
              <a:rPr lang="en-US" sz="1550" dirty="0">
                <a:solidFill>
                  <a:srgbClr val="5C6E68"/>
                </a:solidFill>
                <a:latin typeface="Calibri" pitchFamily="34" charset="0"/>
                <a:ea typeface="Calibri" pitchFamily="34" charset="-122"/>
                <a:cs typeface="Calibri" pitchFamily="34" charset="-120"/>
              </a:rPr>
              <a:t>Steps 1 to 4: the front end goes up, and then it is locked down</a:t>
            </a:r>
            <a:endParaRPr lang="en-US" sz="1550" dirty="0"/>
          </a:p>
        </p:txBody>
      </p:sp>
      <p:sp>
        <p:nvSpPr>
          <p:cNvPr id="4" name="Shape 2"/>
          <p:cNvSpPr/>
          <p:nvPr/>
        </p:nvSpPr>
        <p:spPr>
          <a:xfrm>
            <a:off x="566928" y="1572768"/>
            <a:ext cx="6446520" cy="1097280"/>
          </a:xfrm>
          <a:prstGeom prst="roundRect">
            <a:avLst>
              <a:gd name="adj" fmla="val 8333"/>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5" name="Shape 3"/>
          <p:cNvSpPr/>
          <p:nvPr/>
        </p:nvSpPr>
        <p:spPr>
          <a:xfrm>
            <a:off x="804672" y="1883664"/>
            <a:ext cx="457200" cy="457200"/>
          </a:xfrm>
          <a:prstGeom prst="ellipse">
            <a:avLst/>
          </a:prstGeom>
          <a:solidFill>
            <a:srgbClr val="0F6B4F"/>
          </a:solidFill>
          <a:ln w="12700">
            <a:solidFill>
              <a:srgbClr val="0F6B4F"/>
            </a:solidFill>
            <a:prstDash val="solid"/>
          </a:ln>
        </p:spPr>
        <p:txBody>
          <a:bodyPr/>
          <a:lstStyle/>
          <a:p>
            <a:endParaRPr lang="en-US"/>
          </a:p>
        </p:txBody>
      </p:sp>
      <p:sp>
        <p:nvSpPr>
          <p:cNvPr id="6" name="Text 4"/>
          <p:cNvSpPr/>
          <p:nvPr/>
        </p:nvSpPr>
        <p:spPr>
          <a:xfrm>
            <a:off x="804672" y="188366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408176" y="1682496"/>
            <a:ext cx="5367528" cy="347472"/>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Prepare the web application</a:t>
            </a:r>
            <a:endParaRPr lang="en-US" sz="1650" dirty="0"/>
          </a:p>
        </p:txBody>
      </p:sp>
      <p:sp>
        <p:nvSpPr>
          <p:cNvPr id="8" name="Text 6"/>
          <p:cNvSpPr/>
          <p:nvPr/>
        </p:nvSpPr>
        <p:spPr>
          <a:xfrm>
            <a:off x="1408176" y="2029968"/>
            <a:ext cx="5367528" cy="585216"/>
          </a:xfrm>
          <a:prstGeom prst="rect">
            <a:avLst/>
          </a:prstGeom>
          <a:noFill/>
          <a:ln/>
        </p:spPr>
        <p:txBody>
          <a:bodyPr wrap="square" lIns="0" tIns="0" rIns="0" bIns="0" rtlCol="0" anchor="t"/>
          <a:lstStyle/>
          <a:p>
            <a:pPr marL="0" indent="0">
              <a:lnSpc>
                <a:spcPts val="1800"/>
              </a:lnSpc>
              <a:buNone/>
            </a:pPr>
            <a:r>
              <a:rPr lang="en-US" sz="1350" dirty="0">
                <a:solidFill>
                  <a:srgbClr val="5C6E68"/>
                </a:solidFill>
                <a:latin typeface="Calibri" pitchFamily="34" charset="0"/>
                <a:ea typeface="Calibri" pitchFamily="34" charset="-122"/>
                <a:cs typeface="Calibri" pitchFamily="34" charset="-120"/>
              </a:rPr>
              <a:t>Eight HTML pages plus css/ and js/; common.js points at the deployed API base URL and sends the ID token.</a:t>
            </a:r>
            <a:endParaRPr lang="en-US" sz="1350" dirty="0"/>
          </a:p>
        </p:txBody>
      </p:sp>
      <p:sp>
        <p:nvSpPr>
          <p:cNvPr id="9" name="Shape 7"/>
          <p:cNvSpPr/>
          <p:nvPr/>
        </p:nvSpPr>
        <p:spPr>
          <a:xfrm>
            <a:off x="566928" y="2752344"/>
            <a:ext cx="6446520" cy="1097280"/>
          </a:xfrm>
          <a:prstGeom prst="roundRect">
            <a:avLst>
              <a:gd name="adj" fmla="val 8333"/>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0" name="Shape 8"/>
          <p:cNvSpPr/>
          <p:nvPr/>
        </p:nvSpPr>
        <p:spPr>
          <a:xfrm>
            <a:off x="804672" y="3063240"/>
            <a:ext cx="457200" cy="457200"/>
          </a:xfrm>
          <a:prstGeom prst="ellipse">
            <a:avLst/>
          </a:prstGeom>
          <a:solidFill>
            <a:srgbClr val="0F6B4F"/>
          </a:solidFill>
          <a:ln w="12700">
            <a:solidFill>
              <a:srgbClr val="0F6B4F"/>
            </a:solidFill>
            <a:prstDash val="solid"/>
          </a:ln>
        </p:spPr>
        <p:txBody>
          <a:bodyPr/>
          <a:lstStyle/>
          <a:p>
            <a:endParaRPr lang="en-US"/>
          </a:p>
        </p:txBody>
      </p:sp>
      <p:sp>
        <p:nvSpPr>
          <p:cNvPr id="11" name="Text 9"/>
          <p:cNvSpPr/>
          <p:nvPr/>
        </p:nvSpPr>
        <p:spPr>
          <a:xfrm>
            <a:off x="804672" y="30632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408176" y="2862072"/>
            <a:ext cx="5367528" cy="347472"/>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Create the website bucket</a:t>
            </a:r>
            <a:endParaRPr lang="en-US" sz="1650" dirty="0"/>
          </a:p>
        </p:txBody>
      </p:sp>
      <p:sp>
        <p:nvSpPr>
          <p:cNvPr id="13" name="Text 11"/>
          <p:cNvSpPr/>
          <p:nvPr/>
        </p:nvSpPr>
        <p:spPr>
          <a:xfrm>
            <a:off x="1408176" y="3209544"/>
            <a:ext cx="5367528" cy="585216"/>
          </a:xfrm>
          <a:prstGeom prst="rect">
            <a:avLst/>
          </a:prstGeom>
          <a:noFill/>
          <a:ln/>
        </p:spPr>
        <p:txBody>
          <a:bodyPr wrap="square" lIns="0" tIns="0" rIns="0" bIns="0" rtlCol="0" anchor="t"/>
          <a:lstStyle/>
          <a:p>
            <a:pPr marL="0" indent="0">
              <a:lnSpc>
                <a:spcPts val="1800"/>
              </a:lnSpc>
              <a:buNone/>
            </a:pPr>
            <a:r>
              <a:rPr lang="en-US" sz="1350" dirty="0">
                <a:solidFill>
                  <a:srgbClr val="5C6E68"/>
                </a:solidFill>
                <a:latin typeface="Calibri" pitchFamily="34" charset="0"/>
                <a:ea typeface="Calibri" pitchFamily="34" charset="-122"/>
                <a:cs typeface="Calibri" pitchFamily="34" charset="-120"/>
              </a:rPr>
              <a:t>nexsafe-website-2503083d in ap-southeast-2, static website hosting enabled, object list verified.</a:t>
            </a:r>
            <a:endParaRPr lang="en-US" sz="1350" dirty="0"/>
          </a:p>
        </p:txBody>
      </p:sp>
      <p:sp>
        <p:nvSpPr>
          <p:cNvPr id="14" name="Shape 12"/>
          <p:cNvSpPr/>
          <p:nvPr/>
        </p:nvSpPr>
        <p:spPr>
          <a:xfrm>
            <a:off x="566928" y="3931920"/>
            <a:ext cx="6446520" cy="1097280"/>
          </a:xfrm>
          <a:prstGeom prst="roundRect">
            <a:avLst>
              <a:gd name="adj" fmla="val 8333"/>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5" name="Shape 13"/>
          <p:cNvSpPr/>
          <p:nvPr/>
        </p:nvSpPr>
        <p:spPr>
          <a:xfrm>
            <a:off x="804672" y="4242816"/>
            <a:ext cx="457200" cy="457200"/>
          </a:xfrm>
          <a:prstGeom prst="ellipse">
            <a:avLst/>
          </a:prstGeom>
          <a:solidFill>
            <a:srgbClr val="0F6B4F"/>
          </a:solidFill>
          <a:ln w="12700">
            <a:solidFill>
              <a:srgbClr val="0F6B4F"/>
            </a:solidFill>
            <a:prstDash val="solid"/>
          </a:ln>
        </p:spPr>
        <p:txBody>
          <a:bodyPr/>
          <a:lstStyle/>
          <a:p>
            <a:endParaRPr lang="en-US"/>
          </a:p>
        </p:txBody>
      </p:sp>
      <p:sp>
        <p:nvSpPr>
          <p:cNvPr id="16" name="Text 14"/>
          <p:cNvSpPr/>
          <p:nvPr/>
        </p:nvSpPr>
        <p:spPr>
          <a:xfrm>
            <a:off x="804672" y="42428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08176" y="4041648"/>
            <a:ext cx="5367528" cy="347472"/>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Secure the website bucket</a:t>
            </a:r>
            <a:endParaRPr lang="en-US" sz="1650" dirty="0"/>
          </a:p>
        </p:txBody>
      </p:sp>
      <p:sp>
        <p:nvSpPr>
          <p:cNvPr id="18" name="Text 16"/>
          <p:cNvSpPr/>
          <p:nvPr/>
        </p:nvSpPr>
        <p:spPr>
          <a:xfrm>
            <a:off x="1408176" y="4389120"/>
            <a:ext cx="5367528" cy="585216"/>
          </a:xfrm>
          <a:prstGeom prst="rect">
            <a:avLst/>
          </a:prstGeom>
          <a:noFill/>
          <a:ln/>
        </p:spPr>
        <p:txBody>
          <a:bodyPr wrap="square" lIns="0" tIns="0" rIns="0" bIns="0" rtlCol="0" anchor="t"/>
          <a:lstStyle/>
          <a:p>
            <a:pPr marL="0" indent="0">
              <a:lnSpc>
                <a:spcPts val="1800"/>
              </a:lnSpc>
              <a:buNone/>
            </a:pPr>
            <a:r>
              <a:rPr lang="en-US" sz="1350" dirty="0">
                <a:solidFill>
                  <a:srgbClr val="5C6E68"/>
                </a:solidFill>
                <a:latin typeface="Calibri" pitchFamily="34" charset="0"/>
                <a:ea typeface="Calibri" pitchFamily="34" charset="-122"/>
                <a:cs typeface="Calibri" pitchFamily="34" charset="-120"/>
              </a:rPr>
              <a:t>Block all public access stays on; s3:GetObject is granted only to CloudFront with a matching AWS:SourceArn.</a:t>
            </a:r>
            <a:endParaRPr lang="en-US" sz="1350" dirty="0"/>
          </a:p>
        </p:txBody>
      </p:sp>
      <p:sp>
        <p:nvSpPr>
          <p:cNvPr id="19" name="Shape 17"/>
          <p:cNvSpPr/>
          <p:nvPr/>
        </p:nvSpPr>
        <p:spPr>
          <a:xfrm>
            <a:off x="566928" y="5111496"/>
            <a:ext cx="6446520" cy="1097280"/>
          </a:xfrm>
          <a:prstGeom prst="roundRect">
            <a:avLst>
              <a:gd name="adj" fmla="val 8333"/>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20" name="Shape 18"/>
          <p:cNvSpPr/>
          <p:nvPr/>
        </p:nvSpPr>
        <p:spPr>
          <a:xfrm>
            <a:off x="804672" y="5422392"/>
            <a:ext cx="457200" cy="457200"/>
          </a:xfrm>
          <a:prstGeom prst="ellipse">
            <a:avLst/>
          </a:prstGeom>
          <a:solidFill>
            <a:srgbClr val="0F6B4F"/>
          </a:solidFill>
          <a:ln w="12700">
            <a:solidFill>
              <a:srgbClr val="0F6B4F"/>
            </a:solidFill>
            <a:prstDash val="solid"/>
          </a:ln>
        </p:spPr>
        <p:txBody>
          <a:bodyPr/>
          <a:lstStyle/>
          <a:p>
            <a:endParaRPr lang="en-US"/>
          </a:p>
        </p:txBody>
      </p:sp>
      <p:sp>
        <p:nvSpPr>
          <p:cNvPr id="21" name="Text 19"/>
          <p:cNvSpPr/>
          <p:nvPr/>
        </p:nvSpPr>
        <p:spPr>
          <a:xfrm>
            <a:off x="804672" y="542239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1408176" y="5221224"/>
            <a:ext cx="5367528" cy="347472"/>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Create the AI / data bucket</a:t>
            </a:r>
            <a:endParaRPr lang="en-US" sz="1650" dirty="0"/>
          </a:p>
        </p:txBody>
      </p:sp>
      <p:sp>
        <p:nvSpPr>
          <p:cNvPr id="23" name="Text 21"/>
          <p:cNvSpPr/>
          <p:nvPr/>
        </p:nvSpPr>
        <p:spPr>
          <a:xfrm>
            <a:off x="1408176" y="5568696"/>
            <a:ext cx="5367528" cy="585216"/>
          </a:xfrm>
          <a:prstGeom prst="rect">
            <a:avLst/>
          </a:prstGeom>
          <a:noFill/>
          <a:ln/>
        </p:spPr>
        <p:txBody>
          <a:bodyPr wrap="square" lIns="0" tIns="0" rIns="0" bIns="0" rtlCol="0" anchor="t"/>
          <a:lstStyle/>
          <a:p>
            <a:pPr marL="0" indent="0">
              <a:lnSpc>
                <a:spcPts val="1800"/>
              </a:lnSpc>
              <a:buNone/>
            </a:pPr>
            <a:r>
              <a:rPr lang="en-US" sz="1350" dirty="0">
                <a:solidFill>
                  <a:srgbClr val="5C6E68"/>
                </a:solidFill>
                <a:latin typeface="Calibri" pitchFamily="34" charset="0"/>
                <a:ea typeface="Calibri" pitchFamily="34" charset="-122"/>
                <a:cs typeface="Calibri" pitchFamily="34" charset="-120"/>
              </a:rPr>
              <a:t>dataset/train, dataset/test and uploads/reports prefixes; CloudFront read scoped to uploads/reports/*.</a:t>
            </a:r>
            <a:endParaRPr lang="en-US" sz="1350" dirty="0"/>
          </a:p>
        </p:txBody>
      </p:sp>
      <p:pic>
        <p:nvPicPr>
          <p:cNvPr id="24" name="Image 0" descr="img/image29.jpg"/>
          <p:cNvPicPr>
            <a:picLocks noChangeAspect="1"/>
          </p:cNvPicPr>
          <p:nvPr/>
        </p:nvPicPr>
        <p:blipFill>
          <a:blip r:embed="rId3"/>
          <a:stretch>
            <a:fillRect/>
          </a:stretch>
        </p:blipFill>
        <p:spPr>
          <a:xfrm>
            <a:off x="7315200" y="1572768"/>
            <a:ext cx="4309567" cy="1965960"/>
          </a:xfrm>
          <a:prstGeom prst="rect">
            <a:avLst/>
          </a:prstGeom>
          <a:effectLst>
            <a:outerShdw blurRad="177800" dist="25400" dir="5400000" algn="bl" rotWithShape="0">
              <a:srgbClr val="0D2A22">
                <a:alpha val="16000"/>
              </a:srgbClr>
            </a:outerShdw>
          </a:effectLst>
        </p:spPr>
      </p:pic>
      <p:sp>
        <p:nvSpPr>
          <p:cNvPr id="25" name="Text 22"/>
          <p:cNvSpPr/>
          <p:nvPr/>
        </p:nvSpPr>
        <p:spPr>
          <a:xfrm>
            <a:off x="7315200" y="3602736"/>
            <a:ext cx="4309567" cy="274320"/>
          </a:xfrm>
          <a:prstGeom prst="rect">
            <a:avLst/>
          </a:prstGeom>
          <a:noFill/>
          <a:ln/>
        </p:spPr>
        <p:txBody>
          <a:bodyPr wrap="square" lIns="0" tIns="0" rIns="0" bIns="0" rtlCol="0" anchor="t"/>
          <a:lstStyle/>
          <a:p>
            <a:pPr marL="0" indent="0" algn="ctr">
              <a:buNone/>
            </a:pPr>
            <a:r>
              <a:rPr lang="en-US" sz="1150" dirty="0">
                <a:solidFill>
                  <a:srgbClr val="5C6E68"/>
                </a:solidFill>
                <a:latin typeface="Calibri" pitchFamily="34" charset="0"/>
                <a:ea typeface="Calibri" pitchFamily="34" charset="-122"/>
                <a:cs typeface="Calibri" pitchFamily="34" charset="-120"/>
              </a:rPr>
              <a:t>Website files deployed to the S3 website bucket</a:t>
            </a:r>
            <a:endParaRPr lang="en-US" sz="1150" dirty="0"/>
          </a:p>
        </p:txBody>
      </p:sp>
      <p:pic>
        <p:nvPicPr>
          <p:cNvPr id="26" name="Image 1" descr="img/image30.jpg"/>
          <p:cNvPicPr>
            <a:picLocks noChangeAspect="1"/>
          </p:cNvPicPr>
          <p:nvPr/>
        </p:nvPicPr>
        <p:blipFill>
          <a:blip r:embed="rId4"/>
          <a:stretch>
            <a:fillRect/>
          </a:stretch>
        </p:blipFill>
        <p:spPr>
          <a:xfrm>
            <a:off x="7315200" y="3950208"/>
            <a:ext cx="4309567" cy="1965960"/>
          </a:xfrm>
          <a:prstGeom prst="rect">
            <a:avLst/>
          </a:prstGeom>
          <a:effectLst>
            <a:outerShdw blurRad="177800" dist="25400" dir="5400000" algn="bl" rotWithShape="0">
              <a:srgbClr val="0D2A22">
                <a:alpha val="16000"/>
              </a:srgbClr>
            </a:outerShdw>
          </a:effectLst>
        </p:spPr>
      </p:pic>
      <p:sp>
        <p:nvSpPr>
          <p:cNvPr id="27" name="Text 23"/>
          <p:cNvSpPr/>
          <p:nvPr/>
        </p:nvSpPr>
        <p:spPr>
          <a:xfrm>
            <a:off x="7315200" y="5980176"/>
            <a:ext cx="4309567" cy="274320"/>
          </a:xfrm>
          <a:prstGeom prst="rect">
            <a:avLst/>
          </a:prstGeom>
          <a:noFill/>
          <a:ln/>
        </p:spPr>
        <p:txBody>
          <a:bodyPr wrap="square" lIns="0" tIns="0" rIns="0" bIns="0" rtlCol="0" anchor="t"/>
          <a:lstStyle/>
          <a:p>
            <a:pPr marL="0" indent="0" algn="ctr">
              <a:buNone/>
            </a:pPr>
            <a:r>
              <a:rPr lang="en-US" sz="1150" dirty="0">
                <a:solidFill>
                  <a:srgbClr val="5C6E68"/>
                </a:solidFill>
                <a:latin typeface="Calibri" pitchFamily="34" charset="0"/>
                <a:ea typeface="Calibri" pitchFamily="34" charset="-122"/>
                <a:cs typeface="Calibri" pitchFamily="34" charset="-120"/>
              </a:rPr>
              <a:t>S3 static website hosting enabled</a:t>
            </a:r>
            <a:endParaRPr lang="en-US" sz="1150" dirty="0"/>
          </a:p>
        </p:txBody>
      </p:sp>
      <p:sp>
        <p:nvSpPr>
          <p:cNvPr id="29" name="Text 25"/>
          <p:cNvSpPr/>
          <p:nvPr/>
        </p:nvSpPr>
        <p:spPr>
          <a:xfrm>
            <a:off x="10801807" y="6382512"/>
            <a:ext cx="822960" cy="292608"/>
          </a:xfrm>
          <a:prstGeom prst="rect">
            <a:avLst/>
          </a:prstGeom>
          <a:noFill/>
          <a:ln/>
        </p:spPr>
        <p:txBody>
          <a:bodyPr wrap="square" lIns="0" tIns="0" rIns="0" bIns="0" rtlCol="0" anchor="ctr"/>
          <a:lstStyle/>
          <a:p>
            <a:pPr marL="0" indent="0" algn="r">
              <a:buNone/>
            </a:pPr>
            <a:r>
              <a:rPr lang="en-US" sz="1100" b="1" dirty="0">
                <a:solidFill>
                  <a:srgbClr val="0F6B4F"/>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7FAF9"/>
        </a:solidFill>
        <a:effectLst/>
      </p:bgPr>
    </p:bg>
    <p:spTree>
      <p:nvGrpSpPr>
        <p:cNvPr id="1" name=""/>
        <p:cNvGrpSpPr/>
        <p:nvPr/>
      </p:nvGrpSpPr>
      <p:grpSpPr>
        <a:xfrm>
          <a:off x="0" y="0"/>
          <a:ext cx="0" cy="0"/>
          <a:chOff x="0" y="0"/>
          <a:chExt cx="0" cy="0"/>
        </a:xfrm>
      </p:grpSpPr>
      <p:sp>
        <p:nvSpPr>
          <p:cNvPr id="2" name="Text 0"/>
          <p:cNvSpPr/>
          <p:nvPr/>
        </p:nvSpPr>
        <p:spPr>
          <a:xfrm>
            <a:off x="566928" y="347472"/>
            <a:ext cx="11057839" cy="566928"/>
          </a:xfrm>
          <a:prstGeom prst="rect">
            <a:avLst/>
          </a:prstGeom>
          <a:noFill/>
          <a:ln/>
        </p:spPr>
        <p:txBody>
          <a:bodyPr wrap="square" lIns="0" tIns="0" rIns="0" bIns="0" rtlCol="0" anchor="ctr"/>
          <a:lstStyle/>
          <a:p>
            <a:pPr marL="0" indent="0">
              <a:buNone/>
            </a:pPr>
            <a:r>
              <a:rPr lang="en-US" sz="3200" b="1" dirty="0">
                <a:solidFill>
                  <a:srgbClr val="0D2A22"/>
                </a:solidFill>
                <a:latin typeface="Calibri" pitchFamily="34" charset="0"/>
                <a:ea typeface="Calibri" pitchFamily="34" charset="-122"/>
                <a:cs typeface="Calibri" pitchFamily="34" charset="-120"/>
              </a:rPr>
              <a:t>Deployment Steps 2 — AI Model &amp; Backend</a:t>
            </a:r>
            <a:endParaRPr lang="en-US" sz="3200" dirty="0"/>
          </a:p>
        </p:txBody>
      </p:sp>
      <p:sp>
        <p:nvSpPr>
          <p:cNvPr id="3" name="Text 1"/>
          <p:cNvSpPr/>
          <p:nvPr/>
        </p:nvSpPr>
        <p:spPr>
          <a:xfrm>
            <a:off x="566928" y="932688"/>
            <a:ext cx="11057839" cy="365760"/>
          </a:xfrm>
          <a:prstGeom prst="rect">
            <a:avLst/>
          </a:prstGeom>
          <a:noFill/>
          <a:ln/>
        </p:spPr>
        <p:txBody>
          <a:bodyPr wrap="square" lIns="0" tIns="0" rIns="0" bIns="0" rtlCol="0" anchor="ctr"/>
          <a:lstStyle/>
          <a:p>
            <a:pPr marL="0" indent="0">
              <a:buNone/>
            </a:pPr>
            <a:r>
              <a:rPr lang="en-US" sz="1550" dirty="0">
                <a:solidFill>
                  <a:srgbClr val="5C6E68"/>
                </a:solidFill>
                <a:latin typeface="Calibri" pitchFamily="34" charset="0"/>
                <a:ea typeface="Calibri" pitchFamily="34" charset="-122"/>
                <a:cs typeface="Calibri" pitchFamily="34" charset="-120"/>
              </a:rPr>
              <a:t>Steps 5 to 7: train and start the model, then wire up the two Lambdas and the database</a:t>
            </a:r>
            <a:endParaRPr lang="en-US" sz="1550" dirty="0"/>
          </a:p>
        </p:txBody>
      </p:sp>
      <p:sp>
        <p:nvSpPr>
          <p:cNvPr id="4" name="Shape 2"/>
          <p:cNvSpPr/>
          <p:nvPr/>
        </p:nvSpPr>
        <p:spPr>
          <a:xfrm>
            <a:off x="566928" y="1572768"/>
            <a:ext cx="6446520" cy="1371600"/>
          </a:xfrm>
          <a:prstGeom prst="roundRect">
            <a:avLst>
              <a:gd name="adj" fmla="val 6667"/>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5" name="Shape 3"/>
          <p:cNvSpPr/>
          <p:nvPr/>
        </p:nvSpPr>
        <p:spPr>
          <a:xfrm>
            <a:off x="804672" y="1975104"/>
            <a:ext cx="457200" cy="457200"/>
          </a:xfrm>
          <a:prstGeom prst="ellipse">
            <a:avLst/>
          </a:prstGeom>
          <a:solidFill>
            <a:srgbClr val="0F6B4F"/>
          </a:solidFill>
          <a:ln w="12700">
            <a:solidFill>
              <a:srgbClr val="0F6B4F"/>
            </a:solidFill>
            <a:prstDash val="solid"/>
          </a:ln>
        </p:spPr>
        <p:txBody>
          <a:bodyPr/>
          <a:lstStyle/>
          <a:p>
            <a:endParaRPr lang="en-US"/>
          </a:p>
        </p:txBody>
      </p:sp>
      <p:sp>
        <p:nvSpPr>
          <p:cNvPr id="6" name="Text 4"/>
          <p:cNvSpPr/>
          <p:nvPr/>
        </p:nvSpPr>
        <p:spPr>
          <a:xfrm>
            <a:off x="804672" y="197510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7" name="Text 5"/>
          <p:cNvSpPr/>
          <p:nvPr/>
        </p:nvSpPr>
        <p:spPr>
          <a:xfrm>
            <a:off x="1408176" y="1682496"/>
            <a:ext cx="5367528" cy="384048"/>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Train and start Custom Labels</a:t>
            </a:r>
            <a:endParaRPr lang="en-US" sz="1650" dirty="0"/>
          </a:p>
        </p:txBody>
      </p:sp>
      <p:sp>
        <p:nvSpPr>
          <p:cNvPr id="8" name="Text 6"/>
          <p:cNvSpPr/>
          <p:nvPr/>
        </p:nvSpPr>
        <p:spPr>
          <a:xfrm>
            <a:off x="1408176" y="2066544"/>
            <a:ext cx="5367528" cy="804672"/>
          </a:xfrm>
          <a:prstGeom prst="rect">
            <a:avLst/>
          </a:prstGeom>
          <a:noFill/>
          <a:ln/>
        </p:spPr>
        <p:txBody>
          <a:bodyPr wrap="square" lIns="0" tIns="0" rIns="0" bIns="0" rtlCol="0" anchor="t"/>
          <a:lstStyle/>
          <a:p>
            <a:pPr marL="0" indent="0">
              <a:lnSpc>
                <a:spcPts val="1800"/>
              </a:lnSpc>
              <a:buNone/>
            </a:pPr>
            <a:r>
              <a:rPr lang="en-US" sz="1350" dirty="0">
                <a:solidFill>
                  <a:srgbClr val="5C6E68"/>
                </a:solidFill>
                <a:latin typeface="Calibri" pitchFamily="34" charset="0"/>
                <a:ea typeface="Calibri" pitchFamily="34" charset="-122"/>
                <a:cs typeface="Calibri" pitchFamily="34" charset="-120"/>
              </a:rPr>
              <a:t>Associate the labelled data, train a project version, review the metrics, then start the version with one inference unit and record its ProjectVersionArn.</a:t>
            </a:r>
            <a:endParaRPr lang="en-US" sz="1350" dirty="0"/>
          </a:p>
        </p:txBody>
      </p:sp>
      <p:sp>
        <p:nvSpPr>
          <p:cNvPr id="9" name="Shape 7"/>
          <p:cNvSpPr/>
          <p:nvPr/>
        </p:nvSpPr>
        <p:spPr>
          <a:xfrm>
            <a:off x="566928" y="3108960"/>
            <a:ext cx="6446520" cy="1371600"/>
          </a:xfrm>
          <a:prstGeom prst="roundRect">
            <a:avLst>
              <a:gd name="adj" fmla="val 6667"/>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0" name="Shape 8"/>
          <p:cNvSpPr/>
          <p:nvPr/>
        </p:nvSpPr>
        <p:spPr>
          <a:xfrm>
            <a:off x="804672" y="3511296"/>
            <a:ext cx="457200" cy="457200"/>
          </a:xfrm>
          <a:prstGeom prst="ellipse">
            <a:avLst/>
          </a:prstGeom>
          <a:solidFill>
            <a:srgbClr val="0F6B4F"/>
          </a:solidFill>
          <a:ln w="12700">
            <a:solidFill>
              <a:srgbClr val="0F6B4F"/>
            </a:solidFill>
            <a:prstDash val="solid"/>
          </a:ln>
        </p:spPr>
        <p:txBody>
          <a:bodyPr/>
          <a:lstStyle/>
          <a:p>
            <a:endParaRPr lang="en-US"/>
          </a:p>
        </p:txBody>
      </p:sp>
      <p:sp>
        <p:nvSpPr>
          <p:cNvPr id="11" name="Text 9"/>
          <p:cNvSpPr/>
          <p:nvPr/>
        </p:nvSpPr>
        <p:spPr>
          <a:xfrm>
            <a:off x="804672" y="351129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12" name="Text 10"/>
          <p:cNvSpPr/>
          <p:nvPr/>
        </p:nvSpPr>
        <p:spPr>
          <a:xfrm>
            <a:off x="1408176" y="3218688"/>
            <a:ext cx="5367528" cy="384048"/>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Configure the Analyze Image Lambda</a:t>
            </a:r>
            <a:endParaRPr lang="en-US" sz="1650" dirty="0"/>
          </a:p>
        </p:txBody>
      </p:sp>
      <p:sp>
        <p:nvSpPr>
          <p:cNvPr id="13" name="Text 11"/>
          <p:cNvSpPr/>
          <p:nvPr/>
        </p:nvSpPr>
        <p:spPr>
          <a:xfrm>
            <a:off x="1408176" y="3602736"/>
            <a:ext cx="5367528" cy="804672"/>
          </a:xfrm>
          <a:prstGeom prst="rect">
            <a:avLst/>
          </a:prstGeom>
          <a:noFill/>
          <a:ln/>
        </p:spPr>
        <p:txBody>
          <a:bodyPr wrap="square" lIns="0" tIns="0" rIns="0" bIns="0" rtlCol="0" anchor="t"/>
          <a:lstStyle/>
          <a:p>
            <a:pPr marL="0" indent="0">
              <a:lnSpc>
                <a:spcPts val="1800"/>
              </a:lnSpc>
              <a:buNone/>
            </a:pPr>
            <a:r>
              <a:rPr lang="en-US" sz="1350" dirty="0">
                <a:solidFill>
                  <a:srgbClr val="5C6E68"/>
                </a:solidFill>
                <a:latin typeface="Calibri" pitchFamily="34" charset="0"/>
                <a:ea typeface="Calibri" pitchFamily="34" charset="-122"/>
                <a:cs typeface="Calibri" pitchFamily="34" charset="-120"/>
              </a:rPr>
              <a:t>UPLOAD_BUCKET, REKOGNITION_MODEL_ARN, MIN_CONFIDENCE and PUBLIC_IMAGE_BASE_URL set as environment variables — never in browser code.</a:t>
            </a:r>
            <a:endParaRPr lang="en-US" sz="1350" dirty="0"/>
          </a:p>
        </p:txBody>
      </p:sp>
      <p:sp>
        <p:nvSpPr>
          <p:cNvPr id="14" name="Shape 12"/>
          <p:cNvSpPr/>
          <p:nvPr/>
        </p:nvSpPr>
        <p:spPr>
          <a:xfrm>
            <a:off x="566928" y="4645152"/>
            <a:ext cx="6446520" cy="1371600"/>
          </a:xfrm>
          <a:prstGeom prst="roundRect">
            <a:avLst>
              <a:gd name="adj" fmla="val 6667"/>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5" name="Shape 13"/>
          <p:cNvSpPr/>
          <p:nvPr/>
        </p:nvSpPr>
        <p:spPr>
          <a:xfrm>
            <a:off x="804672" y="5047488"/>
            <a:ext cx="457200" cy="457200"/>
          </a:xfrm>
          <a:prstGeom prst="ellipse">
            <a:avLst/>
          </a:prstGeom>
          <a:solidFill>
            <a:srgbClr val="0F6B4F"/>
          </a:solidFill>
          <a:ln w="12700">
            <a:solidFill>
              <a:srgbClr val="0F6B4F"/>
            </a:solidFill>
            <a:prstDash val="solid"/>
          </a:ln>
        </p:spPr>
        <p:txBody>
          <a:bodyPr/>
          <a:lstStyle/>
          <a:p>
            <a:endParaRPr lang="en-US"/>
          </a:p>
        </p:txBody>
      </p:sp>
      <p:sp>
        <p:nvSpPr>
          <p:cNvPr id="16" name="Text 14"/>
          <p:cNvSpPr/>
          <p:nvPr/>
        </p:nvSpPr>
        <p:spPr>
          <a:xfrm>
            <a:off x="804672" y="504748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17" name="Text 15"/>
          <p:cNvSpPr/>
          <p:nvPr/>
        </p:nvSpPr>
        <p:spPr>
          <a:xfrm>
            <a:off x="1408176" y="4754880"/>
            <a:ext cx="5367528" cy="384048"/>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Create RDS MySQL and the Reports Lambda</a:t>
            </a:r>
            <a:endParaRPr lang="en-US" sz="1650" dirty="0"/>
          </a:p>
        </p:txBody>
      </p:sp>
      <p:sp>
        <p:nvSpPr>
          <p:cNvPr id="18" name="Text 16"/>
          <p:cNvSpPr/>
          <p:nvPr/>
        </p:nvSpPr>
        <p:spPr>
          <a:xfrm>
            <a:off x="1408176" y="5138928"/>
            <a:ext cx="5367528" cy="804672"/>
          </a:xfrm>
          <a:prstGeom prst="rect">
            <a:avLst/>
          </a:prstGeom>
          <a:noFill/>
          <a:ln/>
        </p:spPr>
        <p:txBody>
          <a:bodyPr wrap="square" lIns="0" tIns="0" rIns="0" bIns="0" rtlCol="0" anchor="t"/>
          <a:lstStyle/>
          <a:p>
            <a:pPr marL="0" indent="0">
              <a:lnSpc>
                <a:spcPts val="1800"/>
              </a:lnSpc>
              <a:buNone/>
            </a:pPr>
            <a:r>
              <a:rPr lang="en-US" sz="1350" dirty="0">
                <a:solidFill>
                  <a:srgbClr val="5C6E68"/>
                </a:solidFill>
                <a:latin typeface="Calibri" pitchFamily="34" charset="0"/>
                <a:ea typeface="Calibri" pitchFamily="34" charset="-122"/>
                <a:cs typeface="Calibri" pitchFamily="34" charset="-120"/>
              </a:rPr>
              <a:t>Node.js function bundles mysql2/promise; DB_HOST, DB_PORT, DB_NAME, DB_USER and DB_PASSWORD are environment variables; the reports table is created if missing.</a:t>
            </a:r>
            <a:endParaRPr lang="en-US" sz="1350" dirty="0"/>
          </a:p>
        </p:txBody>
      </p:sp>
      <p:pic>
        <p:nvPicPr>
          <p:cNvPr id="19" name="Image 0" descr="img/image22.jpg"/>
          <p:cNvPicPr>
            <a:picLocks noChangeAspect="1"/>
          </p:cNvPicPr>
          <p:nvPr/>
        </p:nvPicPr>
        <p:blipFill>
          <a:blip r:embed="rId3"/>
          <a:stretch>
            <a:fillRect/>
          </a:stretch>
        </p:blipFill>
        <p:spPr>
          <a:xfrm>
            <a:off x="7315200" y="1572768"/>
            <a:ext cx="4309567" cy="1965960"/>
          </a:xfrm>
          <a:prstGeom prst="rect">
            <a:avLst/>
          </a:prstGeom>
          <a:effectLst>
            <a:outerShdw blurRad="177800" dist="25400" dir="5400000" algn="bl" rotWithShape="0">
              <a:srgbClr val="0D2A22">
                <a:alpha val="16000"/>
              </a:srgbClr>
            </a:outerShdw>
          </a:effectLst>
        </p:spPr>
      </p:pic>
      <p:sp>
        <p:nvSpPr>
          <p:cNvPr id="20" name="Text 17"/>
          <p:cNvSpPr/>
          <p:nvPr/>
        </p:nvSpPr>
        <p:spPr>
          <a:xfrm>
            <a:off x="7315200" y="3602736"/>
            <a:ext cx="4309567" cy="274320"/>
          </a:xfrm>
          <a:prstGeom prst="rect">
            <a:avLst/>
          </a:prstGeom>
          <a:noFill/>
          <a:ln/>
        </p:spPr>
        <p:txBody>
          <a:bodyPr wrap="square" lIns="0" tIns="0" rIns="0" bIns="0" rtlCol="0" anchor="t"/>
          <a:lstStyle/>
          <a:p>
            <a:pPr marL="0" indent="0" algn="ctr">
              <a:buNone/>
            </a:pPr>
            <a:r>
              <a:rPr lang="en-US" sz="1150" dirty="0">
                <a:solidFill>
                  <a:srgbClr val="5C6E68"/>
                </a:solidFill>
                <a:latin typeface="Calibri" pitchFamily="34" charset="0"/>
                <a:ea typeface="Calibri" pitchFamily="34" charset="-122"/>
                <a:cs typeface="Calibri" pitchFamily="34" charset="-120"/>
              </a:rPr>
              <a:t>Model RUNNING with one inference unit and its ARN</a:t>
            </a:r>
            <a:endParaRPr lang="en-US" sz="1150" dirty="0"/>
          </a:p>
        </p:txBody>
      </p:sp>
      <p:pic>
        <p:nvPicPr>
          <p:cNvPr id="21" name="Image 1" descr="img/image33.jpg"/>
          <p:cNvPicPr>
            <a:picLocks noChangeAspect="1"/>
          </p:cNvPicPr>
          <p:nvPr/>
        </p:nvPicPr>
        <p:blipFill>
          <a:blip r:embed="rId4"/>
          <a:stretch>
            <a:fillRect/>
          </a:stretch>
        </p:blipFill>
        <p:spPr>
          <a:xfrm>
            <a:off x="7315200" y="3950208"/>
            <a:ext cx="4309567" cy="1965960"/>
          </a:xfrm>
          <a:prstGeom prst="rect">
            <a:avLst/>
          </a:prstGeom>
          <a:effectLst>
            <a:outerShdw blurRad="177800" dist="25400" dir="5400000" algn="bl" rotWithShape="0">
              <a:srgbClr val="0D2A22">
                <a:alpha val="16000"/>
              </a:srgbClr>
            </a:outerShdw>
          </a:effectLst>
        </p:spPr>
      </p:pic>
      <p:sp>
        <p:nvSpPr>
          <p:cNvPr id="22" name="Text 18"/>
          <p:cNvSpPr/>
          <p:nvPr/>
        </p:nvSpPr>
        <p:spPr>
          <a:xfrm>
            <a:off x="7315200" y="5980176"/>
            <a:ext cx="4309567" cy="274320"/>
          </a:xfrm>
          <a:prstGeom prst="rect">
            <a:avLst/>
          </a:prstGeom>
          <a:noFill/>
          <a:ln/>
        </p:spPr>
        <p:txBody>
          <a:bodyPr wrap="square" lIns="0" tIns="0" rIns="0" bIns="0" rtlCol="0" anchor="t"/>
          <a:lstStyle/>
          <a:p>
            <a:pPr marL="0" indent="0" algn="ctr">
              <a:buNone/>
            </a:pPr>
            <a:r>
              <a:rPr lang="en-US" sz="1150" dirty="0">
                <a:solidFill>
                  <a:srgbClr val="5C6E68"/>
                </a:solidFill>
                <a:latin typeface="Calibri" pitchFamily="34" charset="0"/>
                <a:ea typeface="Calibri" pitchFamily="34" charset="-122"/>
                <a:cs typeface="Calibri" pitchFamily="34" charset="-120"/>
              </a:rPr>
              <a:t>Runtime report-image prefix in the data bucket</a:t>
            </a:r>
            <a:endParaRPr lang="en-US" sz="1150" dirty="0"/>
          </a:p>
        </p:txBody>
      </p:sp>
      <p:sp>
        <p:nvSpPr>
          <p:cNvPr id="24" name="Text 20"/>
          <p:cNvSpPr/>
          <p:nvPr/>
        </p:nvSpPr>
        <p:spPr>
          <a:xfrm>
            <a:off x="10801807" y="6382512"/>
            <a:ext cx="822960" cy="292608"/>
          </a:xfrm>
          <a:prstGeom prst="rect">
            <a:avLst/>
          </a:prstGeom>
          <a:noFill/>
          <a:ln/>
        </p:spPr>
        <p:txBody>
          <a:bodyPr wrap="square" lIns="0" tIns="0" rIns="0" bIns="0" rtlCol="0" anchor="ctr"/>
          <a:lstStyle/>
          <a:p>
            <a:pPr marL="0" indent="0" algn="r">
              <a:buNone/>
            </a:pPr>
            <a:r>
              <a:rPr lang="en-US" sz="1100" b="1" dirty="0">
                <a:solidFill>
                  <a:srgbClr val="0F6B4F"/>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7FAF9"/>
        </a:solidFill>
        <a:effectLst/>
      </p:bgPr>
    </p:bg>
    <p:spTree>
      <p:nvGrpSpPr>
        <p:cNvPr id="1" name=""/>
        <p:cNvGrpSpPr/>
        <p:nvPr/>
      </p:nvGrpSpPr>
      <p:grpSpPr>
        <a:xfrm>
          <a:off x="0" y="0"/>
          <a:ext cx="0" cy="0"/>
          <a:chOff x="0" y="0"/>
          <a:chExt cx="0" cy="0"/>
        </a:xfrm>
      </p:grpSpPr>
      <p:sp>
        <p:nvSpPr>
          <p:cNvPr id="2" name="Text 0"/>
          <p:cNvSpPr/>
          <p:nvPr/>
        </p:nvSpPr>
        <p:spPr>
          <a:xfrm>
            <a:off x="566928" y="347472"/>
            <a:ext cx="11057839" cy="566928"/>
          </a:xfrm>
          <a:prstGeom prst="rect">
            <a:avLst/>
          </a:prstGeom>
          <a:noFill/>
          <a:ln/>
        </p:spPr>
        <p:txBody>
          <a:bodyPr wrap="square" lIns="0" tIns="0" rIns="0" bIns="0" rtlCol="0" anchor="ctr"/>
          <a:lstStyle/>
          <a:p>
            <a:pPr marL="0" indent="0">
              <a:buNone/>
            </a:pPr>
            <a:r>
              <a:rPr lang="en-US" sz="3200" b="1" dirty="0">
                <a:solidFill>
                  <a:srgbClr val="0D2A22"/>
                </a:solidFill>
                <a:latin typeface="Calibri" pitchFamily="34" charset="0"/>
                <a:ea typeface="Calibri" pitchFamily="34" charset="-122"/>
                <a:cs typeface="Calibri" pitchFamily="34" charset="-120"/>
              </a:rPr>
              <a:t>Deployment Steps 3 — API, Identity &amp; Delivery</a:t>
            </a:r>
            <a:endParaRPr lang="en-US" sz="3200" dirty="0"/>
          </a:p>
        </p:txBody>
      </p:sp>
      <p:sp>
        <p:nvSpPr>
          <p:cNvPr id="3" name="Text 1"/>
          <p:cNvSpPr/>
          <p:nvPr/>
        </p:nvSpPr>
        <p:spPr>
          <a:xfrm>
            <a:off x="566928" y="932688"/>
            <a:ext cx="11057839" cy="365760"/>
          </a:xfrm>
          <a:prstGeom prst="rect">
            <a:avLst/>
          </a:prstGeom>
          <a:noFill/>
          <a:ln/>
        </p:spPr>
        <p:txBody>
          <a:bodyPr wrap="square" lIns="0" tIns="0" rIns="0" bIns="0" rtlCol="0" anchor="ctr"/>
          <a:lstStyle/>
          <a:p>
            <a:pPr marL="0" indent="0">
              <a:buNone/>
            </a:pPr>
            <a:r>
              <a:rPr lang="en-US" sz="1550" dirty="0">
                <a:solidFill>
                  <a:srgbClr val="5C6E68"/>
                </a:solidFill>
                <a:latin typeface="Calibri" pitchFamily="34" charset="0"/>
                <a:ea typeface="Calibri" pitchFamily="34" charset="-122"/>
                <a:cs typeface="Calibri" pitchFamily="34" charset="-120"/>
              </a:rPr>
              <a:t>Steps 8 to 11: expose the backend safely, then put CloudFront in front of everything</a:t>
            </a:r>
            <a:endParaRPr lang="en-US" sz="1550" dirty="0"/>
          </a:p>
        </p:txBody>
      </p:sp>
      <p:sp>
        <p:nvSpPr>
          <p:cNvPr id="4" name="Shape 2"/>
          <p:cNvSpPr/>
          <p:nvPr/>
        </p:nvSpPr>
        <p:spPr>
          <a:xfrm>
            <a:off x="566928" y="1572768"/>
            <a:ext cx="6446520" cy="1097280"/>
          </a:xfrm>
          <a:prstGeom prst="roundRect">
            <a:avLst>
              <a:gd name="adj" fmla="val 8333"/>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5" name="Shape 3"/>
          <p:cNvSpPr/>
          <p:nvPr/>
        </p:nvSpPr>
        <p:spPr>
          <a:xfrm>
            <a:off x="804672" y="1883664"/>
            <a:ext cx="457200" cy="457200"/>
          </a:xfrm>
          <a:prstGeom prst="ellipse">
            <a:avLst/>
          </a:prstGeom>
          <a:solidFill>
            <a:srgbClr val="0F6B4F"/>
          </a:solidFill>
          <a:ln w="12700">
            <a:solidFill>
              <a:srgbClr val="0F6B4F"/>
            </a:solidFill>
            <a:prstDash val="solid"/>
          </a:ln>
        </p:spPr>
        <p:txBody>
          <a:bodyPr/>
          <a:lstStyle/>
          <a:p>
            <a:endParaRPr lang="en-US"/>
          </a:p>
        </p:txBody>
      </p:sp>
      <p:sp>
        <p:nvSpPr>
          <p:cNvPr id="6" name="Text 4"/>
          <p:cNvSpPr/>
          <p:nvPr/>
        </p:nvSpPr>
        <p:spPr>
          <a:xfrm>
            <a:off x="804672" y="1883664"/>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7" name="Text 5"/>
          <p:cNvSpPr/>
          <p:nvPr/>
        </p:nvSpPr>
        <p:spPr>
          <a:xfrm>
            <a:off x="1408176" y="1682496"/>
            <a:ext cx="5367528" cy="347472"/>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Create the API Gateway HTTP API</a:t>
            </a:r>
            <a:endParaRPr lang="en-US" sz="1650" dirty="0"/>
          </a:p>
        </p:txBody>
      </p:sp>
      <p:sp>
        <p:nvSpPr>
          <p:cNvPr id="8" name="Text 6"/>
          <p:cNvSpPr/>
          <p:nvPr/>
        </p:nvSpPr>
        <p:spPr>
          <a:xfrm>
            <a:off x="1408176" y="2029968"/>
            <a:ext cx="5367528" cy="585216"/>
          </a:xfrm>
          <a:prstGeom prst="rect">
            <a:avLst/>
          </a:prstGeom>
          <a:noFill/>
          <a:ln/>
        </p:spPr>
        <p:txBody>
          <a:bodyPr wrap="square" lIns="0" tIns="0" rIns="0" bIns="0" rtlCol="0" anchor="t"/>
          <a:lstStyle/>
          <a:p>
            <a:pPr marL="0" indent="0">
              <a:lnSpc>
                <a:spcPts val="1800"/>
              </a:lnSpc>
              <a:buNone/>
            </a:pPr>
            <a:r>
              <a:rPr lang="en-US" sz="1350" dirty="0">
                <a:solidFill>
                  <a:srgbClr val="5C6E68"/>
                </a:solidFill>
                <a:latin typeface="Calibri" pitchFamily="34" charset="0"/>
                <a:ea typeface="Calibri" pitchFamily="34" charset="-122"/>
                <a:cs typeface="Calibri" pitchFamily="34" charset="-120"/>
              </a:rPr>
              <a:t>Seven routes on the dev stage with Lambda integrations, browser CORS, and a Cognito JWT authorizer supplying validated claims.</a:t>
            </a:r>
            <a:endParaRPr lang="en-US" sz="1350" dirty="0"/>
          </a:p>
        </p:txBody>
      </p:sp>
      <p:sp>
        <p:nvSpPr>
          <p:cNvPr id="9" name="Shape 7"/>
          <p:cNvSpPr/>
          <p:nvPr/>
        </p:nvSpPr>
        <p:spPr>
          <a:xfrm>
            <a:off x="566928" y="2752344"/>
            <a:ext cx="6446520" cy="1097280"/>
          </a:xfrm>
          <a:prstGeom prst="roundRect">
            <a:avLst>
              <a:gd name="adj" fmla="val 8333"/>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0" name="Shape 8"/>
          <p:cNvSpPr/>
          <p:nvPr/>
        </p:nvSpPr>
        <p:spPr>
          <a:xfrm>
            <a:off x="804672" y="3063240"/>
            <a:ext cx="457200" cy="457200"/>
          </a:xfrm>
          <a:prstGeom prst="ellipse">
            <a:avLst/>
          </a:prstGeom>
          <a:solidFill>
            <a:srgbClr val="0F6B4F"/>
          </a:solidFill>
          <a:ln w="12700">
            <a:solidFill>
              <a:srgbClr val="0F6B4F"/>
            </a:solidFill>
            <a:prstDash val="solid"/>
          </a:ln>
        </p:spPr>
        <p:txBody>
          <a:bodyPr/>
          <a:lstStyle/>
          <a:p>
            <a:endParaRPr lang="en-US"/>
          </a:p>
        </p:txBody>
      </p:sp>
      <p:sp>
        <p:nvSpPr>
          <p:cNvPr id="11" name="Text 9"/>
          <p:cNvSpPr/>
          <p:nvPr/>
        </p:nvSpPr>
        <p:spPr>
          <a:xfrm>
            <a:off x="804672" y="30632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9</a:t>
            </a:r>
            <a:endParaRPr lang="en-US" sz="1800" dirty="0"/>
          </a:p>
        </p:txBody>
      </p:sp>
      <p:sp>
        <p:nvSpPr>
          <p:cNvPr id="12" name="Text 10"/>
          <p:cNvSpPr/>
          <p:nvPr/>
        </p:nvSpPr>
        <p:spPr>
          <a:xfrm>
            <a:off x="1408176" y="2862072"/>
            <a:ext cx="5367528" cy="347472"/>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Configure Cognito, SNS and Location</a:t>
            </a:r>
            <a:endParaRPr lang="en-US" sz="1650" dirty="0"/>
          </a:p>
        </p:txBody>
      </p:sp>
      <p:sp>
        <p:nvSpPr>
          <p:cNvPr id="13" name="Text 11"/>
          <p:cNvSpPr/>
          <p:nvPr/>
        </p:nvSpPr>
        <p:spPr>
          <a:xfrm>
            <a:off x="1408176" y="3209544"/>
            <a:ext cx="5367528" cy="585216"/>
          </a:xfrm>
          <a:prstGeom prst="rect">
            <a:avLst/>
          </a:prstGeom>
          <a:noFill/>
          <a:ln/>
        </p:spPr>
        <p:txBody>
          <a:bodyPr wrap="square" lIns="0" tIns="0" rIns="0" bIns="0" rtlCol="0" anchor="t"/>
          <a:lstStyle/>
          <a:p>
            <a:pPr marL="0" indent="0">
              <a:lnSpc>
                <a:spcPts val="1800"/>
              </a:lnSpc>
              <a:buNone/>
            </a:pPr>
            <a:r>
              <a:rPr lang="en-US" sz="1350" dirty="0">
                <a:solidFill>
                  <a:srgbClr val="5C6E68"/>
                </a:solidFill>
                <a:latin typeface="Calibri" pitchFamily="34" charset="0"/>
                <a:ea typeface="Calibri" pitchFamily="34" charset="-122"/>
                <a:cs typeface="Calibri" pitchFamily="34" charset="-120"/>
              </a:rPr>
              <a:t>students and staff groups with test users; staff and student notification topics; ap-southeast-2 map style with a restricted browser key.</a:t>
            </a:r>
            <a:endParaRPr lang="en-US" sz="1350" dirty="0"/>
          </a:p>
        </p:txBody>
      </p:sp>
      <p:sp>
        <p:nvSpPr>
          <p:cNvPr id="14" name="Shape 12"/>
          <p:cNvSpPr/>
          <p:nvPr/>
        </p:nvSpPr>
        <p:spPr>
          <a:xfrm>
            <a:off x="566928" y="3931920"/>
            <a:ext cx="6446520" cy="1097280"/>
          </a:xfrm>
          <a:prstGeom prst="roundRect">
            <a:avLst>
              <a:gd name="adj" fmla="val 8333"/>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5" name="Shape 13"/>
          <p:cNvSpPr/>
          <p:nvPr/>
        </p:nvSpPr>
        <p:spPr>
          <a:xfrm>
            <a:off x="804672" y="4242816"/>
            <a:ext cx="457200" cy="457200"/>
          </a:xfrm>
          <a:prstGeom prst="ellipse">
            <a:avLst/>
          </a:prstGeom>
          <a:solidFill>
            <a:srgbClr val="0F6B4F"/>
          </a:solidFill>
          <a:ln w="12700">
            <a:solidFill>
              <a:srgbClr val="0F6B4F"/>
            </a:solidFill>
            <a:prstDash val="solid"/>
          </a:ln>
        </p:spPr>
        <p:txBody>
          <a:bodyPr/>
          <a:lstStyle/>
          <a:p>
            <a:endParaRPr lang="en-US"/>
          </a:p>
        </p:txBody>
      </p:sp>
      <p:sp>
        <p:nvSpPr>
          <p:cNvPr id="16" name="Text 14"/>
          <p:cNvSpPr/>
          <p:nvPr/>
        </p:nvSpPr>
        <p:spPr>
          <a:xfrm>
            <a:off x="804672" y="4242816"/>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10</a:t>
            </a:r>
            <a:endParaRPr lang="en-US" sz="1800" dirty="0"/>
          </a:p>
        </p:txBody>
      </p:sp>
      <p:sp>
        <p:nvSpPr>
          <p:cNvPr id="17" name="Text 15"/>
          <p:cNvSpPr/>
          <p:nvPr/>
        </p:nvSpPr>
        <p:spPr>
          <a:xfrm>
            <a:off x="1408176" y="4041648"/>
            <a:ext cx="5367528" cy="347472"/>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Create the CloudFront distribution</a:t>
            </a:r>
            <a:endParaRPr lang="en-US" sz="1650" dirty="0"/>
          </a:p>
        </p:txBody>
      </p:sp>
      <p:sp>
        <p:nvSpPr>
          <p:cNvPr id="18" name="Text 16"/>
          <p:cNvSpPr/>
          <p:nvPr/>
        </p:nvSpPr>
        <p:spPr>
          <a:xfrm>
            <a:off x="1408176" y="4389120"/>
            <a:ext cx="5367528" cy="585216"/>
          </a:xfrm>
          <a:prstGeom prst="rect">
            <a:avLst/>
          </a:prstGeom>
          <a:noFill/>
          <a:ln/>
        </p:spPr>
        <p:txBody>
          <a:bodyPr wrap="square" lIns="0" tIns="0" rIns="0" bIns="0" rtlCol="0" anchor="t"/>
          <a:lstStyle/>
          <a:p>
            <a:pPr marL="0" indent="0">
              <a:lnSpc>
                <a:spcPts val="1800"/>
              </a:lnSpc>
              <a:buNone/>
            </a:pPr>
            <a:r>
              <a:rPr lang="en-US" sz="1350" dirty="0">
                <a:solidFill>
                  <a:srgbClr val="5C6E68"/>
                </a:solidFill>
                <a:latin typeface="Calibri" pitchFamily="34" charset="0"/>
                <a:ea typeface="Calibri" pitchFamily="34" charset="-122"/>
                <a:cs typeface="Calibri" pitchFamily="34" charset="-120"/>
              </a:rPr>
              <a:t>Enabled distribution d2a0yi8f3vpirh.cloudfront.net with the website and data S3 origins and index.html as the root object.</a:t>
            </a:r>
            <a:endParaRPr lang="en-US" sz="1350" dirty="0"/>
          </a:p>
        </p:txBody>
      </p:sp>
      <p:sp>
        <p:nvSpPr>
          <p:cNvPr id="19" name="Shape 17"/>
          <p:cNvSpPr/>
          <p:nvPr/>
        </p:nvSpPr>
        <p:spPr>
          <a:xfrm>
            <a:off x="566928" y="5111496"/>
            <a:ext cx="6446520" cy="1097280"/>
          </a:xfrm>
          <a:prstGeom prst="roundRect">
            <a:avLst>
              <a:gd name="adj" fmla="val 8333"/>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20" name="Shape 18"/>
          <p:cNvSpPr/>
          <p:nvPr/>
        </p:nvSpPr>
        <p:spPr>
          <a:xfrm>
            <a:off x="804672" y="5422392"/>
            <a:ext cx="457200" cy="457200"/>
          </a:xfrm>
          <a:prstGeom prst="ellipse">
            <a:avLst/>
          </a:prstGeom>
          <a:solidFill>
            <a:srgbClr val="0F6B4F"/>
          </a:solidFill>
          <a:ln w="12700">
            <a:solidFill>
              <a:srgbClr val="0F6B4F"/>
            </a:solidFill>
            <a:prstDash val="solid"/>
          </a:ln>
        </p:spPr>
        <p:txBody>
          <a:bodyPr/>
          <a:lstStyle/>
          <a:p>
            <a:endParaRPr lang="en-US"/>
          </a:p>
        </p:txBody>
      </p:sp>
      <p:sp>
        <p:nvSpPr>
          <p:cNvPr id="21" name="Text 19"/>
          <p:cNvSpPr/>
          <p:nvPr/>
        </p:nvSpPr>
        <p:spPr>
          <a:xfrm>
            <a:off x="804672" y="542239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11</a:t>
            </a:r>
            <a:endParaRPr lang="en-US" sz="1800" dirty="0"/>
          </a:p>
        </p:txBody>
      </p:sp>
      <p:sp>
        <p:nvSpPr>
          <p:cNvPr id="22" name="Text 20"/>
          <p:cNvSpPr/>
          <p:nvPr/>
        </p:nvSpPr>
        <p:spPr>
          <a:xfrm>
            <a:off x="1408176" y="5221224"/>
            <a:ext cx="5367528" cy="347472"/>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End-to-end verification</a:t>
            </a:r>
            <a:endParaRPr lang="en-US" sz="1650" dirty="0"/>
          </a:p>
        </p:txBody>
      </p:sp>
      <p:sp>
        <p:nvSpPr>
          <p:cNvPr id="23" name="Text 21"/>
          <p:cNvSpPr/>
          <p:nvPr/>
        </p:nvSpPr>
        <p:spPr>
          <a:xfrm>
            <a:off x="1408176" y="5568696"/>
            <a:ext cx="5367528" cy="585216"/>
          </a:xfrm>
          <a:prstGeom prst="rect">
            <a:avLst/>
          </a:prstGeom>
          <a:noFill/>
          <a:ln/>
        </p:spPr>
        <p:txBody>
          <a:bodyPr wrap="square" lIns="0" tIns="0" rIns="0" bIns="0" rtlCol="0" anchor="t"/>
          <a:lstStyle/>
          <a:p>
            <a:pPr marL="0" indent="0">
              <a:lnSpc>
                <a:spcPts val="1800"/>
              </a:lnSpc>
              <a:buNone/>
            </a:pPr>
            <a:r>
              <a:rPr lang="en-US" sz="1350" dirty="0">
                <a:solidFill>
                  <a:srgbClr val="5C6E68"/>
                </a:solidFill>
                <a:latin typeface="Calibri" pitchFamily="34" charset="0"/>
                <a:ea typeface="Calibri" pitchFamily="34" charset="-122"/>
                <a:cs typeface="Calibri" pitchFamily="34" charset="-120"/>
              </a:rPr>
              <a:t>Student create → AI label → feed and My Reports → staff update → notification → cache invalidation after any file change.</a:t>
            </a:r>
            <a:endParaRPr lang="en-US" sz="1350" dirty="0"/>
          </a:p>
        </p:txBody>
      </p:sp>
      <p:pic>
        <p:nvPicPr>
          <p:cNvPr id="24" name="Image 0" descr="img/image27.jpg"/>
          <p:cNvPicPr>
            <a:picLocks noChangeAspect="1"/>
          </p:cNvPicPr>
          <p:nvPr/>
        </p:nvPicPr>
        <p:blipFill>
          <a:blip r:embed="rId3"/>
          <a:stretch>
            <a:fillRect/>
          </a:stretch>
        </p:blipFill>
        <p:spPr>
          <a:xfrm>
            <a:off x="7315200" y="1572768"/>
            <a:ext cx="4309567" cy="1965960"/>
          </a:xfrm>
          <a:prstGeom prst="rect">
            <a:avLst/>
          </a:prstGeom>
          <a:effectLst>
            <a:outerShdw blurRad="177800" dist="25400" dir="5400000" algn="bl" rotWithShape="0">
              <a:srgbClr val="0D2A22">
                <a:alpha val="16000"/>
              </a:srgbClr>
            </a:outerShdw>
          </a:effectLst>
        </p:spPr>
      </p:pic>
      <p:sp>
        <p:nvSpPr>
          <p:cNvPr id="25" name="Text 22"/>
          <p:cNvSpPr/>
          <p:nvPr/>
        </p:nvSpPr>
        <p:spPr>
          <a:xfrm>
            <a:off x="7315200" y="3602736"/>
            <a:ext cx="4309567" cy="274320"/>
          </a:xfrm>
          <a:prstGeom prst="rect">
            <a:avLst/>
          </a:prstGeom>
          <a:noFill/>
          <a:ln/>
        </p:spPr>
        <p:txBody>
          <a:bodyPr wrap="square" lIns="0" tIns="0" rIns="0" bIns="0" rtlCol="0" anchor="t"/>
          <a:lstStyle/>
          <a:p>
            <a:pPr marL="0" indent="0" algn="ctr">
              <a:buNone/>
            </a:pPr>
            <a:r>
              <a:rPr lang="en-US" sz="1150" dirty="0">
                <a:solidFill>
                  <a:srgbClr val="5C6E68"/>
                </a:solidFill>
                <a:latin typeface="Calibri" pitchFamily="34" charset="0"/>
                <a:ea typeface="Calibri" pitchFamily="34" charset="-122"/>
                <a:cs typeface="Calibri" pitchFamily="34" charset="-120"/>
              </a:rPr>
              <a:t>Enabled distribution and final HTTPS domain</a:t>
            </a:r>
            <a:endParaRPr lang="en-US" sz="1150" dirty="0"/>
          </a:p>
        </p:txBody>
      </p:sp>
      <p:pic>
        <p:nvPicPr>
          <p:cNvPr id="26" name="Image 1" descr="img/image28.jpg"/>
          <p:cNvPicPr>
            <a:picLocks noChangeAspect="1"/>
          </p:cNvPicPr>
          <p:nvPr/>
        </p:nvPicPr>
        <p:blipFill>
          <a:blip r:embed="rId4"/>
          <a:stretch>
            <a:fillRect/>
          </a:stretch>
        </p:blipFill>
        <p:spPr>
          <a:xfrm>
            <a:off x="7315200" y="3950208"/>
            <a:ext cx="4309567" cy="1965960"/>
          </a:xfrm>
          <a:prstGeom prst="rect">
            <a:avLst/>
          </a:prstGeom>
          <a:effectLst>
            <a:outerShdw blurRad="177800" dist="25400" dir="5400000" algn="bl" rotWithShape="0">
              <a:srgbClr val="0D2A22">
                <a:alpha val="16000"/>
              </a:srgbClr>
            </a:outerShdw>
          </a:effectLst>
        </p:spPr>
      </p:pic>
      <p:sp>
        <p:nvSpPr>
          <p:cNvPr id="27" name="Text 23"/>
          <p:cNvSpPr/>
          <p:nvPr/>
        </p:nvSpPr>
        <p:spPr>
          <a:xfrm>
            <a:off x="7315200" y="5980176"/>
            <a:ext cx="4309567" cy="274320"/>
          </a:xfrm>
          <a:prstGeom prst="rect">
            <a:avLst/>
          </a:prstGeom>
          <a:noFill/>
          <a:ln/>
        </p:spPr>
        <p:txBody>
          <a:bodyPr wrap="square" lIns="0" tIns="0" rIns="0" bIns="0" rtlCol="0" anchor="t"/>
          <a:lstStyle/>
          <a:p>
            <a:pPr marL="0" indent="0" algn="ctr">
              <a:buNone/>
            </a:pPr>
            <a:r>
              <a:rPr lang="en-US" sz="1150" dirty="0">
                <a:solidFill>
                  <a:srgbClr val="5C6E68"/>
                </a:solidFill>
                <a:latin typeface="Calibri" pitchFamily="34" charset="0"/>
                <a:ea typeface="Calibri" pitchFamily="34" charset="-122"/>
                <a:cs typeface="Calibri" pitchFamily="34" charset="-120"/>
              </a:rPr>
              <a:t>CloudFront origins: website bucket and data bucket</a:t>
            </a:r>
            <a:endParaRPr lang="en-US" sz="1150" dirty="0"/>
          </a:p>
        </p:txBody>
      </p:sp>
      <p:sp>
        <p:nvSpPr>
          <p:cNvPr id="29" name="Text 25"/>
          <p:cNvSpPr/>
          <p:nvPr/>
        </p:nvSpPr>
        <p:spPr>
          <a:xfrm>
            <a:off x="10801807" y="6382512"/>
            <a:ext cx="822960" cy="292608"/>
          </a:xfrm>
          <a:prstGeom prst="rect">
            <a:avLst/>
          </a:prstGeom>
          <a:noFill/>
          <a:ln/>
        </p:spPr>
        <p:txBody>
          <a:bodyPr wrap="square" lIns="0" tIns="0" rIns="0" bIns="0" rtlCol="0" anchor="ctr"/>
          <a:lstStyle/>
          <a:p>
            <a:pPr marL="0" indent="0" algn="r">
              <a:buNone/>
            </a:pPr>
            <a:r>
              <a:rPr lang="en-US" sz="1100" b="1" dirty="0">
                <a:solidFill>
                  <a:srgbClr val="0F6B4F"/>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7FAF9"/>
        </a:solidFill>
        <a:effectLst/>
      </p:bgPr>
    </p:bg>
    <p:spTree>
      <p:nvGrpSpPr>
        <p:cNvPr id="1" name=""/>
        <p:cNvGrpSpPr/>
        <p:nvPr/>
      </p:nvGrpSpPr>
      <p:grpSpPr>
        <a:xfrm>
          <a:off x="0" y="0"/>
          <a:ext cx="0" cy="0"/>
          <a:chOff x="0" y="0"/>
          <a:chExt cx="0" cy="0"/>
        </a:xfrm>
      </p:grpSpPr>
      <p:sp>
        <p:nvSpPr>
          <p:cNvPr id="2" name="Text 0"/>
          <p:cNvSpPr/>
          <p:nvPr/>
        </p:nvSpPr>
        <p:spPr>
          <a:xfrm>
            <a:off x="566928" y="347472"/>
            <a:ext cx="11057839" cy="566928"/>
          </a:xfrm>
          <a:prstGeom prst="rect">
            <a:avLst/>
          </a:prstGeom>
          <a:noFill/>
          <a:ln/>
        </p:spPr>
        <p:txBody>
          <a:bodyPr wrap="square" lIns="0" tIns="0" rIns="0" bIns="0" rtlCol="0" anchor="ctr"/>
          <a:lstStyle/>
          <a:p>
            <a:pPr marL="0" indent="0">
              <a:buNone/>
            </a:pPr>
            <a:r>
              <a:rPr lang="en-US" sz="3200" b="1" dirty="0">
                <a:solidFill>
                  <a:srgbClr val="0D2A22"/>
                </a:solidFill>
                <a:latin typeface="Calibri" pitchFamily="34" charset="0"/>
                <a:ea typeface="Calibri" pitchFamily="34" charset="-122"/>
                <a:cs typeface="Calibri" pitchFamily="34" charset="-120"/>
              </a:rPr>
              <a:t>Cloud Security &amp; Least Privilege</a:t>
            </a:r>
            <a:endParaRPr lang="en-US" sz="3200" dirty="0"/>
          </a:p>
        </p:txBody>
      </p:sp>
      <p:sp>
        <p:nvSpPr>
          <p:cNvPr id="3" name="Text 1"/>
          <p:cNvSpPr/>
          <p:nvPr/>
        </p:nvSpPr>
        <p:spPr>
          <a:xfrm>
            <a:off x="566928" y="932688"/>
            <a:ext cx="11057839" cy="365760"/>
          </a:xfrm>
          <a:prstGeom prst="rect">
            <a:avLst/>
          </a:prstGeom>
          <a:noFill/>
          <a:ln/>
        </p:spPr>
        <p:txBody>
          <a:bodyPr wrap="square" lIns="0" tIns="0" rIns="0" bIns="0" rtlCol="0" anchor="ctr"/>
          <a:lstStyle/>
          <a:p>
            <a:pPr marL="0" indent="0">
              <a:buNone/>
            </a:pPr>
            <a:r>
              <a:rPr lang="en-US" sz="1550" dirty="0">
                <a:solidFill>
                  <a:srgbClr val="5C6E68"/>
                </a:solidFill>
                <a:latin typeface="Calibri" pitchFamily="34" charset="0"/>
                <a:ea typeface="Calibri" pitchFamily="34" charset="-122"/>
                <a:cs typeface="Calibri" pitchFamily="34" charset="-120"/>
              </a:rPr>
              <a:t>Five independent layers — no single control is the whole defence</a:t>
            </a:r>
            <a:endParaRPr lang="en-US" sz="1550" dirty="0"/>
          </a:p>
        </p:txBody>
      </p:sp>
      <p:sp>
        <p:nvSpPr>
          <p:cNvPr id="4" name="Shape 2"/>
          <p:cNvSpPr/>
          <p:nvPr/>
        </p:nvSpPr>
        <p:spPr>
          <a:xfrm>
            <a:off x="566928" y="1572768"/>
            <a:ext cx="3086100" cy="1874520"/>
          </a:xfrm>
          <a:prstGeom prst="roundRect">
            <a:avLst>
              <a:gd name="adj" fmla="val 4878"/>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5" name="Text 3"/>
          <p:cNvSpPr/>
          <p:nvPr/>
        </p:nvSpPr>
        <p:spPr>
          <a:xfrm>
            <a:off x="804672" y="1700784"/>
            <a:ext cx="2610612" cy="384048"/>
          </a:xfrm>
          <a:prstGeom prst="rect">
            <a:avLst/>
          </a:prstGeom>
          <a:noFill/>
          <a:ln/>
        </p:spPr>
        <p:txBody>
          <a:bodyPr wrap="square" lIns="0" tIns="0" rIns="0" bIns="0" rtlCol="0" anchor="ctr"/>
          <a:lstStyle/>
          <a:p>
            <a:pPr marL="0" indent="0">
              <a:buNone/>
            </a:pPr>
            <a:r>
              <a:rPr lang="en-US" sz="1700" b="1" dirty="0">
                <a:solidFill>
                  <a:srgbClr val="0F6B4F"/>
                </a:solidFill>
                <a:latin typeface="Calibri" pitchFamily="34" charset="0"/>
                <a:ea typeface="Calibri" pitchFamily="34" charset="-122"/>
                <a:cs typeface="Calibri" pitchFamily="34" charset="-120"/>
              </a:rPr>
              <a:t>Private buckets</a:t>
            </a:r>
            <a:endParaRPr lang="en-US" sz="1700" dirty="0"/>
          </a:p>
        </p:txBody>
      </p:sp>
      <p:sp>
        <p:nvSpPr>
          <p:cNvPr id="6" name="Text 4"/>
          <p:cNvSpPr/>
          <p:nvPr/>
        </p:nvSpPr>
        <p:spPr>
          <a:xfrm>
            <a:off x="804672" y="2121408"/>
            <a:ext cx="2610612" cy="1243584"/>
          </a:xfrm>
          <a:prstGeom prst="rect">
            <a:avLst/>
          </a:prstGeom>
          <a:noFill/>
          <a:ln/>
        </p:spPr>
        <p:txBody>
          <a:bodyPr wrap="square" lIns="0" tIns="0" rIns="0" bIns="0" rtlCol="0" anchor="t"/>
          <a:lstStyle/>
          <a:p>
            <a:pPr marL="0" indent="0">
              <a:lnSpc>
                <a:spcPts val="1900"/>
              </a:lnSpc>
              <a:buNone/>
            </a:pPr>
            <a:r>
              <a:rPr lang="en-US" sz="1400" dirty="0">
                <a:solidFill>
                  <a:srgbClr val="5C6E68"/>
                </a:solidFill>
                <a:latin typeface="Calibri" pitchFamily="34" charset="0"/>
                <a:ea typeface="Calibri" pitchFamily="34" charset="-122"/>
                <a:cs typeface="Calibri" pitchFamily="34" charset="-120"/>
              </a:rPr>
              <a:t>Block all public access is on for both the website and data buckets. There is no anonymous public-read policy anywhere in the deployment.</a:t>
            </a:r>
            <a:endParaRPr lang="en-US" sz="1400" dirty="0"/>
          </a:p>
        </p:txBody>
      </p:sp>
      <p:sp>
        <p:nvSpPr>
          <p:cNvPr id="7" name="Shape 5"/>
          <p:cNvSpPr/>
          <p:nvPr/>
        </p:nvSpPr>
        <p:spPr>
          <a:xfrm>
            <a:off x="3927348" y="1572768"/>
            <a:ext cx="3086100" cy="1874520"/>
          </a:xfrm>
          <a:prstGeom prst="roundRect">
            <a:avLst>
              <a:gd name="adj" fmla="val 4878"/>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8" name="Text 6"/>
          <p:cNvSpPr/>
          <p:nvPr/>
        </p:nvSpPr>
        <p:spPr>
          <a:xfrm>
            <a:off x="4165092" y="1700784"/>
            <a:ext cx="2610612" cy="384048"/>
          </a:xfrm>
          <a:prstGeom prst="rect">
            <a:avLst/>
          </a:prstGeom>
          <a:noFill/>
          <a:ln/>
        </p:spPr>
        <p:txBody>
          <a:bodyPr wrap="square" lIns="0" tIns="0" rIns="0" bIns="0" rtlCol="0" anchor="ctr"/>
          <a:lstStyle/>
          <a:p>
            <a:pPr marL="0" indent="0">
              <a:buNone/>
            </a:pPr>
            <a:r>
              <a:rPr lang="en-US" sz="1700" b="1" dirty="0">
                <a:solidFill>
                  <a:srgbClr val="0F6B4F"/>
                </a:solidFill>
                <a:latin typeface="Calibri" pitchFamily="34" charset="0"/>
                <a:ea typeface="Calibri" pitchFamily="34" charset="-122"/>
                <a:cs typeface="Calibri" pitchFamily="34" charset="-120"/>
              </a:rPr>
              <a:t>CloudFront-scoped policies</a:t>
            </a:r>
            <a:endParaRPr lang="en-US" sz="1700" dirty="0"/>
          </a:p>
        </p:txBody>
      </p:sp>
      <p:sp>
        <p:nvSpPr>
          <p:cNvPr id="9" name="Text 7"/>
          <p:cNvSpPr/>
          <p:nvPr/>
        </p:nvSpPr>
        <p:spPr>
          <a:xfrm>
            <a:off x="4165092" y="2121408"/>
            <a:ext cx="2610612" cy="1243584"/>
          </a:xfrm>
          <a:prstGeom prst="rect">
            <a:avLst/>
          </a:prstGeom>
          <a:noFill/>
          <a:ln/>
        </p:spPr>
        <p:txBody>
          <a:bodyPr wrap="square" lIns="0" tIns="0" rIns="0" bIns="0" rtlCol="0" anchor="t"/>
          <a:lstStyle/>
          <a:p>
            <a:pPr marL="0" indent="0">
              <a:lnSpc>
                <a:spcPts val="1900"/>
              </a:lnSpc>
              <a:buNone/>
            </a:pPr>
            <a:r>
              <a:rPr lang="en-US" sz="1400" dirty="0">
                <a:solidFill>
                  <a:srgbClr val="5C6E68"/>
                </a:solidFill>
                <a:latin typeface="Calibri" pitchFamily="34" charset="0"/>
                <a:ea typeface="Calibri" pitchFamily="34" charset="-122"/>
                <a:cs typeface="Calibri" pitchFamily="34" charset="-120"/>
              </a:rPr>
              <a:t>s3:GetObject is granted only to cloudfront.amazonaws.com with a matching SourceArn, and the data bucket is limited to uploads/reports/*.</a:t>
            </a:r>
            <a:endParaRPr lang="en-US" sz="1400" dirty="0"/>
          </a:p>
        </p:txBody>
      </p:sp>
      <p:sp>
        <p:nvSpPr>
          <p:cNvPr id="10" name="Shape 8"/>
          <p:cNvSpPr/>
          <p:nvPr/>
        </p:nvSpPr>
        <p:spPr>
          <a:xfrm>
            <a:off x="566928" y="3666744"/>
            <a:ext cx="3086100" cy="1874520"/>
          </a:xfrm>
          <a:prstGeom prst="roundRect">
            <a:avLst>
              <a:gd name="adj" fmla="val 4878"/>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1" name="Text 9"/>
          <p:cNvSpPr/>
          <p:nvPr/>
        </p:nvSpPr>
        <p:spPr>
          <a:xfrm>
            <a:off x="804672" y="3794760"/>
            <a:ext cx="2610612" cy="384048"/>
          </a:xfrm>
          <a:prstGeom prst="rect">
            <a:avLst/>
          </a:prstGeom>
          <a:noFill/>
          <a:ln/>
        </p:spPr>
        <p:txBody>
          <a:bodyPr wrap="square" lIns="0" tIns="0" rIns="0" bIns="0" rtlCol="0" anchor="ctr"/>
          <a:lstStyle/>
          <a:p>
            <a:pPr marL="0" indent="0">
              <a:buNone/>
            </a:pPr>
            <a:r>
              <a:rPr lang="en-US" sz="1700" b="1" dirty="0">
                <a:solidFill>
                  <a:srgbClr val="0F6B4F"/>
                </a:solidFill>
                <a:latin typeface="Calibri" pitchFamily="34" charset="0"/>
                <a:ea typeface="Calibri" pitchFamily="34" charset="-122"/>
                <a:cs typeface="Calibri" pitchFamily="34" charset="-120"/>
              </a:rPr>
              <a:t>JWT checked at the gateway</a:t>
            </a:r>
            <a:endParaRPr lang="en-US" sz="1700" dirty="0"/>
          </a:p>
        </p:txBody>
      </p:sp>
      <p:sp>
        <p:nvSpPr>
          <p:cNvPr id="12" name="Text 10"/>
          <p:cNvSpPr/>
          <p:nvPr/>
        </p:nvSpPr>
        <p:spPr>
          <a:xfrm>
            <a:off x="804672" y="4215384"/>
            <a:ext cx="2610612" cy="1243584"/>
          </a:xfrm>
          <a:prstGeom prst="rect">
            <a:avLst/>
          </a:prstGeom>
          <a:noFill/>
          <a:ln/>
        </p:spPr>
        <p:txBody>
          <a:bodyPr wrap="square" lIns="0" tIns="0" rIns="0" bIns="0" rtlCol="0" anchor="t"/>
          <a:lstStyle/>
          <a:p>
            <a:pPr marL="0" indent="0">
              <a:lnSpc>
                <a:spcPts val="1900"/>
              </a:lnSpc>
              <a:buNone/>
            </a:pPr>
            <a:r>
              <a:rPr lang="en-US" sz="1400" dirty="0">
                <a:solidFill>
                  <a:srgbClr val="5C6E68"/>
                </a:solidFill>
                <a:latin typeface="Calibri" pitchFamily="34" charset="0"/>
                <a:ea typeface="Calibri" pitchFamily="34" charset="-122"/>
                <a:cs typeface="Calibri" pitchFamily="34" charset="-120"/>
              </a:rPr>
              <a:t>API Gateway validates the Cognito ID token before any Lambda code executes; the front end sends Authorization: Bearer.</a:t>
            </a:r>
            <a:endParaRPr lang="en-US" sz="1400" dirty="0"/>
          </a:p>
        </p:txBody>
      </p:sp>
      <p:sp>
        <p:nvSpPr>
          <p:cNvPr id="13" name="Shape 11"/>
          <p:cNvSpPr/>
          <p:nvPr/>
        </p:nvSpPr>
        <p:spPr>
          <a:xfrm>
            <a:off x="3927348" y="3666744"/>
            <a:ext cx="3086100" cy="1874520"/>
          </a:xfrm>
          <a:prstGeom prst="roundRect">
            <a:avLst>
              <a:gd name="adj" fmla="val 4878"/>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4" name="Text 12"/>
          <p:cNvSpPr/>
          <p:nvPr/>
        </p:nvSpPr>
        <p:spPr>
          <a:xfrm>
            <a:off x="4165092" y="3794760"/>
            <a:ext cx="2610612" cy="384048"/>
          </a:xfrm>
          <a:prstGeom prst="rect">
            <a:avLst/>
          </a:prstGeom>
          <a:noFill/>
          <a:ln/>
        </p:spPr>
        <p:txBody>
          <a:bodyPr wrap="square" lIns="0" tIns="0" rIns="0" bIns="0" rtlCol="0" anchor="ctr"/>
          <a:lstStyle/>
          <a:p>
            <a:pPr marL="0" indent="0">
              <a:buNone/>
            </a:pPr>
            <a:r>
              <a:rPr lang="en-US" sz="1700" b="1" dirty="0">
                <a:solidFill>
                  <a:srgbClr val="0F6B4F"/>
                </a:solidFill>
                <a:latin typeface="Calibri" pitchFamily="34" charset="0"/>
                <a:ea typeface="Calibri" pitchFamily="34" charset="-122"/>
                <a:cs typeface="Calibri" pitchFamily="34" charset="-120"/>
              </a:rPr>
              <a:t>Re-checked in the backend</a:t>
            </a:r>
            <a:endParaRPr lang="en-US" sz="1700" dirty="0"/>
          </a:p>
        </p:txBody>
      </p:sp>
      <p:sp>
        <p:nvSpPr>
          <p:cNvPr id="15" name="Text 13"/>
          <p:cNvSpPr/>
          <p:nvPr/>
        </p:nvSpPr>
        <p:spPr>
          <a:xfrm>
            <a:off x="4165092" y="4215384"/>
            <a:ext cx="2610612" cy="1243584"/>
          </a:xfrm>
          <a:prstGeom prst="rect">
            <a:avLst/>
          </a:prstGeom>
          <a:noFill/>
          <a:ln/>
        </p:spPr>
        <p:txBody>
          <a:bodyPr wrap="square" lIns="0" tIns="0" rIns="0" bIns="0" rtlCol="0" anchor="t"/>
          <a:lstStyle/>
          <a:p>
            <a:pPr marL="0" indent="0">
              <a:lnSpc>
                <a:spcPts val="1900"/>
              </a:lnSpc>
              <a:buNone/>
            </a:pPr>
            <a:r>
              <a:rPr lang="en-US" sz="1400" dirty="0">
                <a:solidFill>
                  <a:srgbClr val="5C6E68"/>
                </a:solidFill>
                <a:latin typeface="Calibri" pitchFamily="34" charset="0"/>
                <a:ea typeface="Calibri" pitchFamily="34" charset="-122"/>
                <a:cs typeface="Calibri" pitchFamily="34" charset="-120"/>
              </a:rPr>
              <a:t>Lambda re-reads cognito:groups. PUT and DELETE fail for a non-staff account even if the request bypasses the interface entirely.</a:t>
            </a:r>
            <a:endParaRPr lang="en-US" sz="1400" dirty="0"/>
          </a:p>
        </p:txBody>
      </p:sp>
      <p:pic>
        <p:nvPicPr>
          <p:cNvPr id="16" name="Image 0" descr="img/image31.jpg"/>
          <p:cNvPicPr>
            <a:picLocks noChangeAspect="1"/>
          </p:cNvPicPr>
          <p:nvPr/>
        </p:nvPicPr>
        <p:blipFill>
          <a:blip r:embed="rId3"/>
          <a:stretch>
            <a:fillRect/>
          </a:stretch>
        </p:blipFill>
        <p:spPr>
          <a:xfrm>
            <a:off x="7315200" y="1572768"/>
            <a:ext cx="4309567" cy="1627632"/>
          </a:xfrm>
          <a:prstGeom prst="rect">
            <a:avLst/>
          </a:prstGeom>
          <a:effectLst>
            <a:outerShdw blurRad="177800" dist="25400" dir="5400000" algn="bl" rotWithShape="0">
              <a:srgbClr val="0D2A22">
                <a:alpha val="16000"/>
              </a:srgbClr>
            </a:outerShdw>
          </a:effectLst>
        </p:spPr>
      </p:pic>
      <p:sp>
        <p:nvSpPr>
          <p:cNvPr id="17" name="Text 14"/>
          <p:cNvSpPr/>
          <p:nvPr/>
        </p:nvSpPr>
        <p:spPr>
          <a:xfrm>
            <a:off x="7315200" y="3264408"/>
            <a:ext cx="4309567" cy="274320"/>
          </a:xfrm>
          <a:prstGeom prst="rect">
            <a:avLst/>
          </a:prstGeom>
          <a:noFill/>
          <a:ln/>
        </p:spPr>
        <p:txBody>
          <a:bodyPr wrap="square" lIns="0" tIns="0" rIns="0" bIns="0" rtlCol="0" anchor="t"/>
          <a:lstStyle/>
          <a:p>
            <a:pPr marL="0" indent="0" algn="ctr">
              <a:buNone/>
            </a:pPr>
            <a:r>
              <a:rPr lang="en-US" sz="1150" dirty="0">
                <a:solidFill>
                  <a:srgbClr val="5C6E68"/>
                </a:solidFill>
                <a:latin typeface="Calibri" pitchFamily="34" charset="0"/>
                <a:ea typeface="Calibri" pitchFamily="34" charset="-122"/>
                <a:cs typeface="Calibri" pitchFamily="34" charset="-120"/>
              </a:rPr>
              <a:t>Block all public access enabled on the bucket</a:t>
            </a:r>
            <a:endParaRPr lang="en-US" sz="1150" dirty="0"/>
          </a:p>
        </p:txBody>
      </p:sp>
      <p:pic>
        <p:nvPicPr>
          <p:cNvPr id="18" name="Image 1" descr="img/image32.jpg"/>
          <p:cNvPicPr>
            <a:picLocks noChangeAspect="1"/>
          </p:cNvPicPr>
          <p:nvPr/>
        </p:nvPicPr>
        <p:blipFill>
          <a:blip r:embed="rId4"/>
          <a:stretch>
            <a:fillRect/>
          </a:stretch>
        </p:blipFill>
        <p:spPr>
          <a:xfrm>
            <a:off x="7315200" y="3602736"/>
            <a:ext cx="4309567" cy="1627632"/>
          </a:xfrm>
          <a:prstGeom prst="rect">
            <a:avLst/>
          </a:prstGeom>
          <a:effectLst>
            <a:outerShdw blurRad="177800" dist="25400" dir="5400000" algn="bl" rotWithShape="0">
              <a:srgbClr val="0D2A22">
                <a:alpha val="16000"/>
              </a:srgbClr>
            </a:outerShdw>
          </a:effectLst>
        </p:spPr>
      </p:pic>
      <p:sp>
        <p:nvSpPr>
          <p:cNvPr id="19" name="Text 15"/>
          <p:cNvSpPr/>
          <p:nvPr/>
        </p:nvSpPr>
        <p:spPr>
          <a:xfrm>
            <a:off x="7315200" y="5294376"/>
            <a:ext cx="4309567" cy="274320"/>
          </a:xfrm>
          <a:prstGeom prst="rect">
            <a:avLst/>
          </a:prstGeom>
          <a:noFill/>
          <a:ln/>
        </p:spPr>
        <p:txBody>
          <a:bodyPr wrap="square" lIns="0" tIns="0" rIns="0" bIns="0" rtlCol="0" anchor="t"/>
          <a:lstStyle/>
          <a:p>
            <a:pPr marL="0" indent="0" algn="ctr">
              <a:buNone/>
            </a:pPr>
            <a:r>
              <a:rPr lang="en-US" sz="1150" dirty="0">
                <a:solidFill>
                  <a:srgbClr val="5C6E68"/>
                </a:solidFill>
                <a:latin typeface="Calibri" pitchFamily="34" charset="0"/>
                <a:ea typeface="Calibri" pitchFamily="34" charset="-122"/>
                <a:cs typeface="Calibri" pitchFamily="34" charset="-120"/>
              </a:rPr>
              <a:t>Bucket policy restricted to the distribution SourceArn</a:t>
            </a:r>
            <a:endParaRPr lang="en-US" sz="1150" dirty="0"/>
          </a:p>
        </p:txBody>
      </p:sp>
      <p:sp>
        <p:nvSpPr>
          <p:cNvPr id="20" name="Shape 16"/>
          <p:cNvSpPr/>
          <p:nvPr/>
        </p:nvSpPr>
        <p:spPr>
          <a:xfrm>
            <a:off x="566928" y="5705856"/>
            <a:ext cx="11057839" cy="603504"/>
          </a:xfrm>
          <a:prstGeom prst="roundRect">
            <a:avLst>
              <a:gd name="adj" fmla="val 12121"/>
            </a:avLst>
          </a:prstGeom>
          <a:solidFill>
            <a:srgbClr val="0D2A22"/>
          </a:solidFill>
          <a:ln w="12700">
            <a:solidFill>
              <a:srgbClr val="0D2A22"/>
            </a:solidFill>
            <a:prstDash val="solid"/>
          </a:ln>
        </p:spPr>
        <p:txBody>
          <a:bodyPr/>
          <a:lstStyle/>
          <a:p>
            <a:endParaRPr lang="en-US"/>
          </a:p>
        </p:txBody>
      </p:sp>
      <p:sp>
        <p:nvSpPr>
          <p:cNvPr id="21" name="Text 17"/>
          <p:cNvSpPr/>
          <p:nvPr/>
        </p:nvSpPr>
        <p:spPr>
          <a:xfrm>
            <a:off x="822960" y="5632704"/>
            <a:ext cx="10545775" cy="603504"/>
          </a:xfrm>
          <a:prstGeom prst="rect">
            <a:avLst/>
          </a:prstGeom>
          <a:noFill/>
          <a:ln/>
        </p:spPr>
        <p:txBody>
          <a:bodyPr wrap="square" lIns="0" tIns="0" rIns="0" bIns="0" rtlCol="0" anchor="ctr"/>
          <a:lstStyle/>
          <a:p>
            <a:pPr marL="0" indent="0">
              <a:buNone/>
            </a:pPr>
            <a:r>
              <a:rPr lang="en-US" sz="1350" b="1" dirty="0">
                <a:solidFill>
                  <a:srgbClr val="16A37B"/>
                </a:solidFill>
                <a:latin typeface="Calibri" pitchFamily="34" charset="0"/>
                <a:ea typeface="Calibri" pitchFamily="34" charset="-122"/>
                <a:cs typeface="Calibri" pitchFamily="34" charset="-120"/>
              </a:rPr>
              <a:t>Defence in depth   </a:t>
            </a:r>
            <a:r>
              <a:rPr lang="en-US" sz="1350" dirty="0">
                <a:solidFill>
                  <a:srgbClr val="FFFFFF"/>
                </a:solidFill>
                <a:latin typeface="Calibri" pitchFamily="34" charset="0"/>
                <a:ea typeface="Calibri" pitchFamily="34" charset="-122"/>
                <a:cs typeface="Calibri" pitchFamily="34" charset="-120"/>
              </a:rPr>
              <a:t>bucket policy → identity → JWT → group check → IAM.    Secrets stay in Lambda environment variables.</a:t>
            </a:r>
            <a:endParaRPr lang="en-US" sz="1350" dirty="0"/>
          </a:p>
        </p:txBody>
      </p:sp>
      <p:sp>
        <p:nvSpPr>
          <p:cNvPr id="23" name="Text 19"/>
          <p:cNvSpPr/>
          <p:nvPr/>
        </p:nvSpPr>
        <p:spPr>
          <a:xfrm>
            <a:off x="10801807" y="6382512"/>
            <a:ext cx="822960" cy="292608"/>
          </a:xfrm>
          <a:prstGeom prst="rect">
            <a:avLst/>
          </a:prstGeom>
          <a:noFill/>
          <a:ln/>
        </p:spPr>
        <p:txBody>
          <a:bodyPr wrap="square" lIns="0" tIns="0" rIns="0" bIns="0" rtlCol="0" anchor="ctr"/>
          <a:lstStyle/>
          <a:p>
            <a:pPr marL="0" indent="0" algn="r">
              <a:buNone/>
            </a:pPr>
            <a:r>
              <a:rPr lang="en-US" sz="1100" b="1" dirty="0">
                <a:solidFill>
                  <a:srgbClr val="0F6B4F"/>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7FAF9"/>
        </a:solidFill>
        <a:effectLst/>
      </p:bgPr>
    </p:bg>
    <p:spTree>
      <p:nvGrpSpPr>
        <p:cNvPr id="1" name=""/>
        <p:cNvGrpSpPr/>
        <p:nvPr/>
      </p:nvGrpSpPr>
      <p:grpSpPr>
        <a:xfrm>
          <a:off x="0" y="0"/>
          <a:ext cx="0" cy="0"/>
          <a:chOff x="0" y="0"/>
          <a:chExt cx="0" cy="0"/>
        </a:xfrm>
      </p:grpSpPr>
      <p:sp>
        <p:nvSpPr>
          <p:cNvPr id="2" name="Text 0"/>
          <p:cNvSpPr/>
          <p:nvPr/>
        </p:nvSpPr>
        <p:spPr>
          <a:xfrm>
            <a:off x="566928" y="347472"/>
            <a:ext cx="11057839" cy="566928"/>
          </a:xfrm>
          <a:prstGeom prst="rect">
            <a:avLst/>
          </a:prstGeom>
          <a:noFill/>
          <a:ln/>
        </p:spPr>
        <p:txBody>
          <a:bodyPr wrap="square" lIns="0" tIns="0" rIns="0" bIns="0" rtlCol="0" anchor="ctr"/>
          <a:lstStyle/>
          <a:p>
            <a:pPr marL="0" indent="0">
              <a:buNone/>
            </a:pPr>
            <a:r>
              <a:rPr lang="en-US" sz="3200" b="1" dirty="0">
                <a:solidFill>
                  <a:srgbClr val="0D2A22"/>
                </a:solidFill>
                <a:latin typeface="Calibri" pitchFamily="34" charset="0"/>
                <a:ea typeface="Calibri" pitchFamily="34" charset="-122"/>
                <a:cs typeface="Calibri" pitchFamily="34" charset="-120"/>
              </a:rPr>
              <a:t>Challenges Faced During Development</a:t>
            </a:r>
            <a:endParaRPr lang="en-US" sz="3200" dirty="0"/>
          </a:p>
        </p:txBody>
      </p:sp>
      <p:sp>
        <p:nvSpPr>
          <p:cNvPr id="3" name="Text 1"/>
          <p:cNvSpPr/>
          <p:nvPr/>
        </p:nvSpPr>
        <p:spPr>
          <a:xfrm>
            <a:off x="566928" y="932688"/>
            <a:ext cx="11057839" cy="365760"/>
          </a:xfrm>
          <a:prstGeom prst="rect">
            <a:avLst/>
          </a:prstGeom>
          <a:noFill/>
          <a:ln/>
        </p:spPr>
        <p:txBody>
          <a:bodyPr wrap="square" lIns="0" tIns="0" rIns="0" bIns="0" rtlCol="0" anchor="ctr"/>
          <a:lstStyle/>
          <a:p>
            <a:pPr marL="0" indent="0">
              <a:buNone/>
            </a:pPr>
            <a:r>
              <a:rPr lang="en-US" sz="1550" dirty="0">
                <a:solidFill>
                  <a:srgbClr val="5C6E68"/>
                </a:solidFill>
                <a:latin typeface="Calibri" pitchFamily="34" charset="0"/>
                <a:ea typeface="Calibri" pitchFamily="34" charset="-122"/>
                <a:cs typeface="Calibri" pitchFamily="34" charset="-120"/>
              </a:rPr>
              <a:t>Four problems that changed the design, and what each one taught me</a:t>
            </a:r>
            <a:endParaRPr lang="en-US" sz="1550" dirty="0"/>
          </a:p>
        </p:txBody>
      </p:sp>
      <p:sp>
        <p:nvSpPr>
          <p:cNvPr id="4" name="Shape 2"/>
          <p:cNvSpPr/>
          <p:nvPr/>
        </p:nvSpPr>
        <p:spPr>
          <a:xfrm>
            <a:off x="566928" y="1572768"/>
            <a:ext cx="5373472" cy="2121408"/>
          </a:xfrm>
          <a:prstGeom prst="roundRect">
            <a:avLst>
              <a:gd name="adj" fmla="val 4310"/>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5" name="Shape 3"/>
          <p:cNvSpPr/>
          <p:nvPr/>
        </p:nvSpPr>
        <p:spPr>
          <a:xfrm>
            <a:off x="804672" y="1755648"/>
            <a:ext cx="822960" cy="292608"/>
          </a:xfrm>
          <a:prstGeom prst="roundRect">
            <a:avLst>
              <a:gd name="adj" fmla="val 18750"/>
            </a:avLst>
          </a:prstGeom>
          <a:solidFill>
            <a:srgbClr val="FBEEDC"/>
          </a:solidFill>
          <a:ln w="12700">
            <a:solidFill>
              <a:srgbClr val="FBEEDC"/>
            </a:solidFill>
            <a:prstDash val="solid"/>
          </a:ln>
        </p:spPr>
        <p:txBody>
          <a:bodyPr/>
          <a:lstStyle/>
          <a:p>
            <a:endParaRPr lang="en-US"/>
          </a:p>
        </p:txBody>
      </p:sp>
      <p:sp>
        <p:nvSpPr>
          <p:cNvPr id="6" name="Text 4"/>
          <p:cNvSpPr/>
          <p:nvPr/>
        </p:nvSpPr>
        <p:spPr>
          <a:xfrm>
            <a:off x="804672" y="1755648"/>
            <a:ext cx="822960" cy="292608"/>
          </a:xfrm>
          <a:prstGeom prst="rect">
            <a:avLst/>
          </a:prstGeom>
          <a:noFill/>
          <a:ln/>
        </p:spPr>
        <p:txBody>
          <a:bodyPr wrap="square" lIns="0" tIns="0" rIns="0" bIns="0" rtlCol="0" anchor="ctr"/>
          <a:lstStyle/>
          <a:p>
            <a:pPr marL="0" indent="0" algn="ctr">
              <a:buNone/>
            </a:pPr>
            <a:r>
              <a:rPr lang="en-US" sz="1050" b="1" dirty="0">
                <a:solidFill>
                  <a:srgbClr val="C97C1B"/>
                </a:solidFill>
                <a:latin typeface="Calibri" pitchFamily="34" charset="0"/>
                <a:ea typeface="Calibri" pitchFamily="34" charset="-122"/>
                <a:cs typeface="Calibri" pitchFamily="34" charset="-120"/>
              </a:rPr>
              <a:t>ISSUE 1</a:t>
            </a:r>
            <a:endParaRPr lang="en-US" sz="1050" dirty="0"/>
          </a:p>
        </p:txBody>
      </p:sp>
      <p:sp>
        <p:nvSpPr>
          <p:cNvPr id="7" name="Text 5"/>
          <p:cNvSpPr/>
          <p:nvPr/>
        </p:nvSpPr>
        <p:spPr>
          <a:xfrm>
            <a:off x="804672" y="2103120"/>
            <a:ext cx="4897984" cy="402336"/>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Report images returned AccessDenied</a:t>
            </a:r>
            <a:endParaRPr lang="en-US" sz="1650" dirty="0"/>
          </a:p>
        </p:txBody>
      </p:sp>
      <p:sp>
        <p:nvSpPr>
          <p:cNvPr id="8" name="Text 6"/>
          <p:cNvSpPr/>
          <p:nvPr/>
        </p:nvSpPr>
        <p:spPr>
          <a:xfrm>
            <a:off x="804672" y="2523744"/>
            <a:ext cx="4897984" cy="749808"/>
          </a:xfrm>
          <a:prstGeom prst="rect">
            <a:avLst/>
          </a:prstGeom>
          <a:noFill/>
          <a:ln/>
        </p:spPr>
        <p:txBody>
          <a:bodyPr wrap="square" lIns="0" tIns="0" rIns="0" bIns="0" rtlCol="0" anchor="t"/>
          <a:lstStyle/>
          <a:p>
            <a:pPr marL="0" indent="0">
              <a:lnSpc>
                <a:spcPts val="1900"/>
              </a:lnSpc>
              <a:buNone/>
            </a:pPr>
            <a:r>
              <a:rPr lang="en-US" sz="1300" b="1" dirty="0">
                <a:solidFill>
                  <a:srgbClr val="0F6B4F"/>
                </a:solidFill>
                <a:latin typeface="Calibri" pitchFamily="34" charset="0"/>
                <a:ea typeface="Calibri" pitchFamily="34" charset="-122"/>
                <a:cs typeface="Calibri" pitchFamily="34" charset="-120"/>
              </a:rPr>
              <a:t>Fix   </a:t>
            </a:r>
            <a:r>
              <a:rPr lang="en-US" sz="1400" dirty="0">
                <a:solidFill>
                  <a:srgbClr val="5C6E68"/>
                </a:solidFill>
                <a:latin typeface="Calibri" pitchFamily="34" charset="0"/>
                <a:ea typeface="Calibri" pitchFamily="34" charset="-122"/>
                <a:cs typeface="Calibri" pitchFamily="34" charset="-120"/>
              </a:rPr>
              <a:t>Served images through CloudFront and scoped the data-bucket policy to uploads/reports/*.</a:t>
            </a:r>
            <a:endParaRPr lang="en-US" sz="1300" dirty="0"/>
          </a:p>
        </p:txBody>
      </p:sp>
      <p:sp>
        <p:nvSpPr>
          <p:cNvPr id="9" name="Text 7"/>
          <p:cNvSpPr/>
          <p:nvPr/>
        </p:nvSpPr>
        <p:spPr>
          <a:xfrm>
            <a:off x="804672" y="3291840"/>
            <a:ext cx="4897984" cy="329184"/>
          </a:xfrm>
          <a:prstGeom prst="rect">
            <a:avLst/>
          </a:prstGeom>
          <a:noFill/>
          <a:ln/>
        </p:spPr>
        <p:txBody>
          <a:bodyPr wrap="square" lIns="0" tIns="0" rIns="0" bIns="0" rtlCol="0" anchor="ctr"/>
          <a:lstStyle/>
          <a:p>
            <a:pPr marL="0" indent="0">
              <a:buNone/>
            </a:pPr>
            <a:r>
              <a:rPr lang="en-US" sz="1300" b="1" dirty="0">
                <a:solidFill>
                  <a:srgbClr val="0D2A22"/>
                </a:solidFill>
                <a:latin typeface="Calibri" pitchFamily="34" charset="0"/>
                <a:ea typeface="Calibri" pitchFamily="34" charset="-122"/>
                <a:cs typeface="Calibri" pitchFamily="34" charset="-120"/>
              </a:rPr>
              <a:t>Why it matters   </a:t>
            </a:r>
            <a:r>
              <a:rPr lang="en-US" sz="1300" i="1" dirty="0">
                <a:solidFill>
                  <a:srgbClr val="5C6E68"/>
                </a:solidFill>
                <a:latin typeface="Calibri" pitchFamily="34" charset="0"/>
                <a:ea typeface="Calibri" pitchFamily="34" charset="-122"/>
                <a:cs typeface="Calibri" pitchFamily="34" charset="-120"/>
              </a:rPr>
              <a:t>Images stay private and still render in the site.</a:t>
            </a:r>
            <a:endParaRPr lang="en-US" sz="1300" dirty="0"/>
          </a:p>
        </p:txBody>
      </p:sp>
      <p:sp>
        <p:nvSpPr>
          <p:cNvPr id="10" name="Shape 8"/>
          <p:cNvSpPr/>
          <p:nvPr/>
        </p:nvSpPr>
        <p:spPr>
          <a:xfrm>
            <a:off x="6251296" y="1572768"/>
            <a:ext cx="5373472" cy="2121408"/>
          </a:xfrm>
          <a:prstGeom prst="roundRect">
            <a:avLst>
              <a:gd name="adj" fmla="val 4310"/>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1" name="Shape 9"/>
          <p:cNvSpPr/>
          <p:nvPr/>
        </p:nvSpPr>
        <p:spPr>
          <a:xfrm>
            <a:off x="6489040" y="1755648"/>
            <a:ext cx="822960" cy="292608"/>
          </a:xfrm>
          <a:prstGeom prst="roundRect">
            <a:avLst>
              <a:gd name="adj" fmla="val 18750"/>
            </a:avLst>
          </a:prstGeom>
          <a:solidFill>
            <a:srgbClr val="FBEEDC"/>
          </a:solidFill>
          <a:ln w="12700">
            <a:solidFill>
              <a:srgbClr val="FBEEDC"/>
            </a:solidFill>
            <a:prstDash val="solid"/>
          </a:ln>
        </p:spPr>
        <p:txBody>
          <a:bodyPr/>
          <a:lstStyle/>
          <a:p>
            <a:endParaRPr lang="en-US"/>
          </a:p>
        </p:txBody>
      </p:sp>
      <p:sp>
        <p:nvSpPr>
          <p:cNvPr id="12" name="Text 10"/>
          <p:cNvSpPr/>
          <p:nvPr/>
        </p:nvSpPr>
        <p:spPr>
          <a:xfrm>
            <a:off x="6489040" y="1755648"/>
            <a:ext cx="822960" cy="292608"/>
          </a:xfrm>
          <a:prstGeom prst="rect">
            <a:avLst/>
          </a:prstGeom>
          <a:noFill/>
          <a:ln/>
        </p:spPr>
        <p:txBody>
          <a:bodyPr wrap="square" lIns="0" tIns="0" rIns="0" bIns="0" rtlCol="0" anchor="ctr"/>
          <a:lstStyle/>
          <a:p>
            <a:pPr marL="0" indent="0" algn="ctr">
              <a:buNone/>
            </a:pPr>
            <a:r>
              <a:rPr lang="en-US" sz="1050" b="1" dirty="0">
                <a:solidFill>
                  <a:srgbClr val="C97C1B"/>
                </a:solidFill>
                <a:latin typeface="Calibri" pitchFamily="34" charset="0"/>
                <a:ea typeface="Calibri" pitchFamily="34" charset="-122"/>
                <a:cs typeface="Calibri" pitchFamily="34" charset="-120"/>
              </a:rPr>
              <a:t>ISSUE 2</a:t>
            </a:r>
            <a:endParaRPr lang="en-US" sz="1050" dirty="0"/>
          </a:p>
        </p:txBody>
      </p:sp>
      <p:sp>
        <p:nvSpPr>
          <p:cNvPr id="13" name="Text 11"/>
          <p:cNvSpPr/>
          <p:nvPr/>
        </p:nvSpPr>
        <p:spPr>
          <a:xfrm>
            <a:off x="6489040" y="2103120"/>
            <a:ext cx="4897984" cy="402336"/>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The model could return a wrong or empty label</a:t>
            </a:r>
            <a:endParaRPr lang="en-US" sz="1650" dirty="0"/>
          </a:p>
        </p:txBody>
      </p:sp>
      <p:sp>
        <p:nvSpPr>
          <p:cNvPr id="14" name="Text 12"/>
          <p:cNvSpPr/>
          <p:nvPr/>
        </p:nvSpPr>
        <p:spPr>
          <a:xfrm>
            <a:off x="6489040" y="2523744"/>
            <a:ext cx="4897984" cy="749808"/>
          </a:xfrm>
          <a:prstGeom prst="rect">
            <a:avLst/>
          </a:prstGeom>
          <a:noFill/>
          <a:ln/>
        </p:spPr>
        <p:txBody>
          <a:bodyPr wrap="square" lIns="0" tIns="0" rIns="0" bIns="0" rtlCol="0" anchor="t"/>
          <a:lstStyle/>
          <a:p>
            <a:pPr marL="0" indent="0">
              <a:lnSpc>
                <a:spcPts val="1900"/>
              </a:lnSpc>
              <a:buNone/>
            </a:pPr>
            <a:r>
              <a:rPr lang="en-US" sz="1300" b="1" dirty="0">
                <a:solidFill>
                  <a:srgbClr val="0F6B4F"/>
                </a:solidFill>
                <a:latin typeface="Calibri" pitchFamily="34" charset="0"/>
                <a:ea typeface="Calibri" pitchFamily="34" charset="-122"/>
                <a:cs typeface="Calibri" pitchFamily="34" charset="-120"/>
              </a:rPr>
              <a:t>Fix   </a:t>
            </a:r>
            <a:r>
              <a:rPr lang="en-US" sz="1400" dirty="0">
                <a:solidFill>
                  <a:srgbClr val="5C6E68"/>
                </a:solidFill>
                <a:latin typeface="Calibri" pitchFamily="34" charset="0"/>
                <a:ea typeface="Calibri" pitchFamily="34" charset="-122"/>
                <a:cs typeface="Calibri" pitchFamily="34" charset="-120"/>
              </a:rPr>
              <a:t>Trained Custom Labels, reviewed per-label metrics, kept MIN_CONFIDENCE configurable and routed Other to manual review.</a:t>
            </a:r>
            <a:endParaRPr lang="en-US" sz="1300" dirty="0"/>
          </a:p>
        </p:txBody>
      </p:sp>
      <p:sp>
        <p:nvSpPr>
          <p:cNvPr id="15" name="Text 13"/>
          <p:cNvSpPr/>
          <p:nvPr/>
        </p:nvSpPr>
        <p:spPr>
          <a:xfrm>
            <a:off x="6489040" y="3291840"/>
            <a:ext cx="4897984" cy="329184"/>
          </a:xfrm>
          <a:prstGeom prst="rect">
            <a:avLst/>
          </a:prstGeom>
          <a:noFill/>
          <a:ln/>
        </p:spPr>
        <p:txBody>
          <a:bodyPr wrap="square" lIns="0" tIns="0" rIns="0" bIns="0" rtlCol="0" anchor="ctr"/>
          <a:lstStyle/>
          <a:p>
            <a:pPr marL="0" indent="0">
              <a:buNone/>
            </a:pPr>
            <a:r>
              <a:rPr lang="en-US" sz="1300" b="1" dirty="0">
                <a:solidFill>
                  <a:srgbClr val="0D2A22"/>
                </a:solidFill>
                <a:latin typeface="Calibri" pitchFamily="34" charset="0"/>
                <a:ea typeface="Calibri" pitchFamily="34" charset="-122"/>
                <a:cs typeface="Calibri" pitchFamily="34" charset="-120"/>
              </a:rPr>
              <a:t>Why it matters   </a:t>
            </a:r>
            <a:r>
              <a:rPr lang="en-US" sz="1300" i="1" dirty="0">
                <a:solidFill>
                  <a:srgbClr val="5C6E68"/>
                </a:solidFill>
                <a:latin typeface="Calibri" pitchFamily="34" charset="0"/>
                <a:ea typeface="Calibri" pitchFamily="34" charset="-122"/>
                <a:cs typeface="Calibri" pitchFamily="34" charset="-120"/>
              </a:rPr>
              <a:t>Domain-relevant recognition, no hardcoded result.</a:t>
            </a:r>
            <a:endParaRPr lang="en-US" sz="1300" dirty="0"/>
          </a:p>
        </p:txBody>
      </p:sp>
      <p:sp>
        <p:nvSpPr>
          <p:cNvPr id="16" name="Shape 14"/>
          <p:cNvSpPr/>
          <p:nvPr/>
        </p:nvSpPr>
        <p:spPr>
          <a:xfrm>
            <a:off x="566928" y="3968496"/>
            <a:ext cx="5373472" cy="2121408"/>
          </a:xfrm>
          <a:prstGeom prst="roundRect">
            <a:avLst>
              <a:gd name="adj" fmla="val 4310"/>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7" name="Shape 15"/>
          <p:cNvSpPr/>
          <p:nvPr/>
        </p:nvSpPr>
        <p:spPr>
          <a:xfrm>
            <a:off x="804672" y="4151376"/>
            <a:ext cx="822960" cy="292608"/>
          </a:xfrm>
          <a:prstGeom prst="roundRect">
            <a:avLst>
              <a:gd name="adj" fmla="val 18750"/>
            </a:avLst>
          </a:prstGeom>
          <a:solidFill>
            <a:srgbClr val="FBEEDC"/>
          </a:solidFill>
          <a:ln w="12700">
            <a:solidFill>
              <a:srgbClr val="FBEEDC"/>
            </a:solidFill>
            <a:prstDash val="solid"/>
          </a:ln>
        </p:spPr>
        <p:txBody>
          <a:bodyPr/>
          <a:lstStyle/>
          <a:p>
            <a:endParaRPr lang="en-US"/>
          </a:p>
        </p:txBody>
      </p:sp>
      <p:sp>
        <p:nvSpPr>
          <p:cNvPr id="18" name="Text 16"/>
          <p:cNvSpPr/>
          <p:nvPr/>
        </p:nvSpPr>
        <p:spPr>
          <a:xfrm>
            <a:off x="804672" y="4151376"/>
            <a:ext cx="822960" cy="292608"/>
          </a:xfrm>
          <a:prstGeom prst="rect">
            <a:avLst/>
          </a:prstGeom>
          <a:noFill/>
          <a:ln/>
        </p:spPr>
        <p:txBody>
          <a:bodyPr wrap="square" lIns="0" tIns="0" rIns="0" bIns="0" rtlCol="0" anchor="ctr"/>
          <a:lstStyle/>
          <a:p>
            <a:pPr marL="0" indent="0" algn="ctr">
              <a:buNone/>
            </a:pPr>
            <a:r>
              <a:rPr lang="en-US" sz="1050" b="1" dirty="0">
                <a:solidFill>
                  <a:srgbClr val="C97C1B"/>
                </a:solidFill>
                <a:latin typeface="Calibri" pitchFamily="34" charset="0"/>
                <a:ea typeface="Calibri" pitchFamily="34" charset="-122"/>
                <a:cs typeface="Calibri" pitchFamily="34" charset="-120"/>
              </a:rPr>
              <a:t>ISSUE 3</a:t>
            </a:r>
            <a:endParaRPr lang="en-US" sz="1050" dirty="0"/>
          </a:p>
        </p:txBody>
      </p:sp>
      <p:sp>
        <p:nvSpPr>
          <p:cNvPr id="19" name="Text 17"/>
          <p:cNvSpPr/>
          <p:nvPr/>
        </p:nvSpPr>
        <p:spPr>
          <a:xfrm>
            <a:off x="804672" y="4498848"/>
            <a:ext cx="4897984" cy="402336"/>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401 and 403 errors, and role leakage</a:t>
            </a:r>
            <a:endParaRPr lang="en-US" sz="1650" dirty="0"/>
          </a:p>
        </p:txBody>
      </p:sp>
      <p:sp>
        <p:nvSpPr>
          <p:cNvPr id="20" name="Text 18"/>
          <p:cNvSpPr/>
          <p:nvPr/>
        </p:nvSpPr>
        <p:spPr>
          <a:xfrm>
            <a:off x="804672" y="4919472"/>
            <a:ext cx="4897984" cy="749808"/>
          </a:xfrm>
          <a:prstGeom prst="rect">
            <a:avLst/>
          </a:prstGeom>
          <a:noFill/>
          <a:ln/>
        </p:spPr>
        <p:txBody>
          <a:bodyPr wrap="square" lIns="0" tIns="0" rIns="0" bIns="0" rtlCol="0" anchor="t"/>
          <a:lstStyle/>
          <a:p>
            <a:pPr marL="0" indent="0">
              <a:lnSpc>
                <a:spcPts val="1900"/>
              </a:lnSpc>
              <a:buNone/>
            </a:pPr>
            <a:r>
              <a:rPr lang="en-US" sz="1300" b="1" dirty="0">
                <a:solidFill>
                  <a:srgbClr val="0F6B4F"/>
                </a:solidFill>
                <a:latin typeface="Calibri" pitchFamily="34" charset="0"/>
                <a:ea typeface="Calibri" pitchFamily="34" charset="-122"/>
                <a:cs typeface="Calibri" pitchFamily="34" charset="-120"/>
              </a:rPr>
              <a:t>Fix   </a:t>
            </a:r>
            <a:r>
              <a:rPr lang="en-US" sz="1400" dirty="0">
                <a:solidFill>
                  <a:srgbClr val="5C6E68"/>
                </a:solidFill>
                <a:latin typeface="Calibri" pitchFamily="34" charset="0"/>
                <a:ea typeface="Calibri" pitchFamily="34" charset="-122"/>
                <a:cs typeface="Calibri" pitchFamily="34" charset="-120"/>
              </a:rPr>
              <a:t>Attached the Cognito JWT authorizer and re-checked cognito:groups inside the Lambda for PUT and DELETE.</a:t>
            </a:r>
            <a:endParaRPr lang="en-US" sz="1300" dirty="0"/>
          </a:p>
        </p:txBody>
      </p:sp>
      <p:sp>
        <p:nvSpPr>
          <p:cNvPr id="21" name="Text 19"/>
          <p:cNvSpPr/>
          <p:nvPr/>
        </p:nvSpPr>
        <p:spPr>
          <a:xfrm>
            <a:off x="804672" y="5687568"/>
            <a:ext cx="4897984" cy="329184"/>
          </a:xfrm>
          <a:prstGeom prst="rect">
            <a:avLst/>
          </a:prstGeom>
          <a:noFill/>
          <a:ln/>
        </p:spPr>
        <p:txBody>
          <a:bodyPr wrap="square" lIns="0" tIns="0" rIns="0" bIns="0" rtlCol="0" anchor="ctr"/>
          <a:lstStyle/>
          <a:p>
            <a:pPr marL="0" indent="0">
              <a:buNone/>
            </a:pPr>
            <a:r>
              <a:rPr lang="en-US" sz="1300" b="1" dirty="0">
                <a:solidFill>
                  <a:srgbClr val="0D2A22"/>
                </a:solidFill>
                <a:latin typeface="Calibri" pitchFamily="34" charset="0"/>
                <a:ea typeface="Calibri" pitchFamily="34" charset="-122"/>
                <a:cs typeface="Calibri" pitchFamily="34" charset="-120"/>
              </a:rPr>
              <a:t>Why it matters   </a:t>
            </a:r>
            <a:r>
              <a:rPr lang="en-US" sz="1300" i="1" dirty="0">
                <a:solidFill>
                  <a:srgbClr val="5C6E68"/>
                </a:solidFill>
                <a:latin typeface="Calibri" pitchFamily="34" charset="0"/>
                <a:ea typeface="Calibri" pitchFamily="34" charset="-122"/>
                <a:cs typeface="Calibri" pitchFamily="34" charset="-120"/>
              </a:rPr>
              <a:t>Security no longer depends on hidden navigation.</a:t>
            </a:r>
            <a:endParaRPr lang="en-US" sz="1300" dirty="0"/>
          </a:p>
        </p:txBody>
      </p:sp>
      <p:sp>
        <p:nvSpPr>
          <p:cNvPr id="22" name="Shape 20"/>
          <p:cNvSpPr/>
          <p:nvPr/>
        </p:nvSpPr>
        <p:spPr>
          <a:xfrm>
            <a:off x="6251296" y="3968496"/>
            <a:ext cx="5373472" cy="2121408"/>
          </a:xfrm>
          <a:prstGeom prst="roundRect">
            <a:avLst>
              <a:gd name="adj" fmla="val 4310"/>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23" name="Shape 21"/>
          <p:cNvSpPr/>
          <p:nvPr/>
        </p:nvSpPr>
        <p:spPr>
          <a:xfrm>
            <a:off x="6489040" y="4151376"/>
            <a:ext cx="822960" cy="292608"/>
          </a:xfrm>
          <a:prstGeom prst="roundRect">
            <a:avLst>
              <a:gd name="adj" fmla="val 18750"/>
            </a:avLst>
          </a:prstGeom>
          <a:solidFill>
            <a:srgbClr val="FBEEDC"/>
          </a:solidFill>
          <a:ln w="12700">
            <a:solidFill>
              <a:srgbClr val="FBEEDC"/>
            </a:solidFill>
            <a:prstDash val="solid"/>
          </a:ln>
        </p:spPr>
        <p:txBody>
          <a:bodyPr/>
          <a:lstStyle/>
          <a:p>
            <a:endParaRPr lang="en-US"/>
          </a:p>
        </p:txBody>
      </p:sp>
      <p:sp>
        <p:nvSpPr>
          <p:cNvPr id="24" name="Text 22"/>
          <p:cNvSpPr/>
          <p:nvPr/>
        </p:nvSpPr>
        <p:spPr>
          <a:xfrm>
            <a:off x="6489040" y="4151376"/>
            <a:ext cx="822960" cy="292608"/>
          </a:xfrm>
          <a:prstGeom prst="rect">
            <a:avLst/>
          </a:prstGeom>
          <a:noFill/>
          <a:ln/>
        </p:spPr>
        <p:txBody>
          <a:bodyPr wrap="square" lIns="0" tIns="0" rIns="0" bIns="0" rtlCol="0" anchor="ctr"/>
          <a:lstStyle/>
          <a:p>
            <a:pPr marL="0" indent="0" algn="ctr">
              <a:buNone/>
            </a:pPr>
            <a:r>
              <a:rPr lang="en-US" sz="1050" b="1" dirty="0">
                <a:solidFill>
                  <a:srgbClr val="C97C1B"/>
                </a:solidFill>
                <a:latin typeface="Calibri" pitchFamily="34" charset="0"/>
                <a:ea typeface="Calibri" pitchFamily="34" charset="-122"/>
                <a:cs typeface="Calibri" pitchFamily="34" charset="-120"/>
              </a:rPr>
              <a:t>ISSUE 4</a:t>
            </a:r>
            <a:endParaRPr lang="en-US" sz="1050" dirty="0"/>
          </a:p>
        </p:txBody>
      </p:sp>
      <p:sp>
        <p:nvSpPr>
          <p:cNvPr id="25" name="Text 23"/>
          <p:cNvSpPr/>
          <p:nvPr/>
        </p:nvSpPr>
        <p:spPr>
          <a:xfrm>
            <a:off x="6489040" y="4498848"/>
            <a:ext cx="4897984" cy="402336"/>
          </a:xfrm>
          <a:prstGeom prst="rect">
            <a:avLst/>
          </a:prstGeom>
          <a:noFill/>
          <a:ln/>
        </p:spPr>
        <p:txBody>
          <a:bodyPr wrap="square" lIns="0" tIns="0" rIns="0" bIns="0" rtlCol="0" anchor="ctr"/>
          <a:lstStyle/>
          <a:p>
            <a:pPr marL="0" indent="0">
              <a:buNone/>
            </a:pPr>
            <a:r>
              <a:rPr lang="en-US" sz="1650" b="1" dirty="0">
                <a:solidFill>
                  <a:srgbClr val="0D2A22"/>
                </a:solidFill>
                <a:latin typeface="Calibri" pitchFamily="34" charset="0"/>
                <a:ea typeface="Calibri" pitchFamily="34" charset="-122"/>
                <a:cs typeface="Calibri" pitchFamily="34" charset="-120"/>
              </a:rPr>
              <a:t>Lambda / RDS failures and stale cache</a:t>
            </a:r>
            <a:endParaRPr lang="en-US" sz="1650" dirty="0"/>
          </a:p>
        </p:txBody>
      </p:sp>
      <p:sp>
        <p:nvSpPr>
          <p:cNvPr id="26" name="Text 24"/>
          <p:cNvSpPr/>
          <p:nvPr/>
        </p:nvSpPr>
        <p:spPr>
          <a:xfrm>
            <a:off x="6489040" y="4919472"/>
            <a:ext cx="4897984" cy="749808"/>
          </a:xfrm>
          <a:prstGeom prst="rect">
            <a:avLst/>
          </a:prstGeom>
          <a:noFill/>
          <a:ln/>
        </p:spPr>
        <p:txBody>
          <a:bodyPr wrap="square" lIns="0" tIns="0" rIns="0" bIns="0" rtlCol="0" anchor="t"/>
          <a:lstStyle/>
          <a:p>
            <a:pPr marL="0" indent="0">
              <a:lnSpc>
                <a:spcPts val="1900"/>
              </a:lnSpc>
              <a:buNone/>
            </a:pPr>
            <a:r>
              <a:rPr lang="en-US" sz="1300" b="1" dirty="0">
                <a:solidFill>
                  <a:srgbClr val="0F6B4F"/>
                </a:solidFill>
                <a:latin typeface="Calibri" pitchFamily="34" charset="0"/>
                <a:ea typeface="Calibri" pitchFamily="34" charset="-122"/>
                <a:cs typeface="Calibri" pitchFamily="34" charset="-120"/>
              </a:rPr>
              <a:t>Fix   </a:t>
            </a:r>
            <a:r>
              <a:rPr lang="en-US" sz="1400" dirty="0">
                <a:solidFill>
                  <a:srgbClr val="5C6E68"/>
                </a:solidFill>
                <a:latin typeface="Calibri" pitchFamily="34" charset="0"/>
                <a:ea typeface="Calibri" pitchFamily="34" charset="-122"/>
                <a:cs typeface="Calibri" pitchFamily="34" charset="-120"/>
              </a:rPr>
              <a:t>Bundled mysql2/promise, moved DB_* to environment variables, matched routeKey to routes and invalidated CloudFront.</a:t>
            </a:r>
            <a:endParaRPr lang="en-US" sz="1300" dirty="0"/>
          </a:p>
        </p:txBody>
      </p:sp>
      <p:sp>
        <p:nvSpPr>
          <p:cNvPr id="27" name="Text 25"/>
          <p:cNvSpPr/>
          <p:nvPr/>
        </p:nvSpPr>
        <p:spPr>
          <a:xfrm>
            <a:off x="6489040" y="5687568"/>
            <a:ext cx="4897984" cy="329184"/>
          </a:xfrm>
          <a:prstGeom prst="rect">
            <a:avLst/>
          </a:prstGeom>
          <a:noFill/>
          <a:ln/>
        </p:spPr>
        <p:txBody>
          <a:bodyPr wrap="square" lIns="0" tIns="0" rIns="0" bIns="0" rtlCol="0" anchor="ctr"/>
          <a:lstStyle/>
          <a:p>
            <a:pPr marL="0" indent="0">
              <a:buNone/>
            </a:pPr>
            <a:r>
              <a:rPr lang="en-US" sz="1300" b="1" dirty="0">
                <a:solidFill>
                  <a:srgbClr val="0D2A22"/>
                </a:solidFill>
                <a:latin typeface="Calibri" pitchFamily="34" charset="0"/>
                <a:ea typeface="Calibri" pitchFamily="34" charset="-122"/>
                <a:cs typeface="Calibri" pitchFamily="34" charset="-120"/>
              </a:rPr>
              <a:t>Why it matters   </a:t>
            </a:r>
            <a:r>
              <a:rPr lang="en-US" sz="1300" i="1" dirty="0">
                <a:solidFill>
                  <a:srgbClr val="5C6E68"/>
                </a:solidFill>
                <a:latin typeface="Calibri" pitchFamily="34" charset="0"/>
                <a:ea typeface="Calibri" pitchFamily="34" charset="-122"/>
                <a:cs typeface="Calibri" pitchFamily="34" charset="-120"/>
              </a:rPr>
              <a:t>Stable CRUD, and the demo runs the newest code.</a:t>
            </a:r>
            <a:endParaRPr lang="en-US" sz="1300" dirty="0"/>
          </a:p>
        </p:txBody>
      </p:sp>
      <p:sp>
        <p:nvSpPr>
          <p:cNvPr id="29" name="Text 27"/>
          <p:cNvSpPr/>
          <p:nvPr/>
        </p:nvSpPr>
        <p:spPr>
          <a:xfrm>
            <a:off x="10801807" y="6382512"/>
            <a:ext cx="822960" cy="292608"/>
          </a:xfrm>
          <a:prstGeom prst="rect">
            <a:avLst/>
          </a:prstGeom>
          <a:noFill/>
          <a:ln/>
        </p:spPr>
        <p:txBody>
          <a:bodyPr wrap="square" lIns="0" tIns="0" rIns="0" bIns="0" rtlCol="0" anchor="ctr"/>
          <a:lstStyle/>
          <a:p>
            <a:pPr marL="0" indent="0" algn="r">
              <a:buNone/>
            </a:pPr>
            <a:r>
              <a:rPr lang="en-US" sz="1100" b="1" dirty="0">
                <a:solidFill>
                  <a:srgbClr val="0F6B4F"/>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7FAF9"/>
        </a:solidFill>
        <a:effectLst/>
      </p:bgPr>
    </p:bg>
    <p:spTree>
      <p:nvGrpSpPr>
        <p:cNvPr id="1" name=""/>
        <p:cNvGrpSpPr/>
        <p:nvPr/>
      </p:nvGrpSpPr>
      <p:grpSpPr>
        <a:xfrm>
          <a:off x="0" y="0"/>
          <a:ext cx="0" cy="0"/>
          <a:chOff x="0" y="0"/>
          <a:chExt cx="0" cy="0"/>
        </a:xfrm>
      </p:grpSpPr>
      <p:sp>
        <p:nvSpPr>
          <p:cNvPr id="2" name="Text 0"/>
          <p:cNvSpPr/>
          <p:nvPr/>
        </p:nvSpPr>
        <p:spPr>
          <a:xfrm>
            <a:off x="566928" y="347472"/>
            <a:ext cx="11057839" cy="566928"/>
          </a:xfrm>
          <a:prstGeom prst="rect">
            <a:avLst/>
          </a:prstGeom>
          <a:noFill/>
          <a:ln/>
        </p:spPr>
        <p:txBody>
          <a:bodyPr wrap="square" lIns="0" tIns="0" rIns="0" bIns="0" rtlCol="0" anchor="ctr"/>
          <a:lstStyle/>
          <a:p>
            <a:pPr marL="0" indent="0">
              <a:buNone/>
            </a:pPr>
            <a:r>
              <a:rPr lang="en-US" sz="3200" b="1" dirty="0">
                <a:solidFill>
                  <a:srgbClr val="0D2A22"/>
                </a:solidFill>
                <a:latin typeface="Calibri" pitchFamily="34" charset="0"/>
                <a:ea typeface="Calibri" pitchFamily="34" charset="-122"/>
                <a:cs typeface="Calibri" pitchFamily="34" charset="-120"/>
              </a:rPr>
              <a:t>Potential Enhancements &amp; Demonstration</a:t>
            </a:r>
            <a:endParaRPr lang="en-US" sz="3200" dirty="0"/>
          </a:p>
        </p:txBody>
      </p:sp>
      <p:sp>
        <p:nvSpPr>
          <p:cNvPr id="3" name="Text 1"/>
          <p:cNvSpPr/>
          <p:nvPr/>
        </p:nvSpPr>
        <p:spPr>
          <a:xfrm>
            <a:off x="566928" y="932688"/>
            <a:ext cx="11057839" cy="365760"/>
          </a:xfrm>
          <a:prstGeom prst="rect">
            <a:avLst/>
          </a:prstGeom>
          <a:noFill/>
          <a:ln/>
        </p:spPr>
        <p:txBody>
          <a:bodyPr wrap="square" lIns="0" tIns="0" rIns="0" bIns="0" rtlCol="0" anchor="ctr"/>
          <a:lstStyle/>
          <a:p>
            <a:pPr marL="0" indent="0">
              <a:buNone/>
            </a:pPr>
            <a:r>
              <a:rPr lang="en-US" sz="1550" dirty="0">
                <a:solidFill>
                  <a:srgbClr val="5C6E68"/>
                </a:solidFill>
                <a:latin typeface="Calibri" pitchFamily="34" charset="0"/>
                <a:ea typeface="Calibri" pitchFamily="34" charset="-122"/>
                <a:cs typeface="Calibri" pitchFamily="34" charset="-120"/>
              </a:rPr>
              <a:t>Where NexSafe goes next — and the running order for the live demo</a:t>
            </a:r>
            <a:endParaRPr lang="en-US" sz="1550" dirty="0"/>
          </a:p>
        </p:txBody>
      </p:sp>
      <p:sp>
        <p:nvSpPr>
          <p:cNvPr id="4" name="Shape 2"/>
          <p:cNvSpPr/>
          <p:nvPr/>
        </p:nvSpPr>
        <p:spPr>
          <a:xfrm>
            <a:off x="566928" y="1572768"/>
            <a:ext cx="3086100" cy="1737360"/>
          </a:xfrm>
          <a:prstGeom prst="roundRect">
            <a:avLst>
              <a:gd name="adj" fmla="val 5263"/>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5" name="Text 3"/>
          <p:cNvSpPr/>
          <p:nvPr/>
        </p:nvSpPr>
        <p:spPr>
          <a:xfrm>
            <a:off x="804672" y="1719072"/>
            <a:ext cx="2610612" cy="365760"/>
          </a:xfrm>
          <a:prstGeom prst="rect">
            <a:avLst/>
          </a:prstGeom>
          <a:noFill/>
          <a:ln/>
        </p:spPr>
        <p:txBody>
          <a:bodyPr wrap="square" lIns="0" tIns="0" rIns="0" bIns="0" rtlCol="0" anchor="ctr"/>
          <a:lstStyle/>
          <a:p>
            <a:pPr marL="0" indent="0">
              <a:buNone/>
            </a:pPr>
            <a:r>
              <a:rPr lang="en-US" sz="1650" b="1" dirty="0">
                <a:solidFill>
                  <a:srgbClr val="0F6B4F"/>
                </a:solidFill>
                <a:latin typeface="Calibri" pitchFamily="34" charset="0"/>
                <a:ea typeface="Calibri" pitchFamily="34" charset="-122"/>
                <a:cs typeface="Calibri" pitchFamily="34" charset="-120"/>
              </a:rPr>
              <a:t>Expand the AI model</a:t>
            </a:r>
            <a:endParaRPr lang="en-US" sz="1650" dirty="0"/>
          </a:p>
        </p:txBody>
      </p:sp>
      <p:sp>
        <p:nvSpPr>
          <p:cNvPr id="6" name="Text 4"/>
          <p:cNvSpPr/>
          <p:nvPr/>
        </p:nvSpPr>
        <p:spPr>
          <a:xfrm>
            <a:off x="804672" y="2121408"/>
            <a:ext cx="2610612" cy="1042416"/>
          </a:xfrm>
          <a:prstGeom prst="rect">
            <a:avLst/>
          </a:prstGeom>
          <a:noFill/>
          <a:ln/>
        </p:spPr>
        <p:txBody>
          <a:bodyPr wrap="square" lIns="0" tIns="0" rIns="0" bIns="0" rtlCol="0" anchor="t"/>
          <a:lstStyle/>
          <a:p>
            <a:pPr marL="0" indent="0">
              <a:lnSpc>
                <a:spcPts val="1900"/>
              </a:lnSpc>
              <a:buNone/>
            </a:pPr>
            <a:r>
              <a:rPr lang="en-US" sz="1400" dirty="0">
                <a:solidFill>
                  <a:srgbClr val="5C6E68"/>
                </a:solidFill>
                <a:latin typeface="Calibri" pitchFamily="34" charset="0"/>
                <a:ea typeface="Calibri" pitchFamily="34" charset="-122"/>
                <a:cs typeface="Calibri" pitchFamily="34" charset="-120"/>
              </a:rPr>
              <a:t>Add images to the weaker classes, introduce new issue types and compare metrics after each retrain.</a:t>
            </a:r>
            <a:endParaRPr lang="en-US" sz="1400" dirty="0"/>
          </a:p>
        </p:txBody>
      </p:sp>
      <p:sp>
        <p:nvSpPr>
          <p:cNvPr id="7" name="Shape 5"/>
          <p:cNvSpPr/>
          <p:nvPr/>
        </p:nvSpPr>
        <p:spPr>
          <a:xfrm>
            <a:off x="3927348" y="1572768"/>
            <a:ext cx="3086100" cy="1737360"/>
          </a:xfrm>
          <a:prstGeom prst="roundRect">
            <a:avLst>
              <a:gd name="adj" fmla="val 5263"/>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8" name="Text 6"/>
          <p:cNvSpPr/>
          <p:nvPr/>
        </p:nvSpPr>
        <p:spPr>
          <a:xfrm>
            <a:off x="4165092" y="1719072"/>
            <a:ext cx="2610612" cy="365760"/>
          </a:xfrm>
          <a:prstGeom prst="rect">
            <a:avLst/>
          </a:prstGeom>
          <a:noFill/>
          <a:ln/>
        </p:spPr>
        <p:txBody>
          <a:bodyPr wrap="square" lIns="0" tIns="0" rIns="0" bIns="0" rtlCol="0" anchor="ctr"/>
          <a:lstStyle/>
          <a:p>
            <a:pPr marL="0" indent="0">
              <a:buNone/>
            </a:pPr>
            <a:r>
              <a:rPr lang="en-US" sz="1650" b="1" dirty="0">
                <a:solidFill>
                  <a:srgbClr val="0F6B4F"/>
                </a:solidFill>
                <a:latin typeface="Calibri" pitchFamily="34" charset="0"/>
                <a:ea typeface="Calibri" pitchFamily="34" charset="-122"/>
                <a:cs typeface="Calibri" pitchFamily="34" charset="-120"/>
              </a:rPr>
              <a:t>Analytics dashboard</a:t>
            </a:r>
            <a:endParaRPr lang="en-US" sz="1650" dirty="0"/>
          </a:p>
        </p:txBody>
      </p:sp>
      <p:sp>
        <p:nvSpPr>
          <p:cNvPr id="9" name="Text 7"/>
          <p:cNvSpPr/>
          <p:nvPr/>
        </p:nvSpPr>
        <p:spPr>
          <a:xfrm>
            <a:off x="4165092" y="2121408"/>
            <a:ext cx="2610612" cy="1042416"/>
          </a:xfrm>
          <a:prstGeom prst="rect">
            <a:avLst/>
          </a:prstGeom>
          <a:noFill/>
          <a:ln/>
        </p:spPr>
        <p:txBody>
          <a:bodyPr wrap="square" lIns="0" tIns="0" rIns="0" bIns="0" rtlCol="0" anchor="t"/>
          <a:lstStyle/>
          <a:p>
            <a:pPr marL="0" indent="0">
              <a:lnSpc>
                <a:spcPts val="1900"/>
              </a:lnSpc>
              <a:buNone/>
            </a:pPr>
            <a:r>
              <a:rPr lang="en-US" sz="1400" dirty="0">
                <a:solidFill>
                  <a:srgbClr val="5C6E68"/>
                </a:solidFill>
                <a:latin typeface="Calibri" pitchFamily="34" charset="0"/>
                <a:ea typeface="Calibri" pitchFamily="34" charset="-122"/>
                <a:cs typeface="Calibri" pitchFamily="34" charset="-120"/>
              </a:rPr>
              <a:t>Charts for issue type, building, average resolution time and staff workload from the stored RDS data.</a:t>
            </a:r>
            <a:endParaRPr lang="en-US" sz="1400" dirty="0"/>
          </a:p>
        </p:txBody>
      </p:sp>
      <p:sp>
        <p:nvSpPr>
          <p:cNvPr id="10" name="Shape 8"/>
          <p:cNvSpPr/>
          <p:nvPr/>
        </p:nvSpPr>
        <p:spPr>
          <a:xfrm>
            <a:off x="566928" y="3584448"/>
            <a:ext cx="3086100" cy="1737360"/>
          </a:xfrm>
          <a:prstGeom prst="roundRect">
            <a:avLst>
              <a:gd name="adj" fmla="val 5263"/>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1" name="Text 9"/>
          <p:cNvSpPr/>
          <p:nvPr/>
        </p:nvSpPr>
        <p:spPr>
          <a:xfrm>
            <a:off x="804672" y="3730752"/>
            <a:ext cx="2610612" cy="365760"/>
          </a:xfrm>
          <a:prstGeom prst="rect">
            <a:avLst/>
          </a:prstGeom>
          <a:noFill/>
          <a:ln/>
        </p:spPr>
        <p:txBody>
          <a:bodyPr wrap="square" lIns="0" tIns="0" rIns="0" bIns="0" rtlCol="0" anchor="ctr"/>
          <a:lstStyle/>
          <a:p>
            <a:pPr marL="0" indent="0">
              <a:buNone/>
            </a:pPr>
            <a:r>
              <a:rPr lang="en-US" sz="1650" b="1" dirty="0">
                <a:solidFill>
                  <a:srgbClr val="0F6B4F"/>
                </a:solidFill>
                <a:latin typeface="Calibri" pitchFamily="34" charset="0"/>
                <a:ea typeface="Calibri" pitchFamily="34" charset="-122"/>
                <a:cs typeface="Calibri" pitchFamily="34" charset="-120"/>
              </a:rPr>
              <a:t>Assignment &amp; escalation</a:t>
            </a:r>
            <a:endParaRPr lang="en-US" sz="1650" dirty="0"/>
          </a:p>
        </p:txBody>
      </p:sp>
      <p:sp>
        <p:nvSpPr>
          <p:cNvPr id="12" name="Text 10"/>
          <p:cNvSpPr/>
          <p:nvPr/>
        </p:nvSpPr>
        <p:spPr>
          <a:xfrm>
            <a:off x="804672" y="4133088"/>
            <a:ext cx="2610612" cy="1042416"/>
          </a:xfrm>
          <a:prstGeom prst="rect">
            <a:avLst/>
          </a:prstGeom>
          <a:noFill/>
          <a:ln/>
        </p:spPr>
        <p:txBody>
          <a:bodyPr wrap="square" lIns="0" tIns="0" rIns="0" bIns="0" rtlCol="0" anchor="t"/>
          <a:lstStyle/>
          <a:p>
            <a:pPr marL="0" indent="0">
              <a:lnSpc>
                <a:spcPts val="1900"/>
              </a:lnSpc>
              <a:buNone/>
            </a:pPr>
            <a:r>
              <a:rPr lang="en-US" sz="1400" dirty="0">
                <a:solidFill>
                  <a:srgbClr val="5C6E68"/>
                </a:solidFill>
                <a:latin typeface="Calibri" pitchFamily="34" charset="0"/>
                <a:ea typeface="Calibri" pitchFamily="34" charset="-122"/>
                <a:cs typeface="Calibri" pitchFamily="34" charset="-120"/>
              </a:rPr>
              <a:t>Route reports to a maintenance team with deadlines and escalation for unresolved high-priority hazards.</a:t>
            </a:r>
            <a:endParaRPr lang="en-US" sz="1400" dirty="0"/>
          </a:p>
        </p:txBody>
      </p:sp>
      <p:sp>
        <p:nvSpPr>
          <p:cNvPr id="13" name="Shape 11"/>
          <p:cNvSpPr/>
          <p:nvPr/>
        </p:nvSpPr>
        <p:spPr>
          <a:xfrm>
            <a:off x="3927348" y="3584448"/>
            <a:ext cx="3086100" cy="1737360"/>
          </a:xfrm>
          <a:prstGeom prst="roundRect">
            <a:avLst>
              <a:gd name="adj" fmla="val 5263"/>
            </a:avLst>
          </a:prstGeom>
          <a:solidFill>
            <a:srgbClr val="FFFFFF"/>
          </a:solidFill>
          <a:ln w="12700">
            <a:solidFill>
              <a:srgbClr val="FFFFFF"/>
            </a:solidFill>
            <a:prstDash val="solid"/>
          </a:ln>
          <a:effectLst>
            <a:outerShdw blurRad="152400" dist="25400" dir="5400000" algn="bl" rotWithShape="0">
              <a:srgbClr val="0D2A22">
                <a:alpha val="10000"/>
              </a:srgbClr>
            </a:outerShdw>
          </a:effectLst>
        </p:spPr>
        <p:txBody>
          <a:bodyPr/>
          <a:lstStyle/>
          <a:p>
            <a:endParaRPr lang="en-US"/>
          </a:p>
        </p:txBody>
      </p:sp>
      <p:sp>
        <p:nvSpPr>
          <p:cNvPr id="14" name="Text 12"/>
          <p:cNvSpPr/>
          <p:nvPr/>
        </p:nvSpPr>
        <p:spPr>
          <a:xfrm>
            <a:off x="4165092" y="3730752"/>
            <a:ext cx="2610612" cy="365760"/>
          </a:xfrm>
          <a:prstGeom prst="rect">
            <a:avLst/>
          </a:prstGeom>
          <a:noFill/>
          <a:ln/>
        </p:spPr>
        <p:txBody>
          <a:bodyPr wrap="square" lIns="0" tIns="0" rIns="0" bIns="0" rtlCol="0" anchor="ctr"/>
          <a:lstStyle/>
          <a:p>
            <a:pPr marL="0" indent="0">
              <a:buNone/>
            </a:pPr>
            <a:r>
              <a:rPr lang="en-US" sz="1650" b="1" dirty="0">
                <a:solidFill>
                  <a:srgbClr val="0F6B4F"/>
                </a:solidFill>
                <a:latin typeface="Calibri" pitchFamily="34" charset="0"/>
                <a:ea typeface="Calibri" pitchFamily="34" charset="-122"/>
                <a:cs typeface="Calibri" pitchFamily="34" charset="-120"/>
              </a:rPr>
              <a:t>Production hardening</a:t>
            </a:r>
            <a:endParaRPr lang="en-US" sz="1650" dirty="0"/>
          </a:p>
        </p:txBody>
      </p:sp>
      <p:sp>
        <p:nvSpPr>
          <p:cNvPr id="15" name="Text 13"/>
          <p:cNvSpPr/>
          <p:nvPr/>
        </p:nvSpPr>
        <p:spPr>
          <a:xfrm>
            <a:off x="4165092" y="4133088"/>
            <a:ext cx="2610612" cy="1042416"/>
          </a:xfrm>
          <a:prstGeom prst="rect">
            <a:avLst/>
          </a:prstGeom>
          <a:noFill/>
          <a:ln/>
        </p:spPr>
        <p:txBody>
          <a:bodyPr wrap="square" lIns="0" tIns="0" rIns="0" bIns="0" rtlCol="0" anchor="t"/>
          <a:lstStyle/>
          <a:p>
            <a:pPr marL="0" indent="0">
              <a:lnSpc>
                <a:spcPts val="1900"/>
              </a:lnSpc>
              <a:buNone/>
            </a:pPr>
            <a:r>
              <a:rPr lang="en-US" sz="1400" dirty="0">
                <a:solidFill>
                  <a:srgbClr val="5C6E68"/>
                </a:solidFill>
                <a:latin typeface="Calibri" pitchFamily="34" charset="0"/>
                <a:ea typeface="Calibri" pitchFamily="34" charset="-122"/>
                <a:cs typeface="Calibri" pitchFamily="34" charset="-120"/>
              </a:rPr>
              <a:t>Custom domain, WAF rules, CloudWatch alarms, tighter key restrictions and tested backup and restore.</a:t>
            </a:r>
            <a:endParaRPr lang="en-US" sz="1400" dirty="0"/>
          </a:p>
        </p:txBody>
      </p:sp>
      <p:sp>
        <p:nvSpPr>
          <p:cNvPr id="16" name="Shape 14"/>
          <p:cNvSpPr/>
          <p:nvPr/>
        </p:nvSpPr>
        <p:spPr>
          <a:xfrm>
            <a:off x="7251192" y="1372563"/>
            <a:ext cx="4309567" cy="2358189"/>
          </a:xfrm>
          <a:prstGeom prst="roundRect">
            <a:avLst>
              <a:gd name="adj" fmla="val 6410"/>
            </a:avLst>
          </a:prstGeom>
          <a:solidFill>
            <a:srgbClr val="0D2A22"/>
          </a:solidFill>
          <a:ln w="12700">
            <a:solidFill>
              <a:srgbClr val="0D2A22"/>
            </a:solidFill>
            <a:prstDash val="solid"/>
          </a:ln>
          <a:effectLst>
            <a:outerShdw blurRad="152400" dist="25400" dir="5400000" algn="bl" rotWithShape="0">
              <a:srgbClr val="0D2A22">
                <a:alpha val="10000"/>
              </a:srgbClr>
            </a:outerShdw>
          </a:effectLst>
        </p:spPr>
        <p:txBody>
          <a:bodyPr/>
          <a:lstStyle/>
          <a:p>
            <a:endParaRPr lang="en-US"/>
          </a:p>
        </p:txBody>
      </p:sp>
      <p:sp>
        <p:nvSpPr>
          <p:cNvPr id="17" name="Text 15"/>
          <p:cNvSpPr/>
          <p:nvPr/>
        </p:nvSpPr>
        <p:spPr>
          <a:xfrm>
            <a:off x="7395426" y="2102639"/>
            <a:ext cx="4229341" cy="420624"/>
          </a:xfrm>
          <a:prstGeom prst="rect">
            <a:avLst/>
          </a:prstGeom>
          <a:noFill/>
          <a:ln/>
        </p:spPr>
        <p:txBody>
          <a:bodyPr wrap="square" lIns="0" tIns="0" rIns="0" bIns="0" rtlCol="0" anchor="ctr"/>
          <a:lstStyle/>
          <a:p>
            <a:pPr marL="0" indent="0">
              <a:buNone/>
            </a:pPr>
            <a:r>
              <a:rPr lang="en-US" sz="2400" b="1" dirty="0">
                <a:solidFill>
                  <a:schemeClr val="bg1"/>
                </a:solidFill>
                <a:latin typeface="Calibri" pitchFamily="34" charset="0"/>
                <a:ea typeface="Calibri" pitchFamily="34" charset="-122"/>
                <a:cs typeface="Calibri" pitchFamily="34" charset="-120"/>
              </a:rPr>
              <a:t>Demonstration video (unlisted)</a:t>
            </a:r>
            <a:endParaRPr lang="en-US" sz="2400" dirty="0">
              <a:solidFill>
                <a:schemeClr val="bg1"/>
              </a:solidFill>
            </a:endParaRPr>
          </a:p>
        </p:txBody>
      </p:sp>
      <p:sp>
        <p:nvSpPr>
          <p:cNvPr id="18" name="Text 16"/>
          <p:cNvSpPr/>
          <p:nvPr/>
        </p:nvSpPr>
        <p:spPr>
          <a:xfrm>
            <a:off x="7725237" y="2577645"/>
            <a:ext cx="3797503" cy="365760"/>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a:t>
            </a:r>
            <a:r>
              <a:rPr lang="en-US" b="1" dirty="0">
                <a:solidFill>
                  <a:srgbClr val="FFFFFF"/>
                </a:solidFill>
                <a:latin typeface="Calibri" pitchFamily="34" charset="0"/>
                <a:ea typeface="Calibri" pitchFamily="34" charset="-122"/>
                <a:cs typeface="Calibri" pitchFamily="34" charset="-120"/>
                <a:hlinkClick r:id="rId3"/>
              </a:rPr>
              <a:t>https://youtu.be/iN1GmdFdWw8</a:t>
            </a:r>
            <a:r>
              <a:rPr lang="en-US" b="1" dirty="0">
                <a:solidFill>
                  <a:srgbClr val="FFFFFF"/>
                </a:solidFill>
                <a:latin typeface="Calibri" pitchFamily="34" charset="0"/>
                <a:ea typeface="Calibri" pitchFamily="34" charset="-122"/>
                <a:cs typeface="Calibri" pitchFamily="34" charset="-120"/>
              </a:rPr>
              <a:t>]</a:t>
            </a:r>
            <a:endParaRPr lang="en-US" dirty="0"/>
          </a:p>
        </p:txBody>
      </p:sp>
      <p:sp>
        <p:nvSpPr>
          <p:cNvPr id="19" name="Text 17"/>
          <p:cNvSpPr/>
          <p:nvPr/>
        </p:nvSpPr>
        <p:spPr>
          <a:xfrm>
            <a:off x="7571232" y="4242816"/>
            <a:ext cx="3797503" cy="411480"/>
          </a:xfrm>
          <a:prstGeom prst="rect">
            <a:avLst/>
          </a:prstGeom>
          <a:noFill/>
          <a:ln/>
        </p:spPr>
        <p:txBody>
          <a:bodyPr wrap="square" lIns="0" tIns="0" rIns="0" bIns="0" rtlCol="0" anchor="t"/>
          <a:lstStyle/>
          <a:p>
            <a:pPr marL="0" indent="0">
              <a:lnSpc>
                <a:spcPts val="1700"/>
              </a:lnSpc>
              <a:buNone/>
            </a:pPr>
            <a:endParaRPr lang="en-US" sz="1250" dirty="0"/>
          </a:p>
        </p:txBody>
      </p:sp>
      <p:sp>
        <p:nvSpPr>
          <p:cNvPr id="32" name="Shape 30"/>
          <p:cNvSpPr/>
          <p:nvPr/>
        </p:nvSpPr>
        <p:spPr>
          <a:xfrm>
            <a:off x="566928" y="5431536"/>
            <a:ext cx="6446520" cy="566928"/>
          </a:xfrm>
          <a:prstGeom prst="roundRect">
            <a:avLst>
              <a:gd name="adj" fmla="val 12903"/>
            </a:avLst>
          </a:prstGeom>
          <a:solidFill>
            <a:srgbClr val="E4F2EC"/>
          </a:solidFill>
          <a:ln w="12700">
            <a:solidFill>
              <a:srgbClr val="E4F2EC"/>
            </a:solidFill>
            <a:prstDash val="solid"/>
          </a:ln>
        </p:spPr>
        <p:txBody>
          <a:bodyPr/>
          <a:lstStyle/>
          <a:p>
            <a:endParaRPr lang="en-US"/>
          </a:p>
        </p:txBody>
      </p:sp>
      <p:sp>
        <p:nvSpPr>
          <p:cNvPr id="33" name="Text 31"/>
          <p:cNvSpPr/>
          <p:nvPr/>
        </p:nvSpPr>
        <p:spPr>
          <a:xfrm>
            <a:off x="804672" y="5431536"/>
            <a:ext cx="5971032" cy="566928"/>
          </a:xfrm>
          <a:prstGeom prst="rect">
            <a:avLst/>
          </a:prstGeom>
          <a:noFill/>
          <a:ln/>
        </p:spPr>
        <p:txBody>
          <a:bodyPr wrap="square" lIns="0" tIns="0" rIns="0" bIns="0" rtlCol="0" anchor="ctr"/>
          <a:lstStyle/>
          <a:p>
            <a:pPr marL="0" indent="0">
              <a:buNone/>
            </a:pPr>
            <a:r>
              <a:rPr lang="en-US" sz="1350" dirty="0">
                <a:solidFill>
                  <a:srgbClr val="0D2A22"/>
                </a:solidFill>
                <a:latin typeface="Calibri" pitchFamily="34" charset="0"/>
                <a:ea typeface="Calibri" pitchFamily="34" charset="-122"/>
                <a:cs typeface="Calibri" pitchFamily="34" charset="-120"/>
              </a:rPr>
              <a:t>Priority: dataset first, then analytics, then production monitoring.</a:t>
            </a:r>
            <a:endParaRPr lang="en-US" sz="1350" dirty="0"/>
          </a:p>
        </p:txBody>
      </p:sp>
      <p:sp>
        <p:nvSpPr>
          <p:cNvPr id="35" name="Text 33"/>
          <p:cNvSpPr/>
          <p:nvPr/>
        </p:nvSpPr>
        <p:spPr>
          <a:xfrm>
            <a:off x="10801807" y="6382512"/>
            <a:ext cx="822960" cy="292608"/>
          </a:xfrm>
          <a:prstGeom prst="rect">
            <a:avLst/>
          </a:prstGeom>
          <a:noFill/>
          <a:ln/>
        </p:spPr>
        <p:txBody>
          <a:bodyPr wrap="square" lIns="0" tIns="0" rIns="0" bIns="0" rtlCol="0" anchor="ctr"/>
          <a:lstStyle/>
          <a:p>
            <a:pPr marL="0" indent="0" algn="r">
              <a:buNone/>
            </a:pPr>
            <a:r>
              <a:rPr lang="en-US" sz="1100" b="1" dirty="0">
                <a:solidFill>
                  <a:srgbClr val="0F6B4F"/>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66928" y="1737360"/>
            <a:ext cx="6583680" cy="91440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3" name="Text 1"/>
          <p:cNvSpPr/>
          <p:nvPr/>
        </p:nvSpPr>
        <p:spPr>
          <a:xfrm>
            <a:off x="566928" y="2697480"/>
            <a:ext cx="6583680" cy="457200"/>
          </a:xfrm>
          <a:prstGeom prst="rect">
            <a:avLst/>
          </a:prstGeom>
          <a:noFill/>
          <a:ln/>
        </p:spPr>
        <p:txBody>
          <a:bodyPr wrap="square" lIns="0" tIns="0" rIns="0" bIns="0" rtlCol="0" anchor="ctr"/>
          <a:lstStyle/>
          <a:p>
            <a:pPr marL="0" indent="0">
              <a:buNone/>
            </a:pPr>
            <a:r>
              <a:rPr lang="en-US" sz="2200" dirty="0">
                <a:solidFill>
                  <a:srgbClr val="16A37B"/>
                </a:solidFill>
                <a:latin typeface="Calibri" pitchFamily="34" charset="0"/>
                <a:ea typeface="Calibri" pitchFamily="34" charset="-122"/>
                <a:cs typeface="Calibri" pitchFamily="34" charset="-120"/>
              </a:rPr>
              <a:t>Questions and live demonstration</a:t>
            </a:r>
            <a:endParaRPr lang="en-US" sz="2200" dirty="0"/>
          </a:p>
        </p:txBody>
      </p:sp>
      <p:sp>
        <p:nvSpPr>
          <p:cNvPr id="4" name="Shape 2"/>
          <p:cNvSpPr/>
          <p:nvPr/>
        </p:nvSpPr>
        <p:spPr>
          <a:xfrm>
            <a:off x="566928" y="3429000"/>
            <a:ext cx="6035040" cy="603504"/>
          </a:xfrm>
          <a:prstGeom prst="roundRect">
            <a:avLst>
              <a:gd name="adj" fmla="val 12121"/>
            </a:avLst>
          </a:prstGeom>
          <a:solidFill>
            <a:srgbClr val="0F4436"/>
          </a:solidFill>
          <a:ln w="12700">
            <a:solidFill>
              <a:srgbClr val="0F4436"/>
            </a:solidFill>
            <a:prstDash val="solid"/>
          </a:ln>
        </p:spPr>
        <p:txBody>
          <a:bodyPr/>
          <a:lstStyle/>
          <a:p>
            <a:endParaRPr lang="en-US"/>
          </a:p>
        </p:txBody>
      </p:sp>
      <p:sp>
        <p:nvSpPr>
          <p:cNvPr id="5" name="Text 3"/>
          <p:cNvSpPr/>
          <p:nvPr/>
        </p:nvSpPr>
        <p:spPr>
          <a:xfrm>
            <a:off x="822960" y="3429000"/>
            <a:ext cx="5486400" cy="603504"/>
          </a:xfrm>
          <a:prstGeom prst="rect">
            <a:avLst/>
          </a:prstGeom>
          <a:noFill/>
          <a:ln/>
        </p:spPr>
        <p:txBody>
          <a:bodyPr wrap="square" lIns="0" tIns="0" rIns="0" bIns="0" rtlCol="0" anchor="ctr"/>
          <a:lstStyle/>
          <a:p>
            <a:pPr marL="0" indent="0">
              <a:buNone/>
            </a:pPr>
            <a:r>
              <a:rPr lang="en-US" sz="1250" b="1" dirty="0">
                <a:solidFill>
                  <a:srgbClr val="16A37B"/>
                </a:solidFill>
                <a:latin typeface="Calibri" pitchFamily="34" charset="0"/>
                <a:ea typeface="Calibri" pitchFamily="34" charset="-122"/>
                <a:cs typeface="Calibri" pitchFamily="34" charset="-120"/>
              </a:rPr>
              <a:t>Live site   </a:t>
            </a:r>
            <a:r>
              <a:rPr lang="en-US" sz="1500" b="1" dirty="0">
                <a:solidFill>
                  <a:srgbClr val="FFFFFF"/>
                </a:solidFill>
                <a:latin typeface="Calibri" pitchFamily="34" charset="0"/>
                <a:ea typeface="Calibri" pitchFamily="34" charset="-122"/>
                <a:cs typeface="Calibri" pitchFamily="34" charset="-120"/>
              </a:rPr>
              <a:t>https://d2a0yi8f3vpirh.cloudfront.net/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3836</Words>
  <Application>Microsoft Office PowerPoint</Application>
  <PresentationFormat>Widescreen</PresentationFormat>
  <Paragraphs>259</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NexSafe - Smart Issue Reporting Platform</dc:title>
  <dc:subject>PptxGenJS Presentation</dc:subject>
  <dc:creator>Khin Pyaesone Win (2503083D)</dc:creator>
  <cp:lastModifiedBy>KHIN PYAESONE WIN</cp:lastModifiedBy>
  <cp:revision>2</cp:revision>
  <dcterms:created xsi:type="dcterms:W3CDTF">2026-08-17T00:08:07Z</dcterms:created>
  <dcterms:modified xsi:type="dcterms:W3CDTF">2026-08-17T00:29:22Z</dcterms:modified>
</cp:coreProperties>
</file>